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86d9be8c5546ca" /><Relationship Type="http://schemas.openxmlformats.org/officeDocument/2006/relationships/extended-properties" Target="/docProps/app.xml" Id="R7860d67e8b0940ff" /><Relationship Type="http://schemas.openxmlformats.org/officeDocument/2006/relationships/officeDocument" Target="/ppt/presentation.xml" Id="R2a50715c6d9449d7" /></Relationships>
</file>

<file path=ppt/presentation.xml><?xml version="1.0" encoding="utf-8"?>
<p:presentation xmlns:p="http://schemas.openxmlformats.org/presentationml/2006/main">
  <p:sldMasterIdLst>
    <p:sldMasterId xmlns:r="http://schemas.openxmlformats.org/officeDocument/2006/relationships" id="2147483648" r:id="R84c311a390cb465c"/>
  </p:sldMasterIdLst>
  <p:notesMasterIdLst>
    <p:notesMasterId xmlns:r="http://schemas.openxmlformats.org/officeDocument/2006/relationships" r:id="R15da7b867b594a07"/>
  </p:notesMasterIdLst>
  <p:sldIdLst>
    <p:sldId xmlns:r="http://schemas.openxmlformats.org/officeDocument/2006/relationships" id="256" r:id="Rd1b0ef5c778740dc"/>
    <p:sldId xmlns:r="http://schemas.openxmlformats.org/officeDocument/2006/relationships" id="257" r:id="Rb692abe30d6444b0"/>
    <p:sldId xmlns:r="http://schemas.openxmlformats.org/officeDocument/2006/relationships" id="258" r:id="R1fed40ce3d2348e8"/>
    <p:sldId xmlns:r="http://schemas.openxmlformats.org/officeDocument/2006/relationships" id="259" r:id="R3fa7e54743884bc1"/>
    <p:sldId xmlns:r="http://schemas.openxmlformats.org/officeDocument/2006/relationships" id="260" r:id="R033ff776004e46ec"/>
    <p:sldId xmlns:r="http://schemas.openxmlformats.org/officeDocument/2006/relationships" id="261" r:id="Rebf0469efb2a4a9e"/>
    <p:sldId xmlns:r="http://schemas.openxmlformats.org/officeDocument/2006/relationships" id="262" r:id="R3a037095d94948d2"/>
    <p:sldId xmlns:r="http://schemas.openxmlformats.org/officeDocument/2006/relationships" id="263" r:id="R9d535c664daf49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81837328b34756" /><Relationship Type="http://schemas.openxmlformats.org/officeDocument/2006/relationships/slideMaster" Target="/ppt/slideMasters/slideMaster1.xml" Id="R84c311a390cb465c" /><Relationship Type="http://schemas.openxmlformats.org/officeDocument/2006/relationships/notesMaster" Target="/ppt/notesMasters/notesMaster1.xml" Id="R15da7b867b594a07" /><Relationship Type="http://schemas.openxmlformats.org/officeDocument/2006/relationships/presProps" Target="/ppt/presProps.xml" Id="Rea9cda40d07045a7" /><Relationship Type="http://schemas.openxmlformats.org/officeDocument/2006/relationships/tableStyles" Target="/ppt/tableStyles.xml" Id="R58ede5130b654d1b" /><Relationship Type="http://schemas.openxmlformats.org/officeDocument/2006/relationships/slide" Target="/ppt/slides/slide1.xml" Id="Rd1b0ef5c778740dc" /><Relationship Type="http://schemas.openxmlformats.org/officeDocument/2006/relationships/slide" Target="/ppt/slides/slide2.xml" Id="Rb692abe30d6444b0" /><Relationship Type="http://schemas.openxmlformats.org/officeDocument/2006/relationships/slide" Target="/ppt/slides/slide3.xml" Id="R1fed40ce3d2348e8" /><Relationship Type="http://schemas.openxmlformats.org/officeDocument/2006/relationships/slide" Target="/ppt/slides/slide4.xml" Id="R3fa7e54743884bc1" /><Relationship Type="http://schemas.openxmlformats.org/officeDocument/2006/relationships/slide" Target="/ppt/slides/slide5.xml" Id="R033ff776004e46ec" /><Relationship Type="http://schemas.openxmlformats.org/officeDocument/2006/relationships/slide" Target="/ppt/slides/slide6.xml" Id="Rebf0469efb2a4a9e" /><Relationship Type="http://schemas.openxmlformats.org/officeDocument/2006/relationships/slide" Target="/ppt/slides/slide7.xml" Id="R3a037095d94948d2" /><Relationship Type="http://schemas.openxmlformats.org/officeDocument/2006/relationships/slide" Target="/ppt/slides/slide8.xml" Id="R9d535c664daf49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6e96eb49844c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64a75247b84050" /><Relationship Type="http://schemas.openxmlformats.org/officeDocument/2006/relationships/notesMaster" Target="/ppt/notesMasters/notesMaster1.xml" Id="R2bf0936429d24b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55633bdc354791" /><Relationship Type="http://schemas.openxmlformats.org/officeDocument/2006/relationships/notesMaster" Target="/ppt/notesMasters/notesMaster1.xml" Id="R4cd804d6777241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a5149ad2f94497" /><Relationship Type="http://schemas.openxmlformats.org/officeDocument/2006/relationships/notesMaster" Target="/ppt/notesMasters/notesMaster1.xml" Id="Rada581f74c774d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48e1143f594935" /><Relationship Type="http://schemas.openxmlformats.org/officeDocument/2006/relationships/notesMaster" Target="/ppt/notesMasters/notesMaster1.xml" Id="Re0f9823333414c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2926b5c754420e" /><Relationship Type="http://schemas.openxmlformats.org/officeDocument/2006/relationships/notesMaster" Target="/ppt/notesMasters/notesMaster1.xml" Id="R6b7f53ab93dd40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72bbae828e4379" /><Relationship Type="http://schemas.openxmlformats.org/officeDocument/2006/relationships/notesMaster" Target="/ppt/notesMasters/notesMaster1.xml" Id="Rd655f21893b741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50df9a9a3e4686" /><Relationship Type="http://schemas.openxmlformats.org/officeDocument/2006/relationships/notesMaster" Target="/ppt/notesMasters/notesMaster1.xml" Id="R1585630b1b5948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5ef69098504795" /><Relationship Type="http://schemas.openxmlformats.org/officeDocument/2006/relationships/notesMaster" Target="/ppt/notesMasters/notesMaster1.xml" Id="Rd7f3342768c640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Module 10 and ask the retrieval prompt before showing the learning map.</a:t>
            </a:r>
          </a:p>
          <a:p xmlns:a="http://schemas.openxmlformats.org/drawingml/2006/main">
            <a:r>
              <a:t/>
            </a:r>
          </a:p>
          <a:p xmlns:a="http://schemas.openxmlformats.org/drawingml/2006/main">
            <a:r>
              <a:t>[Sources]</a:t>
            </a:r>
          </a:p>
          <a:p xmlns:a="http://schemas.openxmlformats.org/drawingml/2006/main">
            <a:r>
              <a:t>- SRC-NESA-SYL-2013: Year 11 Preliminary Textiles and Design syllabus.</a:t>
            </a:r>
          </a:p>
          <a:p xmlns:a="http://schemas.openxmlformats.org/drawingml/2006/main">
            <a:r>
              <a:t>- THEORY-QUESTION-MANIFEST-v1: Module 10 named sections.</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ideas as a cumulative learning pathway rather than an agenda.</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Theory files m10-s01 to 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m10-s01.json.</a:t>
            </a:r>
          </a:p>
          <a:p xmlns:a="http://schemas.openxmlformats.org/drawingml/2006/main">
            <a:r>
              <a:t>- Generated course diagram: m10-s01.png; source-bound visual brief: Create a side-by-side interlacement diagram of plain, twill and satin weaves showing warp and weft paths, repeat differences, balanced versus unbalanced appearance, and links to typical stability, drape, surface, durability and snagging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m10-s02.json.</a:t>
            </a:r>
          </a:p>
          <a:p xmlns:a="http://schemas.openxmlformats.org/drawingml/2006/main">
            <a:r>
              <a:t>- Generated course diagram: m10-s02.png; source-bound visual brief: Create a comparison diagram showing courses and wales in single jersey and rib weft knits beside an introductory warp-knit structure, with arrows linking loop arrangement to typical stretch, flexibility, drape, stability, curling, laddering and shape-retention behaviour.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m10-s03.json.</a:t>
            </a:r>
          </a:p>
          <a:p xmlns:a="http://schemas.openxmlformats.org/drawingml/2006/main">
            <a:r>
              <a:t>- Generated course diagram: m10-s03.png; source-bound visual brief: Create a flow diagram showing fibre web formation followed by mechanical, thermal and chemical bonding pathways, with each linked to typical structural effects and possible end-use requirements such as filtration, absorbency, uniformity, efficiency, disposability and drape.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formative retrieval prompts. Each is answerable from slides 3–5.</a:t>
            </a:r>
          </a:p>
          <a:p xmlns:a="http://schemas.openxmlformats.org/drawingml/2006/main">
            <a:r>
              <a:t/>
            </a:r>
          </a:p>
          <a:p xmlns:a="http://schemas.openxmlformats.org/drawingml/2006/main">
            <a:r>
              <a:t>[Sources]</a:t>
            </a:r>
          </a:p>
          <a:p xmlns:a="http://schemas.openxmlformats.org/drawingml/2006/main">
            <a:r>
              <a:t>- Module 10 theory and knowledge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student submission.</a:t>
            </a:r>
          </a:p>
          <a:p xmlns:a="http://schemas.openxmlformats.org/drawingml/2006/main">
            <a:r>
              <a:t/>
            </a:r>
          </a:p>
          <a:p xmlns:a="http://schemas.openxmlformats.org/drawingml/2006/main">
            <a:r>
              <a:t>[Sources]</a:t>
            </a:r>
          </a:p>
          <a:p xmlns:a="http://schemas.openxmlformats.org/drawingml/2006/main">
            <a:r>
              <a:t>- Module 10 written-response scaffold.</a:t>
            </a:r>
          </a:p>
          <a:p xmlns:a="http://schemas.openxmlformats.org/drawingml/2006/main">
            <a:r>
              <a:t>- Read → Select → Explain → Check course routine.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students to the Module 10 activity and My folio. No formal submission condition is asserted.</a:t>
            </a:r>
          </a:p>
          <a:p xmlns:a="http://schemas.openxmlformats.org/drawingml/2006/main">
            <a:r>
              <a:t/>
            </a:r>
          </a:p>
          <a:p xmlns:a="http://schemas.openxmlformats.org/drawingml/2006/main">
            <a:r>
              <a:t>[Sources]</a:t>
            </a:r>
          </a:p>
          <a:p xmlns:a="http://schemas.openxmlformats.org/drawingml/2006/main">
            <a:r>
              <a:t>- Course route busy-work/activity-10.html.</a:t>
            </a:r>
          </a:p>
          <a:p xmlns:a="http://schemas.openxmlformats.org/drawingml/2006/main">
            <a:r>
              <a:t>- Course route folio.html.</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af811d7c0348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d0d8f32e6b4672" /><Relationship Type="http://schemas.openxmlformats.org/officeDocument/2006/relationships/slideLayout" Target="/ppt/slideLayouts/slideLayout1.xml" Id="Rcc39a18361e84f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39a18361e84f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eeacc137264984" /><Relationship Type="http://schemas.openxmlformats.org/officeDocument/2006/relationships/image" Target="/ppt/media/image.png" Id="R0dcdeb5620764055" /><Relationship Type="http://schemas.openxmlformats.org/officeDocument/2006/relationships/notesSlide" Target="/ppt/notesSlides/notesSlide1.xml" Id="Ra10eab33608641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16d411ae2f4bb2" /><Relationship Type="http://schemas.openxmlformats.org/officeDocument/2006/relationships/notesSlide" Target="/ppt/notesSlides/notesSlide2.xml" Id="R79807041bcf24b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944c518adb4f69" /><Relationship Type="http://schemas.openxmlformats.org/officeDocument/2006/relationships/image" Target="/ppt/media/image2.png" Id="Rb400454beeda4408" /><Relationship Type="http://schemas.openxmlformats.org/officeDocument/2006/relationships/notesSlide" Target="/ppt/notesSlides/notesSlide3.xml" Id="Rb77543c234f74b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f625ca4e0b478a" /><Relationship Type="http://schemas.openxmlformats.org/officeDocument/2006/relationships/image" Target="/ppt/media/image3.png" Id="R3e6cfbf9e9af4faf" /><Relationship Type="http://schemas.openxmlformats.org/officeDocument/2006/relationships/notesSlide" Target="/ppt/notesSlides/notesSlide4.xml" Id="Rd6625027b9e143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3c85584a3f464c" /><Relationship Type="http://schemas.openxmlformats.org/officeDocument/2006/relationships/image" Target="/ppt/media/image4.png" Id="R58cd9c38eb14482c" /><Relationship Type="http://schemas.openxmlformats.org/officeDocument/2006/relationships/notesSlide" Target="/ppt/notesSlides/notesSlide5.xml" Id="Rafe4200a238c4c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7de5ee4e2f4524" /><Relationship Type="http://schemas.openxmlformats.org/officeDocument/2006/relationships/notesSlide" Target="/ppt/notesSlides/notesSlide6.xml" Id="R8937781ef4a047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ed4b46e635415a" /><Relationship Type="http://schemas.openxmlformats.org/officeDocument/2006/relationships/notesSlide" Target="/ppt/notesSlides/notesSlide7.xml" Id="R2395ab66a49140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84e3890b714f06" /><Relationship Type="http://schemas.openxmlformats.org/officeDocument/2006/relationships/image" Target="/ppt/media/image5.png" Id="Re8d460d2684e4d39" /><Relationship Type="http://schemas.openxmlformats.org/officeDocument/2006/relationships/notesSlide" Target="/ppt/notesSlides/notesSlide8.xml" Id="R02d9f65981c746da"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Fabric structures</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Use three connected ideas to explain, apply and justify the learning in Module 10.</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11 TEXTILES AND DESIGN · MODULE 10 · WEEKS 19–20</a:t>
            </a:r>
          </a:p>
        </p:txBody>
      </p:sp>
      <p:sp>
        <p:nvSpPr>
          <p:cNvPr id="5" name="">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dcdeb5620764055"/>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2593"/>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What do you already know about fabric structures, and what evidence would show it?</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514350"/>
            <a:ext cx="104775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Module 10: three connected ideas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Woven structures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Woven fabrics are formed by interlacing two yarn systems at approximately right angles.</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Knitted structures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Knitted fabrics are formed by interlooping yarn rather than interlacing separate warp and weft yarn systems.</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Non-woven structures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Non-woven textiles are formed by creating a web of fibres and bonding that web without first making yarn.</a:t>
            </a:r>
          </a:p>
        </p:txBody>
      </p:sp>
      <p:sp>
        <p:nvSpPr>
          <p:cNvPr id="19" name="">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190625"/>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Connect the three ideas, then justify one decision with evidence.</a:t>
            </a:r>
          </a:p>
        </p:txBody>
      </p:sp>
      <p:sp>
        <p:nvSpPr>
          <p:cNvPr id="20" name="">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Woven structures</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Woven fabrics are formed by interlacing two yarn systems at approximately right angles.</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Warp yarns run lengthwise through the fabric, while weft yarns pass across the width.</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The pattern of over-and-under interlacement creates the weave structure.</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1983"/>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Compare plain, twill and satin weave structures for a specified textile need and justify which structure would be the most suitable.</a:t>
            </a:r>
          </a:p>
        </p:txBody>
      </p:sp>
      <p:sp>
        <p:nvSpPr>
          <p:cNvPr id="8" name="">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400454beeda4408"/>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 side-by-side interlacement diagram of plain, twill and satin weaves showing warp and weft paths, repeat differences, balanced versus unbalanced…</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Knitted structures</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Knitted fabrics are formed by interlooping yarn rather than interlacing separate warp and weft yarn systems.</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The horizontal rows of loops are called courses, while the vertical columns are called wales.</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Because loops can change shape and move in relation to one another, knitted structures commonly provide greater stretch, flexibility…</a:t>
            </a:r>
          </a:p>
        </p:txBody>
      </p:sp>
      <p:sp>
        <p:nvSpPr>
          <p:cNvPr id="19" name="">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e6cfbf9e9af4faf"/>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22" name="">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Interpret evidence from a knitted structure and justify whether it would suit a stated requirement for movement or stability.</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Non-woven structures</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96717"/>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Non-woven textiles are formed by creating a web of fibres and bonding that web without first making yarn.</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Fibres may be arranged randomly or in a more controlled direction before bonding.</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Because yarn formation can be bypassed, non-woven production can be relatively efficient, but the resulting properties depend…</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2005"/>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Compare two non-woven bonding approaches and justify which would be more suitable for a stated textile end use.</a:t>
            </a:r>
          </a:p>
        </p:txBody>
      </p:sp>
      <p:sp>
        <p:nvSpPr>
          <p:cNvPr id="8" name="">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8cd9c38eb14482c"/>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 flow diagram showing fibre web formation followed by mechanical, thermal and chemical bonding pathways, with each linked to typical structural effects and…</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96628"/>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relationships—not isolated definitions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WOVEN STRUCTURES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What does a balanced woven appearance mean?</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KNITTED STRUCTURES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can laddering occur in some knitted fabrics?</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NON-WOVEN STRUCTURES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may some non-wovens have limited drape?</a:t>
            </a:r>
          </a:p>
        </p:txBody>
      </p:sp>
      <p:sp>
        <p:nvSpPr>
          <p:cNvPr id="19" name="">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sentence for each prompt.</a:t>
            </a:r>
          </a:p>
        </p:txBody>
      </p:sp>
      <p:sp>
        <p:nvSpPr>
          <p:cNvPr id="20" name="">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51435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uses evidence</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end-use requirements and two bonding approaches.</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381250"/>
            <a:ext cx="2095500" cy="1600200"/>
          </a:xfrm>
          <a:prstGeom xmlns:a="http://schemas.openxmlformats.org/drawingml/2006/main" prst="rect">
            <a:avLst/>
          </a:prstGeom>
        </p:spPr>
        <p:txBody>
          <a:bodyPr xmlns:a="http://schemas.openxmlformats.org/drawingml/2006/main" lIns="38100" tIns="38100" rIns="38100" bIns="38100" anchor="ctr">
            <a:normAutofit fontScale="98319"/>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 how each bonding approach joins the fibre web.</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Compare relevant likely properties such as uniformity, flexibility,…</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Recommend the more suitable approach and justify the choice using…</a:t>
            </a:r>
          </a:p>
        </p:txBody>
      </p:sp>
      <p:sp>
        <p:nvSpPr>
          <p:cNvPr id="8" name="">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2192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8369"/>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Compare two non-woven bonding approaches and justify which would be more suitable for a stated textile…</a:t>
            </a:r>
          </a:p>
        </p:txBody>
      </p:sp>
      <p:sp>
        <p:nvSpPr>
          <p:cNvPr id="9" name="">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0799"/>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For an end use requiring ___, I would compare ___ bonding with ___ bonding. The first approach joins fibres by ___,…</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Module 10 evidence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85324"/>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from Module 10 you can now explain.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Save one supported response in My folio.</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Complete the Module 10 applied-practice activity.</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8d460d2684e4d39"/>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2026-08-18T17:28:52.8660000Z</dcterms:created>
  <dcterms:modified xsi:type="dcterms:W3CDTF">2026-08-18T17:28:52.8660000Z</dcterms:modified>
</coreProperties>
</file>
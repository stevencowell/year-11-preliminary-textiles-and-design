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e9bac8268a42c8" /><Relationship Type="http://schemas.openxmlformats.org/officeDocument/2006/relationships/extended-properties" Target="/docProps/app.xml" Id="R15398ff0fe374333" /><Relationship Type="http://schemas.openxmlformats.org/officeDocument/2006/relationships/officeDocument" Target="/ppt/presentation.xml" Id="R73aaa3149fff4c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e23d6f617a4698"/>
  </p:sldMasterIdLst>
  <p:notesMasterIdLst>
    <p:notesMasterId xmlns:r="http://schemas.openxmlformats.org/officeDocument/2006/relationships" r:id="R0c171a23e9114297"/>
  </p:notesMasterIdLst>
  <p:sldIdLst>
    <p:sldId xmlns:r="http://schemas.openxmlformats.org/officeDocument/2006/relationships" id="256" r:id="R237b6c86231a48e0"/>
    <p:sldId xmlns:r="http://schemas.openxmlformats.org/officeDocument/2006/relationships" id="257" r:id="R5b22b688bec6471a"/>
    <p:sldId xmlns:r="http://schemas.openxmlformats.org/officeDocument/2006/relationships" id="258" r:id="Rad403cb3f6084ba1"/>
    <p:sldId xmlns:r="http://schemas.openxmlformats.org/officeDocument/2006/relationships" id="259" r:id="Rb78cf7d6d30e48e9"/>
    <p:sldId xmlns:r="http://schemas.openxmlformats.org/officeDocument/2006/relationships" id="260" r:id="Rb25bae3c8bda4555"/>
    <p:sldId xmlns:r="http://schemas.openxmlformats.org/officeDocument/2006/relationships" id="261" r:id="R2a66e1baff2e4a21"/>
    <p:sldId xmlns:r="http://schemas.openxmlformats.org/officeDocument/2006/relationships" id="262" r:id="R0aa8c9203be8458f"/>
    <p:sldId xmlns:r="http://schemas.openxmlformats.org/officeDocument/2006/relationships" id="263" r:id="Rf2a4dbbb301a48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8ad1aa582e4630" /><Relationship Type="http://schemas.openxmlformats.org/officeDocument/2006/relationships/slideMaster" Target="/ppt/slideMasters/slideMaster1.xml" Id="R4fe23d6f617a4698" /><Relationship Type="http://schemas.openxmlformats.org/officeDocument/2006/relationships/notesMaster" Target="/ppt/notesMasters/notesMaster1.xml" Id="R0c171a23e9114297" /><Relationship Type="http://schemas.openxmlformats.org/officeDocument/2006/relationships/presProps" Target="/ppt/presProps.xml" Id="R2668b6c0c40246ec" /><Relationship Type="http://schemas.openxmlformats.org/officeDocument/2006/relationships/tableStyles" Target="/ppt/tableStyles.xml" Id="Rd27eb13d53b54d65" /><Relationship Type="http://schemas.openxmlformats.org/officeDocument/2006/relationships/slide" Target="/ppt/slides/slide1.xml" Id="R237b6c86231a48e0" /><Relationship Type="http://schemas.openxmlformats.org/officeDocument/2006/relationships/slide" Target="/ppt/slides/slide2.xml" Id="R5b22b688bec6471a" /><Relationship Type="http://schemas.openxmlformats.org/officeDocument/2006/relationships/slide" Target="/ppt/slides/slide3.xml" Id="Rad403cb3f6084ba1" /><Relationship Type="http://schemas.openxmlformats.org/officeDocument/2006/relationships/slide" Target="/ppt/slides/slide4.xml" Id="Rb78cf7d6d30e48e9" /><Relationship Type="http://schemas.openxmlformats.org/officeDocument/2006/relationships/slide" Target="/ppt/slides/slide5.xml" Id="Rb25bae3c8bda4555" /><Relationship Type="http://schemas.openxmlformats.org/officeDocument/2006/relationships/slide" Target="/ppt/slides/slide6.xml" Id="R2a66e1baff2e4a21" /><Relationship Type="http://schemas.openxmlformats.org/officeDocument/2006/relationships/slide" Target="/ppt/slides/slide7.xml" Id="R0aa8c9203be8458f" /><Relationship Type="http://schemas.openxmlformats.org/officeDocument/2006/relationships/slide" Target="/ppt/slides/slide8.xml" Id="Rf2a4dbbb301a48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ec5cccc4ef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8c723f7424f62" /><Relationship Type="http://schemas.openxmlformats.org/officeDocument/2006/relationships/notesMaster" Target="/ppt/notesMasters/notesMaster1.xml" Id="R1e938179b52b41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2cbb4d61d04f62" /><Relationship Type="http://schemas.openxmlformats.org/officeDocument/2006/relationships/notesMaster" Target="/ppt/notesMasters/notesMaster1.xml" Id="R660062fe6d4543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4719c07e04977" /><Relationship Type="http://schemas.openxmlformats.org/officeDocument/2006/relationships/notesMaster" Target="/ppt/notesMasters/notesMaster1.xml" Id="R2b39c6a3c5c444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6e55d78d84035" /><Relationship Type="http://schemas.openxmlformats.org/officeDocument/2006/relationships/notesMaster" Target="/ppt/notesMasters/notesMaster1.xml" Id="R48db2c60637a46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b42b49ba1f4895" /><Relationship Type="http://schemas.openxmlformats.org/officeDocument/2006/relationships/notesMaster" Target="/ppt/notesMasters/notesMaster1.xml" Id="R8c5d7f1a729241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50567d52e400b" /><Relationship Type="http://schemas.openxmlformats.org/officeDocument/2006/relationships/notesMaster" Target="/ppt/notesMasters/notesMaster1.xml" Id="R860dbbde210043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ebeb526f8b4098" /><Relationship Type="http://schemas.openxmlformats.org/officeDocument/2006/relationships/notesMaster" Target="/ppt/notesMasters/notesMaster1.xml" Id="R616ccfa0282244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1eb2cfeb344e13" /><Relationship Type="http://schemas.openxmlformats.org/officeDocument/2006/relationships/notesMaster" Target="/ppt/notesMasters/notesMaster1.xml" Id="R646a4c505d9945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2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2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m02-s01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m02-s01.json.</a:t>
            </a:r>
          </a:p>
          <a:p xmlns:a="http://schemas.openxmlformats.org/drawingml/2006/main">
            <a:r>
              <a:t>- Generated course diagram: m02-s01.png; source-bound visual brief: Create a clear branching diagram showing the five focus areas as broad categories, each linked to one example design item, with a final pathway showing how intended use influences design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m02-s02.json.</a:t>
            </a:r>
          </a:p>
          <a:p xmlns:a="http://schemas.openxmlformats.org/drawingml/2006/main">
            <a:r>
              <a:t>- Generated course diagram: m02-s02.png; source-bound visual brief: Create a diagram showing the seven design factors connected to one central design decision, with a second layer showing that the factors must be balanced against user, purpose and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m02-s03.json.</a:t>
            </a:r>
          </a:p>
          <a:p xmlns:a="http://schemas.openxmlformats.org/drawingml/2006/main">
            <a:r>
              <a:t>- Generated course diagram: m02-s03.png; source-bound visual brief: Create a flow diagram showing inspiration moving through observation and research, experimentation with elements and principles, and selection and refinement against user, purpose and design requirements to produce an original textile idea.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2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2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2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busy-work/activity-02.html.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32c238fbe4e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9aa56f057a4e85" /><Relationship Type="http://schemas.openxmlformats.org/officeDocument/2006/relationships/slideLayout" Target="/ppt/slideLayouts/slideLayout1.xml" Id="Rb42a009ed1ad40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2a009ed1ad40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44dc391b64cab" /><Relationship Type="http://schemas.openxmlformats.org/officeDocument/2006/relationships/image" Target="/ppt/media/image.png" Id="R3fa1f15f4cf94341" /><Relationship Type="http://schemas.openxmlformats.org/officeDocument/2006/relationships/notesSlide" Target="/ppt/notesSlides/notesSlide1.xml" Id="R761d2ad480b942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f346418eb4301" /><Relationship Type="http://schemas.openxmlformats.org/officeDocument/2006/relationships/notesSlide" Target="/ppt/notesSlides/notesSlide2.xml" Id="Raef86158238a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246d801864d1c" /><Relationship Type="http://schemas.openxmlformats.org/officeDocument/2006/relationships/image" Target="/ppt/media/image2.png" Id="R07563acf91c54b0a" /><Relationship Type="http://schemas.openxmlformats.org/officeDocument/2006/relationships/notesSlide" Target="/ppt/notesSlides/notesSlide3.xml" Id="R884cedbca230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8a8ca97784881" /><Relationship Type="http://schemas.openxmlformats.org/officeDocument/2006/relationships/image" Target="/ppt/media/image3.png" Id="R033cf5f7078845aa" /><Relationship Type="http://schemas.openxmlformats.org/officeDocument/2006/relationships/notesSlide" Target="/ppt/notesSlides/notesSlide4.xml" Id="Rcca10231878f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ebc7959224afa" /><Relationship Type="http://schemas.openxmlformats.org/officeDocument/2006/relationships/image" Target="/ppt/media/image4.png" Id="Ra5d39ff7f1a74667" /><Relationship Type="http://schemas.openxmlformats.org/officeDocument/2006/relationships/notesSlide" Target="/ppt/notesSlides/notesSlide5.xml" Id="Rc18452834a53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5b8a080804ee0" /><Relationship Type="http://schemas.openxmlformats.org/officeDocument/2006/relationships/notesSlide" Target="/ppt/notesSlides/notesSlide6.xml" Id="R03b45ef5f7dc41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4c561cc664180" /><Relationship Type="http://schemas.openxmlformats.org/officeDocument/2006/relationships/notesSlide" Target="/ppt/notesSlides/notesSlide7.xml" Id="Rc1f82596875b4f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1550824154192" /><Relationship Type="http://schemas.openxmlformats.org/officeDocument/2006/relationships/image" Target="/ppt/media/image5.png" Id="R5f92e3306c3047e7" /><Relationship Type="http://schemas.openxmlformats.org/officeDocument/2006/relationships/notesSlide" Target="/ppt/notesSlides/notesSlide8.xml" Id="R9315cce27a7a42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Applying design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2.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2 · WEEKS 3–4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1f15f4cf943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applying design,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2: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Focus areas and design types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In Textiles and Design, a focus area is a broad category that helps organise textile design according to purpose and…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Factors affecting design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Textile design is influenced by a range of factors 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Inspiration and design development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Textile design ideas can begin with many sources of inspiration 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Focus areas and design types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47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In Textiles and Design, a focus area is a broad category that helps organise textile design according to purpose and use.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 five focus areas are Apparel, Furnishings, Costume, Textile Arts and Non-apparel 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8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Apparel includes textile products worn as everyday or functional clothing, while Furnishings includes textile products designed for…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Compare two of the five textile focus areas. Explain one important similarity or difference between them and show how the intended use of products…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63acf91c54b0a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clear branching diagram showing the five focus areas as broad categories, each linked to one example design item, with a final pathway showing how…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Factors affecting design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Textile design is influenced by a range of factors 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These include trends, culture, resources, technology, environment, economic conditions and consumer needs.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Each factor can affect the direction of a design by creating opportunities, expectations or limitations that a designer must consider.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cf5f7078845aa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Analyse how two interacting factors could influence one textile design decision. Explain how the designer would need to balance both factors against…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Inspiration and design development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Textile design ideas can begin with many sources of inspiration 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Designers use observation and research to investigate ideas, forms, colours, textures, patterns and other visual qualities that may…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80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Inspiration provides a starting point, but the designer needs to interpret and develop what has been observed rather than simply…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Explain how a source of inspiration could be transformed into an original, fit-for-purpose textile idea. Justify how observation, research,…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39ff7f1a74667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flow diagram showing inspiration moving through observation and research, experimentation with elements and principles, and selection and refinement…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46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FOCUS AREAS AND DESIGN TYPES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Two textile products use similar materials but have different intended uses. What is most likely?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FACTORS AFFECTING DESIGN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should consumer needs be considered with other factors?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71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INSPIRATION AND DESIGN DEVELOPMENT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might a designer reject an interesting developed idea?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a source of inspiration and useful qualities within it.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88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 how observation and research could develop understanding of…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08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Describe how elements and principles could be experimented with to…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Justify how the idea would be selected and refined to meet user,…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1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a source of inspiration could be transformed into an original, fit-for-purpose textile…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9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A designer could begin with ___ as a source of inspiration. Observation and research could identify ___. Rather than…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2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73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2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2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2e3306c3047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2026-08-18T17:28:27.1420000Z</dcterms:created>
  <dcterms:modified xsi:type="dcterms:W3CDTF">2026-08-18T17:28:27.1420000Z</dcterms:modified>
</coreProperties>
</file>
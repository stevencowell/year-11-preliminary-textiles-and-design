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09847aa94a4336" /><Relationship Type="http://schemas.openxmlformats.org/officeDocument/2006/relationships/extended-properties" Target="/docProps/app.xml" Id="Rf327578e0ea34a4d" /><Relationship Type="http://schemas.openxmlformats.org/officeDocument/2006/relationships/officeDocument" Target="/ppt/presentation.xml" Id="R77d61773de74446d" /></Relationships>
</file>

<file path=ppt/presentation.xml><?xml version="1.0" encoding="utf-8"?>
<p:presentation xmlns:p="http://schemas.openxmlformats.org/presentationml/2006/main">
  <p:sldMasterIdLst>
    <p:sldMasterId xmlns:r="http://schemas.openxmlformats.org/officeDocument/2006/relationships" id="2147483648" r:id="Rbb29ce03b29545d2"/>
  </p:sldMasterIdLst>
  <p:notesMasterIdLst>
    <p:notesMasterId xmlns:r="http://schemas.openxmlformats.org/officeDocument/2006/relationships" r:id="Rfdabcdbcb2184c19"/>
  </p:notesMasterIdLst>
  <p:sldIdLst>
    <p:sldId xmlns:r="http://schemas.openxmlformats.org/officeDocument/2006/relationships" id="256" r:id="Rb7a320a9735641fe"/>
    <p:sldId xmlns:r="http://schemas.openxmlformats.org/officeDocument/2006/relationships" id="257" r:id="Rd7f7bebdb1ef48f8"/>
    <p:sldId xmlns:r="http://schemas.openxmlformats.org/officeDocument/2006/relationships" id="258" r:id="R39b3ffee87dd409c"/>
    <p:sldId xmlns:r="http://schemas.openxmlformats.org/officeDocument/2006/relationships" id="259" r:id="Rcf14fae081f04132"/>
    <p:sldId xmlns:r="http://schemas.openxmlformats.org/officeDocument/2006/relationships" id="260" r:id="Re837d781aab64d17"/>
    <p:sldId xmlns:r="http://schemas.openxmlformats.org/officeDocument/2006/relationships" id="261" r:id="R3a717a663df14235"/>
    <p:sldId xmlns:r="http://schemas.openxmlformats.org/officeDocument/2006/relationships" id="262" r:id="Ra3f051d54d944e96"/>
    <p:sldId xmlns:r="http://schemas.openxmlformats.org/officeDocument/2006/relationships" id="263" r:id="R69a58a54b6ac43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b046895efc4fa3" /><Relationship Type="http://schemas.openxmlformats.org/officeDocument/2006/relationships/slideMaster" Target="/ppt/slideMasters/slideMaster1.xml" Id="Rbb29ce03b29545d2" /><Relationship Type="http://schemas.openxmlformats.org/officeDocument/2006/relationships/notesMaster" Target="/ppt/notesMasters/notesMaster1.xml" Id="Rfdabcdbcb2184c19" /><Relationship Type="http://schemas.openxmlformats.org/officeDocument/2006/relationships/presProps" Target="/ppt/presProps.xml" Id="R85d3d1e21ab34b53" /><Relationship Type="http://schemas.openxmlformats.org/officeDocument/2006/relationships/tableStyles" Target="/ppt/tableStyles.xml" Id="R4350afcc38724969" /><Relationship Type="http://schemas.openxmlformats.org/officeDocument/2006/relationships/slide" Target="/ppt/slides/slide1.xml" Id="Rb7a320a9735641fe" /><Relationship Type="http://schemas.openxmlformats.org/officeDocument/2006/relationships/slide" Target="/ppt/slides/slide2.xml" Id="Rd7f7bebdb1ef48f8" /><Relationship Type="http://schemas.openxmlformats.org/officeDocument/2006/relationships/slide" Target="/ppt/slides/slide3.xml" Id="R39b3ffee87dd409c" /><Relationship Type="http://schemas.openxmlformats.org/officeDocument/2006/relationships/slide" Target="/ppt/slides/slide4.xml" Id="Rcf14fae081f04132" /><Relationship Type="http://schemas.openxmlformats.org/officeDocument/2006/relationships/slide" Target="/ppt/slides/slide5.xml" Id="Re837d781aab64d17" /><Relationship Type="http://schemas.openxmlformats.org/officeDocument/2006/relationships/slide" Target="/ppt/slides/slide6.xml" Id="R3a717a663df14235" /><Relationship Type="http://schemas.openxmlformats.org/officeDocument/2006/relationships/slide" Target="/ppt/slides/slide7.xml" Id="Ra3f051d54d944e96" /><Relationship Type="http://schemas.openxmlformats.org/officeDocument/2006/relationships/slide" Target="/ppt/slides/slide8.xml" Id="R69a58a54b6ac43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7f79e78c074d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f5538ec8c94304" /><Relationship Type="http://schemas.openxmlformats.org/officeDocument/2006/relationships/notesMaster" Target="/ppt/notesMasters/notesMaster1.xml" Id="R6d0d84f11e7742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889ad281a54750" /><Relationship Type="http://schemas.openxmlformats.org/officeDocument/2006/relationships/notesMaster" Target="/ppt/notesMasters/notesMaster1.xml" Id="R32a5731ed6e142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ba6af868234794" /><Relationship Type="http://schemas.openxmlformats.org/officeDocument/2006/relationships/notesMaster" Target="/ppt/notesMasters/notesMaster1.xml" Id="R35e10771b03543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f8848fa24c499b" /><Relationship Type="http://schemas.openxmlformats.org/officeDocument/2006/relationships/notesMaster" Target="/ppt/notesMasters/notesMaster1.xml" Id="Rbbbfb70c71a449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e8ba4a3cbd4159" /><Relationship Type="http://schemas.openxmlformats.org/officeDocument/2006/relationships/notesMaster" Target="/ppt/notesMasters/notesMaster1.xml" Id="Rf171c9494f8c48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ea9ba7f9ee4230" /><Relationship Type="http://schemas.openxmlformats.org/officeDocument/2006/relationships/notesMaster" Target="/ppt/notesMasters/notesMaster1.xml" Id="R48eee45594284a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7ba951cf75405d" /><Relationship Type="http://schemas.openxmlformats.org/officeDocument/2006/relationships/notesMaster" Target="/ppt/notesMasters/notesMaster1.xml" Id="R66efabf7337f4e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4cf2f7bc504cbe" /><Relationship Type="http://schemas.openxmlformats.org/officeDocument/2006/relationships/notesMaster" Target="/ppt/notesMasters/notesMaster1.xml" Id="Rc201a0794e654b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Module 9 and ask the retrieval prompt before showing the learning map.</a:t>
            </a:r>
          </a:p>
          <a:p xmlns:a="http://schemas.openxmlformats.org/drawingml/2006/main">
            <a:r>
              <a:t/>
            </a:r>
          </a:p>
          <a:p xmlns:a="http://schemas.openxmlformats.org/drawingml/2006/main">
            <a:r>
              <a:t>[Sources]</a:t>
            </a:r>
          </a:p>
          <a:p xmlns:a="http://schemas.openxmlformats.org/drawingml/2006/main">
            <a:r>
              <a:t>- SRC-NESA-SYL-2013: Year 11 Preliminary Textiles and Design syllabus.</a:t>
            </a:r>
          </a:p>
          <a:p xmlns:a="http://schemas.openxmlformats.org/drawingml/2006/main">
            <a:r>
              <a:t>- THEORY-QUESTION-MANIFEST-v1: Module 9 named sections.</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ideas as a cumulative learning pathway rather than an agenda.</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Theory files m09-s01 to 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m09-s01.json.</a:t>
            </a:r>
          </a:p>
          <a:p xmlns:a="http://schemas.openxmlformats.org/drawingml/2006/main">
            <a:r>
              <a:t>- Generated course diagram: m09-s01.png; source-bound visual brief: Create an evidence-to-characteristics diagram linking observations and supplied data to yarn count or fineness, twist, ply, evenness, hairiness, strength, extensibility, bulk and lustre, with fibre properties and yarn structure shown as combined influences.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m09-s02.json.</a:t>
            </a:r>
          </a:p>
          <a:p xmlns:a="http://schemas.openxmlformats.org/drawingml/2006/main">
            <a:r>
              <a:t>- Generated course diagram: m09-s02.png; source-bound visual brief: Create a cause-and-effect diagram linking fibre properties and yarn structures such as twist, ply, staple or filament form, texture and evenness to resulting properties, with branching arrows showing possible performance benefits and trade-offs in different contexts.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m09-s03.json.</a:t>
            </a:r>
          </a:p>
          <a:p xmlns:a="http://schemas.openxmlformats.org/drawingml/2006/main">
            <a:r>
              <a:t>- Generated course diagram: m09-s03.png; source-bound visual brief: Create a decision-flow diagram beginning with user and end-use requirements, moving through relevant yarn criteria and evidence-based comparison of two options, then showing trade-offs before a final supported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formative retrieval prompts. Each is answerable from slides 3–5.</a:t>
            </a:r>
          </a:p>
          <a:p xmlns:a="http://schemas.openxmlformats.org/drawingml/2006/main">
            <a:r>
              <a:t/>
            </a:r>
          </a:p>
          <a:p xmlns:a="http://schemas.openxmlformats.org/drawingml/2006/main">
            <a:r>
              <a:t>[Sources]</a:t>
            </a:r>
          </a:p>
          <a:p xmlns:a="http://schemas.openxmlformats.org/drawingml/2006/main">
            <a:r>
              <a:t>- Module 9 theory and knowledge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student submission.</a:t>
            </a:r>
          </a:p>
          <a:p xmlns:a="http://schemas.openxmlformats.org/drawingml/2006/main">
            <a:r>
              <a:t/>
            </a:r>
          </a:p>
          <a:p xmlns:a="http://schemas.openxmlformats.org/drawingml/2006/main">
            <a:r>
              <a:t>[Sources]</a:t>
            </a:r>
          </a:p>
          <a:p xmlns:a="http://schemas.openxmlformats.org/drawingml/2006/main">
            <a:r>
              <a:t>- Module 9 written-response scaffold.</a:t>
            </a:r>
          </a:p>
          <a:p xmlns:a="http://schemas.openxmlformats.org/drawingml/2006/main">
            <a:r>
              <a:t>- Read → Select → Explain → Check course routine.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students to the Module 9 activity and My folio. No formal submission condition is asserted.</a:t>
            </a:r>
          </a:p>
          <a:p xmlns:a="http://schemas.openxmlformats.org/drawingml/2006/main">
            <a:r>
              <a:t/>
            </a:r>
          </a:p>
          <a:p xmlns:a="http://schemas.openxmlformats.org/drawingml/2006/main">
            <a:r>
              <a:t>[Sources]</a:t>
            </a:r>
          </a:p>
          <a:p xmlns:a="http://schemas.openxmlformats.org/drawingml/2006/main">
            <a:r>
              <a:t>- Course route busy-work/activity-09.html.</a:t>
            </a:r>
          </a:p>
          <a:p xmlns:a="http://schemas.openxmlformats.org/drawingml/2006/main">
            <a:r>
              <a:t>- Course route folio.html.</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cf293a8a904f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5036e8eaeb40e2" /><Relationship Type="http://schemas.openxmlformats.org/officeDocument/2006/relationships/slideLayout" Target="/ppt/slideLayouts/slideLayout1.xml" Id="R2625d75b204f4c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25d75b204f4c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c1de3e8d434413" /><Relationship Type="http://schemas.openxmlformats.org/officeDocument/2006/relationships/image" Target="/ppt/media/image.png" Id="R3de7a8cb2ed949db" /><Relationship Type="http://schemas.openxmlformats.org/officeDocument/2006/relationships/notesSlide" Target="/ppt/notesSlides/notesSlide1.xml" Id="Ra5281ea362e54d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db910831b043a5" /><Relationship Type="http://schemas.openxmlformats.org/officeDocument/2006/relationships/notesSlide" Target="/ppt/notesSlides/notesSlide2.xml" Id="Rc64ab8f6645940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3bcab6f8fb4abd" /><Relationship Type="http://schemas.openxmlformats.org/officeDocument/2006/relationships/image" Target="/ppt/media/image2.png" Id="R12ac82c5564547be" /><Relationship Type="http://schemas.openxmlformats.org/officeDocument/2006/relationships/notesSlide" Target="/ppt/notesSlides/notesSlide3.xml" Id="Rd269405ef5704c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161f84e93f42eb" /><Relationship Type="http://schemas.openxmlformats.org/officeDocument/2006/relationships/image" Target="/ppt/media/image3.png" Id="R127fb95d1ff94238" /><Relationship Type="http://schemas.openxmlformats.org/officeDocument/2006/relationships/notesSlide" Target="/ppt/notesSlides/notesSlide4.xml" Id="R6634c8361e4d4c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69f3d605dd454e" /><Relationship Type="http://schemas.openxmlformats.org/officeDocument/2006/relationships/image" Target="/ppt/media/image4.png" Id="R1816d27e141a4e2e" /><Relationship Type="http://schemas.openxmlformats.org/officeDocument/2006/relationships/notesSlide" Target="/ppt/notesSlides/notesSlide5.xml" Id="R976391184d1e4f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410cdee38f495c" /><Relationship Type="http://schemas.openxmlformats.org/officeDocument/2006/relationships/notesSlide" Target="/ppt/notesSlides/notesSlide6.xml" Id="R15ce4262ee8442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a698c408954073" /><Relationship Type="http://schemas.openxmlformats.org/officeDocument/2006/relationships/notesSlide" Target="/ppt/notesSlides/notesSlide7.xml" Id="R55e9ecfcc11140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8def5b31c84e95" /><Relationship Type="http://schemas.openxmlformats.org/officeDocument/2006/relationships/image" Target="/ppt/media/image5.png" Id="R4abc02c8fe7b43d7" /><Relationship Type="http://schemas.openxmlformats.org/officeDocument/2006/relationships/notesSlide" Target="/ppt/notesSlides/notesSlide8.xml" Id="R347c72eb4e4443ca"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Yarn performance</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Use three connected ideas to explain, apply and justify the learning in Module 9.</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11 TEXTILES AND DESIGN · MODULE 9 · WEEKS 17–18</a:t>
            </a:r>
          </a:p>
        </p:txBody>
      </p:sp>
      <p:sp>
        <p:nvSpPr>
          <p:cNvPr id="5" name="">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de7a8cb2ed949db"/>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2593"/>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What do you already know about yarn performance, and what evidence would show it?</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514350"/>
            <a:ext cx="104775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Module 9: three connected ideas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Yarn characteristics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Yarns can be described using a range of measurable and observable characteristics .</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Structure–property relationships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Yarn performance can be explained through a structure–property relationship .</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End-use justification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End-use justification begins with the user and the performance requirements of the intended textile product.</a:t>
            </a:r>
          </a:p>
        </p:txBody>
      </p:sp>
      <p:sp>
        <p:nvSpPr>
          <p:cNvPr id="19" name="">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190625"/>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Connect the three ideas, then justify one decision with evidence.</a:t>
            </a:r>
          </a:p>
        </p:txBody>
      </p:sp>
      <p:sp>
        <p:nvSpPr>
          <p:cNvPr id="20" name="">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Yarn characteristics</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Yarns can be described using a range of measurable and observable characteristics .</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93148"/>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These include count or fineness, twist, ply, evenness, hairiness, strength, extensibility, bulk and lustre.</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85255"/>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Count or fineness describes the relative thickness of a yarn, while twist and ply describe aspects of its construction.</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5821"/>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Interpret a small set of supplied yarn observations and data to describe the likely characteristics of two yarns.</a:t>
            </a:r>
          </a:p>
        </p:txBody>
      </p:sp>
      <p:sp>
        <p:nvSpPr>
          <p:cNvPr id="8" name="">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2ac82c5564547be"/>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an evidence-to-characteristics diagram linking observations and supplied data to yarn count or fineness, twist, ply, evenness, hairiness, strength,…</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Structure–property relationships</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Yarn performance can be explained through a structure–property relationship .</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Fibre characteristics provide the starting point, but yarn structure changes how those fibres interact.</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Features such as twist, ply, filament or staple form, texture and evenness can influence properties including strength, firmness,…</a:t>
            </a:r>
          </a:p>
        </p:txBody>
      </p:sp>
      <p:sp>
        <p:nvSpPr>
          <p:cNvPr id="19" name="">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127fb95d1ff94238"/>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22" name="">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Explain how two changes to yarn structure could affect likely yarn performance, including at least one trade-off.</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End-use justification</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89777"/>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End-use justification begins with the user and the performance requirements of the intended textile product.</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The first step is to identify what the yarn needs to contribute, such as strength, extensibility, bulk, smoothness, lustre, evenness…</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Relevant yarn characteristics should then be selected according to these requirements rather than choosing a yarn first and trying to…</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1983"/>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Recommend one of two yarn options for a stated textile end use using clear criteria, evidence and at least one trade-off.</a:t>
            </a:r>
          </a:p>
        </p:txBody>
      </p:sp>
      <p:sp>
        <p:nvSpPr>
          <p:cNvPr id="8" name="">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816d27e141a4e2e"/>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 decision-flow diagram beginning with user and end-use requirements, moving through relevant yarn criteria and evidence-based comparison of two options,…</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96628"/>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relationships—not isolated definitions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YARN CHARACTERISTICS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should appearance not be used alone to judge yarn performance?</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90527"/>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STRUCTURE–PROPERTY RELATIONSHIPS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What makes a structure–property claim strong?</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END-USE JUSTIFICATION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should claims about yarn suitability use qualifiers when needed?</a:t>
            </a:r>
          </a:p>
        </p:txBody>
      </p:sp>
      <p:sp>
        <p:nvSpPr>
          <p:cNvPr id="19" name="">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sentence for each prompt.</a:t>
            </a:r>
          </a:p>
        </p:txBody>
      </p:sp>
      <p:sp>
        <p:nvSpPr>
          <p:cNvPr id="20" name="">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51435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uses evidence</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3812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user, end use and most important criteria.</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Compare relevant characteristics of the two yarn options using…</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381250"/>
            <a:ext cx="2095500" cy="1600200"/>
          </a:xfrm>
          <a:prstGeom xmlns:a="http://schemas.openxmlformats.org/drawingml/2006/main" prst="rect">
            <a:avLst/>
          </a:prstGeom>
        </p:spPr>
        <p:txBody>
          <a:bodyPr xmlns:a="http://schemas.openxmlformats.org/drawingml/2006/main" lIns="38100" tIns="38100" rIns="38100" bIns="38100" anchor="ctr">
            <a:normAutofit fontScale="95319"/>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 at least one trade-off between the options.</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Recommend the more suitable yarn and justify the judgement against…</a:t>
            </a:r>
          </a:p>
        </p:txBody>
      </p:sp>
      <p:sp>
        <p:nvSpPr>
          <p:cNvPr id="8" name="">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2192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2907"/>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Recommend one of two yarn options for a stated textile end use using clear criteria, evidence and at…</a:t>
            </a:r>
          </a:p>
        </p:txBody>
      </p:sp>
      <p:sp>
        <p:nvSpPr>
          <p:cNvPr id="9" name="">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1271"/>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For an end use requiring ___ for the user, the most important criteria are ___ and ___. Yarn A shows ___, while Yarn…</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Module 9 evidence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87360"/>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from Module 9 you can now explain.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Save one supported response in My folio.</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Complete the Module 9 applied-practice activity.</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abc02c8fe7b43d7"/>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2026-08-18T17:28:50.0650000Z</dcterms:created>
  <dcterms:modified xsi:type="dcterms:W3CDTF">2026-08-18T17:28:50.0650000Z</dcterms:modified>
</coreProperties>
</file>
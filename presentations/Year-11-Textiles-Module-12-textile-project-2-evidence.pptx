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c8f8993490a4bf0" /><Relationship Type="http://schemas.openxmlformats.org/officeDocument/2006/relationships/extended-properties" Target="/docProps/app.xml" Id="R34e9236a38c94a92" /><Relationship Type="http://schemas.openxmlformats.org/officeDocument/2006/relationships/officeDocument" Target="/ppt/presentation.xml" Id="R8b9739ce441a4cec" /></Relationships>
</file>

<file path=ppt/presentation.xml><?xml version="1.0" encoding="utf-8"?>
<p:presentation xmlns:p="http://schemas.openxmlformats.org/presentationml/2006/main">
  <p:sldMasterIdLst>
    <p:sldMasterId xmlns:r="http://schemas.openxmlformats.org/officeDocument/2006/relationships" id="2147483648" r:id="R7fd4920097ae4685"/>
  </p:sldMasterIdLst>
  <p:notesMasterIdLst>
    <p:notesMasterId xmlns:r="http://schemas.openxmlformats.org/officeDocument/2006/relationships" r:id="R68b75b9962df4081"/>
  </p:notesMasterIdLst>
  <p:sldIdLst>
    <p:sldId xmlns:r="http://schemas.openxmlformats.org/officeDocument/2006/relationships" id="256" r:id="R5e4364d261264822"/>
    <p:sldId xmlns:r="http://schemas.openxmlformats.org/officeDocument/2006/relationships" id="257" r:id="Rf899d23f5a5e4d5f"/>
    <p:sldId xmlns:r="http://schemas.openxmlformats.org/officeDocument/2006/relationships" id="258" r:id="Re99852a4ae0b4a84"/>
    <p:sldId xmlns:r="http://schemas.openxmlformats.org/officeDocument/2006/relationships" id="259" r:id="Rc379f6e23dad4999"/>
    <p:sldId xmlns:r="http://schemas.openxmlformats.org/officeDocument/2006/relationships" id="260" r:id="R28cf805176ba462d"/>
    <p:sldId xmlns:r="http://schemas.openxmlformats.org/officeDocument/2006/relationships" id="261" r:id="Rd9c09d41fff1446b"/>
    <p:sldId xmlns:r="http://schemas.openxmlformats.org/officeDocument/2006/relationships" id="262" r:id="R590dca924bd049bd"/>
    <p:sldId xmlns:r="http://schemas.openxmlformats.org/officeDocument/2006/relationships" id="263" r:id="R6ac9b177e39c4c5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403e4fd592b4154" /><Relationship Type="http://schemas.openxmlformats.org/officeDocument/2006/relationships/slideMaster" Target="/ppt/slideMasters/slideMaster1.xml" Id="R7fd4920097ae4685" /><Relationship Type="http://schemas.openxmlformats.org/officeDocument/2006/relationships/notesMaster" Target="/ppt/notesMasters/notesMaster1.xml" Id="R68b75b9962df4081" /><Relationship Type="http://schemas.openxmlformats.org/officeDocument/2006/relationships/presProps" Target="/ppt/presProps.xml" Id="R515fb34b49ae408c" /><Relationship Type="http://schemas.openxmlformats.org/officeDocument/2006/relationships/tableStyles" Target="/ppt/tableStyles.xml" Id="R64f69b45978e43f8" /><Relationship Type="http://schemas.openxmlformats.org/officeDocument/2006/relationships/slide" Target="/ppt/slides/slide1.xml" Id="R5e4364d261264822" /><Relationship Type="http://schemas.openxmlformats.org/officeDocument/2006/relationships/slide" Target="/ppt/slides/slide2.xml" Id="Rf899d23f5a5e4d5f" /><Relationship Type="http://schemas.openxmlformats.org/officeDocument/2006/relationships/slide" Target="/ppt/slides/slide3.xml" Id="Re99852a4ae0b4a84" /><Relationship Type="http://schemas.openxmlformats.org/officeDocument/2006/relationships/slide" Target="/ppt/slides/slide4.xml" Id="Rc379f6e23dad4999" /><Relationship Type="http://schemas.openxmlformats.org/officeDocument/2006/relationships/slide" Target="/ppt/slides/slide5.xml" Id="R28cf805176ba462d" /><Relationship Type="http://schemas.openxmlformats.org/officeDocument/2006/relationships/slide" Target="/ppt/slides/slide6.xml" Id="Rd9c09d41fff1446b" /><Relationship Type="http://schemas.openxmlformats.org/officeDocument/2006/relationships/slide" Target="/ppt/slides/slide7.xml" Id="R590dca924bd049bd" /><Relationship Type="http://schemas.openxmlformats.org/officeDocument/2006/relationships/slide" Target="/ppt/slides/slide8.xml" Id="R6ac9b177e39c4c5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3ba0fbf6de64fb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0ab0be26df74477" /><Relationship Type="http://schemas.openxmlformats.org/officeDocument/2006/relationships/notesMaster" Target="/ppt/notesMasters/notesMaster1.xml" Id="Rb259a3a6e7d94189" /></Relationships>
</file>

<file path=ppt/notesSlides/_rels/notesSlide2.xml.rels>&#65279;<?xml version="1.0" encoding="utf-8"?><Relationships xmlns="http://schemas.openxmlformats.org/package/2006/relationships"><Relationship Type="http://schemas.openxmlformats.org/officeDocument/2006/relationships/slide" Target="/ppt/slides/slide2.xml" Id="Re4100d8a09634128" /><Relationship Type="http://schemas.openxmlformats.org/officeDocument/2006/relationships/notesMaster" Target="/ppt/notesMasters/notesMaster1.xml" Id="R8d1a0044d9e64e82" /></Relationships>
</file>

<file path=ppt/notesSlides/_rels/notesSlide3.xml.rels>&#65279;<?xml version="1.0" encoding="utf-8"?><Relationships xmlns="http://schemas.openxmlformats.org/package/2006/relationships"><Relationship Type="http://schemas.openxmlformats.org/officeDocument/2006/relationships/slide" Target="/ppt/slides/slide3.xml" Id="R34c8a27c8f2240cc" /><Relationship Type="http://schemas.openxmlformats.org/officeDocument/2006/relationships/notesMaster" Target="/ppt/notesMasters/notesMaster1.xml" Id="Rfaa4aab4f90141c8" /></Relationships>
</file>

<file path=ppt/notesSlides/_rels/notesSlide4.xml.rels>&#65279;<?xml version="1.0" encoding="utf-8"?><Relationships xmlns="http://schemas.openxmlformats.org/package/2006/relationships"><Relationship Type="http://schemas.openxmlformats.org/officeDocument/2006/relationships/slide" Target="/ppt/slides/slide4.xml" Id="Reebfd95fbdca4fb1" /><Relationship Type="http://schemas.openxmlformats.org/officeDocument/2006/relationships/notesMaster" Target="/ppt/notesMasters/notesMaster1.xml" Id="Rb4d4668be334447d" /></Relationships>
</file>

<file path=ppt/notesSlides/_rels/notesSlide5.xml.rels>&#65279;<?xml version="1.0" encoding="utf-8"?><Relationships xmlns="http://schemas.openxmlformats.org/package/2006/relationships"><Relationship Type="http://schemas.openxmlformats.org/officeDocument/2006/relationships/slide" Target="/ppt/slides/slide5.xml" Id="Rca6d4009ea6a4867" /><Relationship Type="http://schemas.openxmlformats.org/officeDocument/2006/relationships/notesMaster" Target="/ppt/notesMasters/notesMaster1.xml" Id="R5ae380f184494f6d" /></Relationships>
</file>

<file path=ppt/notesSlides/_rels/notesSlide6.xml.rels>&#65279;<?xml version="1.0" encoding="utf-8"?><Relationships xmlns="http://schemas.openxmlformats.org/package/2006/relationships"><Relationship Type="http://schemas.openxmlformats.org/officeDocument/2006/relationships/slide" Target="/ppt/slides/slide6.xml" Id="R9f625a5aff154f6c" /><Relationship Type="http://schemas.openxmlformats.org/officeDocument/2006/relationships/notesMaster" Target="/ppt/notesMasters/notesMaster1.xml" Id="R56aa948b171d4be5" /></Relationships>
</file>

<file path=ppt/notesSlides/_rels/notesSlide7.xml.rels>&#65279;<?xml version="1.0" encoding="utf-8"?><Relationships xmlns="http://schemas.openxmlformats.org/package/2006/relationships"><Relationship Type="http://schemas.openxmlformats.org/officeDocument/2006/relationships/slide" Target="/ppt/slides/slide7.xml" Id="R37882d6f3943492e" /><Relationship Type="http://schemas.openxmlformats.org/officeDocument/2006/relationships/notesMaster" Target="/ppt/notesMasters/notesMaster1.xml" Id="R1a66bbf8dc504e33" /></Relationships>
</file>

<file path=ppt/notesSlides/_rels/notesSlide8.xml.rels>&#65279;<?xml version="1.0" encoding="utf-8"?><Relationships xmlns="http://schemas.openxmlformats.org/package/2006/relationships"><Relationship Type="http://schemas.openxmlformats.org/officeDocument/2006/relationships/slide" Target="/ppt/slides/slide8.xml" Id="R5ae9d825320e427e" /><Relationship Type="http://schemas.openxmlformats.org/officeDocument/2006/relationships/notesMaster" Target="/ppt/notesMasters/notesMaster1.xml" Id="R8b08d648fc464fb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Module 12 and ask the retrieval prompt before showing the learning map.</a:t>
            </a:r>
          </a:p>
          <a:p xmlns:a="http://schemas.openxmlformats.org/drawingml/2006/main">
            <a:r>
              <a:t/>
            </a:r>
          </a:p>
          <a:p xmlns:a="http://schemas.openxmlformats.org/drawingml/2006/main">
            <a:r>
              <a:t>[Sources]</a:t>
            </a:r>
          </a:p>
          <a:p xmlns:a="http://schemas.openxmlformats.org/drawingml/2006/main">
            <a:r>
              <a:t>- SRC-NESA-SYL-2013: Year 11 Preliminary Textiles and Design syllabus.</a:t>
            </a:r>
          </a:p>
          <a:p xmlns:a="http://schemas.openxmlformats.org/drawingml/2006/main">
            <a:r>
              <a:t>- THEORY-QUESTION-MANIFEST-v1: Module 12 named sections.</a:t>
            </a:r>
          </a:p>
          <a:p xmlns:a="http://schemas.openxmlformats.org/drawingml/2006/main">
            <a:r>
              <a:t>- Course-owned image: textiles-design-workspace.png.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three ideas as a cumulative learning pathway rather than an agenda.</a:t>
            </a:r>
          </a:p>
          <a:p xmlns:a="http://schemas.openxmlformats.org/drawingml/2006/main">
            <a:r>
              <a:t/>
            </a:r>
          </a:p>
          <a:p xmlns:a="http://schemas.openxmlformats.org/drawingml/2006/main">
            <a:r>
              <a:t>[Sources]</a:t>
            </a:r>
          </a:p>
          <a:p xmlns:a="http://schemas.openxmlformats.org/drawingml/2006/main">
            <a:r>
              <a:t>- SRC-NESA-SYL-2013.</a:t>
            </a:r>
          </a:p>
          <a:p xmlns:a="http://schemas.openxmlformats.org/drawingml/2006/main">
            <a:r>
              <a:t>- Theory files m12-s01 to s03.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 the named section, then ask students to point to evidence in the diagram before attempting the prompt.</a:t>
            </a:r>
          </a:p>
          <a:p xmlns:a="http://schemas.openxmlformats.org/drawingml/2006/main">
            <a:r>
              <a:t/>
            </a:r>
          </a:p>
          <a:p xmlns:a="http://schemas.openxmlformats.org/drawingml/2006/main">
            <a:r>
              <a:t>[Sources]</a:t>
            </a:r>
          </a:p>
          <a:p xmlns:a="http://schemas.openxmlformats.org/drawingml/2006/main">
            <a:r>
              <a:t>- SRC-NESA-SYL-2013.</a:t>
            </a:r>
          </a:p>
          <a:p xmlns:a="http://schemas.openxmlformats.org/drawingml/2006/main">
            <a:r>
              <a:t>- m12-s01.json.</a:t>
            </a:r>
          </a:p>
          <a:p xmlns:a="http://schemas.openxmlformats.org/drawingml/2006/main">
            <a:r>
              <a:t>- Generated course diagram: m12-s01.png; source-bound visual brief: Create an evidence-analysis flow diagram showing repeated results moving through comparison of magnitude and consistency, consideration of limitations, connection to a performance criterion, reporting of uncertainty and a cautious judgement with further evidence identified.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 the named section, then ask students to point to evidence in the diagram before attempting the prompt.</a:t>
            </a:r>
          </a:p>
          <a:p xmlns:a="http://schemas.openxmlformats.org/drawingml/2006/main">
            <a:r>
              <a:t/>
            </a:r>
          </a:p>
          <a:p xmlns:a="http://schemas.openxmlformats.org/drawingml/2006/main">
            <a:r>
              <a:t>[Sources]</a:t>
            </a:r>
          </a:p>
          <a:p xmlns:a="http://schemas.openxmlformats.org/drawingml/2006/main">
            <a:r>
              <a:t>- SRC-NESA-SYL-2013.</a:t>
            </a:r>
          </a:p>
          <a:p xmlns:a="http://schemas.openxmlformats.org/drawingml/2006/main">
            <a:r>
              <a:t>- m12-s02.json.</a:t>
            </a:r>
          </a:p>
          <a:p xmlns:a="http://schemas.openxmlformats.org/drawingml/2006/main">
            <a:r>
              <a:t>- Generated course diagram: m12-s02.png; source-bound visual brief: Create a material-selection matrix diagram linking weighted user and end-use criteria to evidence from fibre, yarn, fabric structure, finish and test results, then showing trade-offs, rejected alternatives and a final justified fabric recommendation.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 the named section, then ask students to point to evidence in the diagram before attempting the prompt.</a:t>
            </a:r>
          </a:p>
          <a:p xmlns:a="http://schemas.openxmlformats.org/drawingml/2006/main">
            <a:r>
              <a:t/>
            </a:r>
          </a:p>
          <a:p xmlns:a="http://schemas.openxmlformats.org/drawingml/2006/main">
            <a:r>
              <a:t>[Sources]</a:t>
            </a:r>
          </a:p>
          <a:p xmlns:a="http://schemas.openxmlformats.org/drawingml/2006/main">
            <a:r>
              <a:t>- SRC-NESA-SYL-2013.</a:t>
            </a:r>
          </a:p>
          <a:p xmlns:a="http://schemas.openxmlformats.org/drawingml/2006/main">
            <a:r>
              <a:t>- m12-s03.json.</a:t>
            </a:r>
          </a:p>
          <a:p xmlns:a="http://schemas.openxmlformats.org/drawingml/2006/main">
            <a:r>
              <a:t>- Generated course diagram: m12-s03.png; source-bound visual brief: Create a traceable evidence-map diagram showing brief and research leading to experimentation, selection, production evidence and evaluation, with caption links explaining what each evidence item shows, why it matters and which final judgement it supports.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as formative retrieval prompts. Each is answerable from slides 3–5.</a:t>
            </a:r>
          </a:p>
          <a:p xmlns:a="http://schemas.openxmlformats.org/drawingml/2006/main">
            <a:r>
              <a:t/>
            </a:r>
          </a:p>
          <a:p xmlns:a="http://schemas.openxmlformats.org/drawingml/2006/main">
            <a:r>
              <a:t>[Sources]</a:t>
            </a:r>
          </a:p>
          <a:p xmlns:a="http://schemas.openxmlformats.org/drawingml/2006/main">
            <a:r>
              <a:t>- Module 12 theory and knowledge checks.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the response process without supplying a finished student submission.</a:t>
            </a:r>
          </a:p>
          <a:p xmlns:a="http://schemas.openxmlformats.org/drawingml/2006/main">
            <a:r>
              <a:t/>
            </a:r>
          </a:p>
          <a:p xmlns:a="http://schemas.openxmlformats.org/drawingml/2006/main">
            <a:r>
              <a:t>[Sources]</a:t>
            </a:r>
          </a:p>
          <a:p xmlns:a="http://schemas.openxmlformats.org/drawingml/2006/main">
            <a:r>
              <a:t>- Module 12 written-response scaffold.</a:t>
            </a:r>
          </a:p>
          <a:p xmlns:a="http://schemas.openxmlformats.org/drawingml/2006/main">
            <a:r>
              <a:t>- Read → Select → Explain → Check course routine.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Direct students to the Module 12 activity and My folio. No formal submission condition is asserted.</a:t>
            </a:r>
          </a:p>
          <a:p xmlns:a="http://schemas.openxmlformats.org/drawingml/2006/main">
            <a:r>
              <a:t/>
            </a:r>
          </a:p>
          <a:p xmlns:a="http://schemas.openxmlformats.org/drawingml/2006/main">
            <a:r>
              <a:t>[Sources]</a:t>
            </a:r>
          </a:p>
          <a:p xmlns:a="http://schemas.openxmlformats.org/drawingml/2006/main">
            <a:r>
              <a:t>- Course route busy-work/activity-12.html.</a:t>
            </a:r>
          </a:p>
          <a:p xmlns:a="http://schemas.openxmlformats.org/drawingml/2006/main">
            <a:r>
              <a:t>- Course route folio.html.</a:t>
            </a:r>
          </a:p>
          <a:p xmlns:a="http://schemas.openxmlformats.org/drawingml/2006/main">
            <a:r>
              <a:t>- Course-owned image: textiles-design-workspace.png.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807906e0da24a2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a7ba964b49b4236" /><Relationship Type="http://schemas.openxmlformats.org/officeDocument/2006/relationships/slideLayout" Target="/ppt/slideLayouts/slideLayout1.xml" Id="R5eee63990031472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eee63990031472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b77b67fd4cc4b33" /><Relationship Type="http://schemas.openxmlformats.org/officeDocument/2006/relationships/image" Target="/ppt/media/image.png" Id="Rb5a4c38fde5541c1" /><Relationship Type="http://schemas.openxmlformats.org/officeDocument/2006/relationships/notesSlide" Target="/ppt/notesSlides/notesSlide1.xml" Id="Rdeee42a4af3d4e0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9a124d1a1f84967" /><Relationship Type="http://schemas.openxmlformats.org/officeDocument/2006/relationships/notesSlide" Target="/ppt/notesSlides/notesSlide2.xml" Id="Rd997a434ef2d49b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c467663596b4e7b" /><Relationship Type="http://schemas.openxmlformats.org/officeDocument/2006/relationships/image" Target="/ppt/media/image2.png" Id="Redf16ef505fa4244" /><Relationship Type="http://schemas.openxmlformats.org/officeDocument/2006/relationships/notesSlide" Target="/ppt/notesSlides/notesSlide3.xml" Id="Rcdd79cf5c81b4c7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0d2513d9d6e49eb" /><Relationship Type="http://schemas.openxmlformats.org/officeDocument/2006/relationships/image" Target="/ppt/media/image3.png" Id="R8af2123526c84691" /><Relationship Type="http://schemas.openxmlformats.org/officeDocument/2006/relationships/notesSlide" Target="/ppt/notesSlides/notesSlide4.xml" Id="R4127bfd0249a488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8450b7b35334d7c" /><Relationship Type="http://schemas.openxmlformats.org/officeDocument/2006/relationships/image" Target="/ppt/media/image4.png" Id="R27b0ba9be7064510" /><Relationship Type="http://schemas.openxmlformats.org/officeDocument/2006/relationships/notesSlide" Target="/ppt/notesSlides/notesSlide5.xml" Id="R0d381af1a6a348a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b0bb30028c4459b" /><Relationship Type="http://schemas.openxmlformats.org/officeDocument/2006/relationships/notesSlide" Target="/ppt/notesSlides/notesSlide6.xml" Id="Ra7abbb3bf9d14aa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acf0295e7384920" /><Relationship Type="http://schemas.openxmlformats.org/officeDocument/2006/relationships/notesSlide" Target="/ppt/notesSlides/notesSlide7.xml" Id="Rc48400b40ef142c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5cb02ab65e74e4c" /><Relationship Type="http://schemas.openxmlformats.org/officeDocument/2006/relationships/image" Target="/ppt/media/image5.png" Id="R30a41fdb72284979" /><Relationship Type="http://schemas.openxmlformats.org/officeDocument/2006/relationships/notesSlide" Target="/ppt/notesSlides/notesSlide8.xml" Id="R0b784d60d319458e" /></Relationships>
</file>

<file path=ppt/slides/slide1.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4" name="Title-3-1">
            <a:extLst xmlns:a="http://schemas.openxmlformats.org/drawingml/2006/main">
              <a:ext uri="{FF2B5EF4-FFF2-40B4-BE49-F238E27FC236}">
                <a16:creationId xmlns:a16="http://schemas.microsoft.com/office/drawing/2014/main" id="{1B4AE411-F9B7-40C1-95A6-EFB5A398EE0B}"/>
              </a:ext>
            </a:extLst>
          </p:cNvPr>
          <p:cNvSpPr>
            <a:spLocks xmlns:a="http://schemas.openxmlformats.org/drawingml/2006/main" noGrp="1"/>
          </p:cNvSpPr>
          <p:nvPr/>
        </p:nvSpPr>
        <p:spPr>
          <a:xfrm xmlns:a="http://schemas.openxmlformats.org/drawingml/2006/main">
            <a:off x="590550" y="1238250"/>
            <a:ext cx="4953000" cy="219075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5000"/>
              </a:lnSpc>
              <a:buNone/>
              <a:defRPr sz="5000" b="1">
                <a:solidFill>
                  <a:srgbClr val="173126"/>
                </a:solidFill>
                <a:latin typeface="Aptos"/>
                <a:ea typeface="Aptos"/>
                <a:cs typeface="Aptos"/>
              </a:defRPr>
            </a:pPr>
            <a:r>
              <a:rPr sz="5000" b="1">
                <a:solidFill>
                  <a:srgbClr val="173126"/>
                </a:solidFill>
                <a:latin typeface="Aptos"/>
                <a:ea typeface="Aptos"/>
                <a:cs typeface="Aptos"/>
              </a:rPr>
              <a:t>Textile Project 2 evidence</a:t>
            </a:r>
          </a:p>
        </p:txBody>
      </p:sp>
      <p:sp>
        <p:nvSpPr>
          <p:cNvPr id="2" name="Subtitle-4-2">
            <a:extLst xmlns:a="http://schemas.openxmlformats.org/drawingml/2006/main">
              <a:ext uri="{FF2B5EF4-FFF2-40B4-BE49-F238E27FC236}">
                <a16:creationId xmlns:a16="http://schemas.microsoft.com/office/drawing/2014/main" id="{5DF9AAC8-8087-4CFE-AAFA-BF4462107E30}"/>
              </a:ext>
            </a:extLst>
          </p:cNvPr>
          <p:cNvSpPr>
            <a:spLocks xmlns:a="http://schemas.openxmlformats.org/drawingml/2006/main" noGrp="1"/>
          </p:cNvSpPr>
          <p:nvPr/>
        </p:nvSpPr>
        <p:spPr>
          <a:xfrm xmlns:a="http://schemas.openxmlformats.org/drawingml/2006/main">
            <a:off x="628650" y="3571875"/>
            <a:ext cx="4762500" cy="106680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5000"/>
              </a:lnSpc>
              <a:buNone/>
              <a:defRPr sz="2000" b="0">
                <a:solidFill>
                  <a:srgbClr val="5A665F"/>
                </a:solidFill>
                <a:latin typeface="Aptos"/>
                <a:ea typeface="Aptos"/>
                <a:cs typeface="Aptos"/>
              </a:defRPr>
            </a:pPr>
            <a:r>
              <a:rPr sz="2000" b="0">
                <a:solidFill>
                  <a:srgbClr val="5A665F"/>
                </a:solidFill>
                <a:latin typeface="Aptos"/>
                <a:ea typeface="Aptos"/>
                <a:cs typeface="Aptos"/>
              </a:rPr>
              <a:t>Use three connected ideas to explain, apply and justify the learning in Module 12.</a:t>
            </a:r>
          </a:p>
        </p:txBody>
      </p:sp>
      <p:sp>
        <p:nvSpPr>
          <p:cNvPr id="3" name="Subtitle-4-3">
            <a:extLst xmlns:a="http://schemas.openxmlformats.org/drawingml/2006/main">
              <a:ext uri="{FF2B5EF4-FFF2-40B4-BE49-F238E27FC236}">
                <a16:creationId xmlns:a16="http://schemas.microsoft.com/office/drawing/2014/main" id="{9B62F67D-37CE-4D67-A50E-91C62081C5BE}"/>
              </a:ext>
            </a:extLst>
          </p:cNvPr>
          <p:cNvSpPr>
            <a:spLocks xmlns:a="http://schemas.openxmlformats.org/drawingml/2006/main" noGrp="1"/>
          </p:cNvSpPr>
          <p:nvPr/>
        </p:nvSpPr>
        <p:spPr>
          <a:xfrm xmlns:a="http://schemas.openxmlformats.org/drawingml/2006/main">
            <a:off x="628650" y="781050"/>
            <a:ext cx="4381500" cy="266700"/>
          </a:xfrm>
          <a:prstGeom xmlns:a="http://schemas.openxmlformats.org/drawingml/2006/main" prst="rect">
            <a:avLst/>
          </a:prstGeom>
        </p:spPr>
        <p:txBody>
          <a:bodyPr xmlns:a="http://schemas.openxmlformats.org/drawingml/2006/main" lIns="38100" tIns="38100" rIns="38100" bIns="38100" anchor="t">
            <a:normAutofit fontScale="85034"/>
          </a:bodyPr>
          <a:lstStyle xmlns:a="http://schemas.openxmlformats.org/drawingml/2006/main"/>
          <a:p xmlns:a="http://schemas.openxmlformats.org/drawingml/2006/main">
            <a:pPr algn="l">
              <a:lnSpc>
                <a:spcPct val="105000"/>
              </a:lnSpc>
              <a:buNone/>
              <a:defRPr sz="1400" b="1">
                <a:solidFill>
                  <a:srgbClr val="D8941C"/>
                </a:solidFill>
                <a:latin typeface="Aptos"/>
                <a:ea typeface="Aptos"/>
                <a:cs typeface="Aptos"/>
              </a:defRPr>
            </a:pPr>
            <a:r>
              <a:rPr sz="1400" b="1">
                <a:solidFill>
                  <a:srgbClr val="D8941C"/>
                </a:solidFill>
                <a:latin typeface="Aptos"/>
                <a:ea typeface="Aptos"/>
                <a:cs typeface="Aptos"/>
              </a:rPr>
              <a:t>YEAR 11 TEXTILES AND DESIGN · MODULE 12 · WEEKS 23–24</a:t>
            </a:r>
          </a:p>
        </p:txBody>
      </p:sp>
      <p:sp>
        <p:nvSpPr>
          <p:cNvPr id="5" name="">
            <a:extLst xmlns:a="http://schemas.openxmlformats.org/drawingml/2006/main">
              <a:ext uri="{FF2B5EF4-FFF2-40B4-BE49-F238E27FC236}">
                <a16:creationId xmlns:a16="http://schemas.microsoft.com/office/drawing/2014/main" id="{D7CC5B55-F07E-4B51-A25F-F034696FA0CB}"/>
              </a:ext>
            </a:extLst>
          </p:cNvPr>
          <p:cNvSpPr>
            <a:spLocks xmlns:a="http://schemas.openxmlformats.org/drawingml/2006/main" noGrp="1"/>
          </p:cNvSpPr>
          <p:nvPr/>
        </p:nvSpPr>
        <p:spPr>
          <a:xfrm xmlns:a="http://schemas.openxmlformats.org/drawingml/2006/main">
            <a:off x="5857875" y="438150"/>
            <a:ext cx="5810250" cy="5676900"/>
          </a:xfrm>
          <a:prstGeom xmlns:a="http://schemas.openxmlformats.org/drawingml/2006/main" prst="roundRect">
            <a:avLst>
              <a:gd name="adj" fmla="val 2013"/>
            </a:avLst>
          </a:prstGeom>
          <a:noFill xmlns:a="http://schemas.openxmlformats.org/drawingml/2006/main"/>
          <a:ln xmlns:a="http://schemas.openxmlformats.org/drawingml/2006/main" w="9525">
            <a:solidFill>
              <a:srgbClr val="D8941C"/>
            </a:solidFill>
            <a:prstDash val="solid"/>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b5a4c38fde5541c1"/>
          <a:srcRect xmlns:a="http://schemas.openxmlformats.org/drawingml/2006/main" l="0" t="0" r="0" b="0"/>
          <a:stretch xmlns:a="http://schemas.openxmlformats.org/drawingml/2006/main">
            <a:fillRect l="0" t="0" r="0" b="0"/>
          </a:stretch>
        </p:blipFill>
        <p:spPr>
          <a:xfrm xmlns:a="http://schemas.openxmlformats.org/drawingml/2006/main" flipH="0" flipV="0">
            <a:off x="6048375" y="628650"/>
            <a:ext cx="5429250" cy="5295900"/>
          </a:xfrm>
          <a:prstGeom xmlns:a="http://schemas.openxmlformats.org/drawingml/2006/main" prst="roundRect">
            <a:avLst/>
          </a:prstGeom>
        </p:spPr>
      </p:pic>
      <p:sp>
        <p:nvSpPr>
          <p:cNvPr id="7" name="">
            <a:extLst xmlns:a="http://schemas.openxmlformats.org/drawingml/2006/main">
              <a:ext uri="{FF2B5EF4-FFF2-40B4-BE49-F238E27FC236}">
                <a16:creationId xmlns:a16="http://schemas.microsoft.com/office/drawing/2014/main" id="{6D1F5FE7-ECD3-4151-887C-C288444A3915}"/>
              </a:ext>
            </a:extLst>
          </p:cNvPr>
          <p:cNvSpPr>
            <a:spLocks xmlns:a="http://schemas.openxmlformats.org/drawingml/2006/main" noGrp="1"/>
          </p:cNvSpPr>
          <p:nvPr/>
        </p:nvSpPr>
        <p:spPr>
          <a:xfrm xmlns:a="http://schemas.openxmlformats.org/drawingml/2006/main">
            <a:off x="628650" y="4953000"/>
            <a:ext cx="4762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ctr">
            <a:normAutofit fontScale="92593"/>
          </a:bodyPr>
          <a:lstStyle xmlns:a="http://schemas.openxmlformats.org/drawingml/2006/main"/>
          <a:p xmlns:a="http://schemas.openxmlformats.org/drawingml/2006/main">
            <a:pPr algn="l">
              <a:lnSpc>
                <a:spcPct val="105000"/>
              </a:lnSpc>
              <a:buNone/>
              <a:defRPr sz="1800" b="0">
                <a:solidFill>
                  <a:srgbClr val="173126"/>
                </a:solidFill>
                <a:latin typeface="Aptos"/>
                <a:ea typeface="Aptos"/>
                <a:cs typeface="Aptos"/>
              </a:defRPr>
            </a:pPr>
            <a:r>
              <a:rPr sz="1800" b="0">
                <a:solidFill>
                  <a:srgbClr val="173126"/>
                </a:solidFill>
                <a:latin typeface="Aptos"/>
                <a:ea typeface="Aptos"/>
                <a:cs typeface="Aptos"/>
              </a:rPr>
              <a:t>BEFORE YOU BEGIN</a:t>
            </a:r>
          </a:p>
          <a:p xmlns:a="http://schemas.openxmlformats.org/drawingml/2006/main">
            <a:pPr algn="l">
              <a:lnSpc>
                <a:spcPct val="105000"/>
              </a:lnSpc>
              <a:buNone/>
              <a:defRPr sz="1800" b="0">
                <a:solidFill>
                  <a:srgbClr val="173126"/>
                </a:solidFill>
                <a:latin typeface="Aptos"/>
                <a:ea typeface="Aptos"/>
                <a:cs typeface="Aptos"/>
              </a:defRPr>
            </a:pPr>
            <a:r>
              <a:rPr sz="1800" b="0">
                <a:solidFill>
                  <a:srgbClr val="173126"/>
                </a:solidFill>
                <a:latin typeface="Aptos"/>
                <a:ea typeface="Aptos"/>
                <a:cs typeface="Aptos"/>
              </a:rPr>
              <a:t>What do you already know about textile project 2 evidence, and what evidence would show it?</a:t>
            </a:r>
          </a:p>
        </p:txBody>
      </p:sp>
    </p:spTree>
    <p:extLst>
      <p:ext uri="{BB962C8B-B14F-4D97-AF65-F5344CB8AC3E}">
        <p14:creationId xmlns:p14="http://schemas.microsoft.com/office/powerpoint/2010/main" val="1728781570"/>
      </p:ext>
    </p:extLst>
  </p:cSld>
</p:sld>
</file>

<file path=ppt/slides/slide2.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13" name="Slide-Number-Placeholder-3-2">
            <a:extLst xmlns:a="http://schemas.openxmlformats.org/drawingml/2006/main">
              <a:ext uri="{FF2B5EF4-FFF2-40B4-BE49-F238E27FC236}">
                <a16:creationId xmlns:a16="http://schemas.microsoft.com/office/drawing/2014/main" id="{D16595B7-F5B3-45CC-A1D0-60A5F8F46B0A}"/>
              </a:ext>
            </a:extLst>
          </p:cNvPr>
          <p:cNvSpPr>
            <a:spLocks xmlns:a="http://schemas.openxmlformats.org/drawingml/2006/main" noGrp="1"/>
          </p:cNvSpPr>
          <p:nvPr/>
        </p:nvSpPr>
        <p:spPr>
          <a:xfrm xmlns:a="http://schemas.openxmlformats.org/drawingml/2006/main">
            <a:off x="11334750" y="6496050"/>
            <a:ext cx="400050" cy="190500"/>
          </a:xfrm>
          <a:prstGeom xmlns:a="http://schemas.openxmlformats.org/drawingml/2006/main" prst="rect">
            <a:avLst/>
          </a:prstGeom>
        </p:spPr>
        <p:txBody>
          <a:bodyPr xmlns:a="http://schemas.openxmlformats.org/drawingml/2006/main" lIns="38100" tIns="38100" rIns="38100" bIns="38100" anchor="ctr">
            <a:normAutofit fontScale="64935"/>
          </a:bodyPr>
          <a:lstStyle xmlns:a="http://schemas.openxmlformats.org/drawingml/2006/main"/>
          <a:p xmlns:a="http://schemas.openxmlformats.org/drawingml/2006/main">
            <a:pPr algn="r">
              <a:lnSpc>
                <a:spcPct val="105000"/>
              </a:lnSpc>
              <a:buNone/>
              <a:defRPr sz="1100" b="1">
                <a:solidFill>
                  <a:srgbClr val="5A665F"/>
                </a:solidFill>
                <a:latin typeface="Aptos"/>
                <a:ea typeface="Aptos"/>
                <a:cs typeface="Aptos"/>
              </a:defRPr>
            </a:pPr>
            <a:r>
              <a:rPr sz="1100" b="1">
                <a:solidFill>
                  <a:srgbClr val="5A665F"/>
                </a:solidFill>
                <a:latin typeface="Aptos"/>
                <a:ea typeface="Aptos"/>
                <a:cs typeface="Aptos"/>
              </a:rPr>
              <a:t>2</a:t>
            </a:r>
          </a:p>
        </p:txBody>
      </p:sp>
      <p:sp>
        <p:nvSpPr>
          <p:cNvPr id="2" name="Title-10-3">
            <a:extLst xmlns:a="http://schemas.openxmlformats.org/drawingml/2006/main">
              <a:ext uri="{FF2B5EF4-FFF2-40B4-BE49-F238E27FC236}">
                <a16:creationId xmlns:a16="http://schemas.microsoft.com/office/drawing/2014/main" id="{A5C0B864-CE5F-40EB-BFB1-124C7F8209DC}"/>
              </a:ext>
            </a:extLst>
          </p:cNvPr>
          <p:cNvSpPr>
            <a:spLocks xmlns:a="http://schemas.openxmlformats.org/drawingml/2006/main" noGrp="1"/>
          </p:cNvSpPr>
          <p:nvPr/>
        </p:nvSpPr>
        <p:spPr>
          <a:xfrm xmlns:a="http://schemas.openxmlformats.org/drawingml/2006/main">
            <a:off x="571500" y="514350"/>
            <a:ext cx="10477500" cy="6667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3600" b="1">
                <a:solidFill>
                  <a:srgbClr val="173126"/>
                </a:solidFill>
                <a:latin typeface="Aptos"/>
                <a:ea typeface="Aptos"/>
                <a:cs typeface="Aptos"/>
              </a:defRPr>
            </a:pPr>
            <a:r>
              <a:rPr sz="3600" b="1">
                <a:solidFill>
                  <a:srgbClr val="173126"/>
                </a:solidFill>
                <a:latin typeface="Aptos"/>
                <a:ea typeface="Aptos"/>
                <a:cs typeface="Aptos"/>
              </a:rPr>
              <a:t>Module 12: three connected ideas</a:t>
            </a:r>
          </a:p>
        </p:txBody>
      </p:sp>
      <p:cxnSp>
        <p:nvCxnSpPr>
          <p:cNvPr id="34" name="Google-Shape-2259-p159-4"/>
          <p:cNvCxnSpPr/>
          <p:nvPr/>
        </p:nvCxnSpPr>
        <p:spPr>
          <a:xfrm xmlns:a="http://schemas.openxmlformats.org/drawingml/2006/main">
            <a:off x="0" y="0"/>
            <a:ext cx="9525" cy="9525"/>
          </a:xfrm>
          <a:prstGeom xmlns:a="http://schemas.openxmlformats.org/drawingml/2006/main" prst="straightConnector1">
            <a:avLst/>
          </a:prstGeom>
          <a:ln xmlns:a="http://schemas.openxmlformats.org/drawingml/2006/main" w="0">
            <a:noFill/>
            <a:prstDash val="solid"/>
          </a:ln>
        </p:spPr>
      </p:cxnSp>
      <p:sp>
        <p:nvSpPr>
          <p:cNvPr id="4" name="Google-Shape-2260-p159-5">
            <a:extLst xmlns:a="http://schemas.openxmlformats.org/drawingml/2006/main">
              <a:ext uri="{FF2B5EF4-FFF2-40B4-BE49-F238E27FC236}">
                <a16:creationId xmlns:a16="http://schemas.microsoft.com/office/drawing/2014/main" id="{80EBB6E6-D29B-4511-A6D6-6E24B45A62D8}"/>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5" name="Google-Shape-2261-p159-6">
            <a:extLst xmlns:a="http://schemas.openxmlformats.org/drawingml/2006/main">
              <a:ext uri="{FF2B5EF4-FFF2-40B4-BE49-F238E27FC236}">
                <a16:creationId xmlns:a16="http://schemas.microsoft.com/office/drawing/2014/main" id="{77EECBE0-D327-4135-9672-CA69C10CF337}"/>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6" name="Google-Shape-2262-p159-7">
            <a:extLst xmlns:a="http://schemas.openxmlformats.org/drawingml/2006/main">
              <a:ext uri="{FF2B5EF4-FFF2-40B4-BE49-F238E27FC236}">
                <a16:creationId xmlns:a16="http://schemas.microsoft.com/office/drawing/2014/main" id="{AC21CEC6-5855-4BE0-ABD8-07F846693637}"/>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7" name="Content-Placeholder-15-8">
            <a:extLst xmlns:a="http://schemas.openxmlformats.org/drawingml/2006/main">
              <a:ext uri="{FF2B5EF4-FFF2-40B4-BE49-F238E27FC236}">
                <a16:creationId xmlns:a16="http://schemas.microsoft.com/office/drawing/2014/main" id="{55F5CC1A-B730-48DE-B337-081BD18AF1D1}"/>
              </a:ext>
            </a:extLst>
          </p:cNvPr>
          <p:cNvSpPr>
            <a:spLocks xmlns:a="http://schemas.openxmlformats.org/drawingml/2006/main" noGrp="1"/>
          </p:cNvSpPr>
          <p:nvPr/>
        </p:nvSpPr>
        <p:spPr>
          <a:xfrm xmlns:a="http://schemas.openxmlformats.org/drawingml/2006/main">
            <a:off x="933450" y="2171700"/>
            <a:ext cx="666750" cy="57150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2800" b="1">
                <a:solidFill>
                  <a:srgbClr val="D8941C"/>
                </a:solidFill>
                <a:latin typeface="Aptos"/>
                <a:ea typeface="Aptos"/>
                <a:cs typeface="Aptos"/>
              </a:defRPr>
            </a:pPr>
            <a:r>
              <a:rPr sz="2800" b="1">
                <a:solidFill>
                  <a:srgbClr val="D8941C"/>
                </a:solidFill>
                <a:latin typeface="Aptos"/>
                <a:ea typeface="Aptos"/>
                <a:cs typeface="Aptos"/>
              </a:rPr>
              <a:t>01</a:t>
            </a:r>
          </a:p>
        </p:txBody>
      </p:sp>
      <p:sp>
        <p:nvSpPr>
          <p:cNvPr id="8" name="Content-Placeholder-15-9">
            <a:extLst xmlns:a="http://schemas.openxmlformats.org/drawingml/2006/main">
              <a:ext uri="{FF2B5EF4-FFF2-40B4-BE49-F238E27FC236}">
                <a16:creationId xmlns:a16="http://schemas.microsoft.com/office/drawing/2014/main" id="{CC4FDA11-53DB-407A-BDEC-FBE50DB65E61}"/>
              </a:ext>
            </a:extLst>
          </p:cNvPr>
          <p:cNvSpPr>
            <a:spLocks xmlns:a="http://schemas.openxmlformats.org/drawingml/2006/main" noGrp="1"/>
          </p:cNvSpPr>
          <p:nvPr/>
        </p:nvSpPr>
        <p:spPr>
          <a:xfrm xmlns:a="http://schemas.openxmlformats.org/drawingml/2006/main">
            <a:off x="4552950" y="2171700"/>
            <a:ext cx="666750" cy="57150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2800" b="1">
                <a:solidFill>
                  <a:srgbClr val="D8941C"/>
                </a:solidFill>
                <a:latin typeface="Aptos"/>
                <a:ea typeface="Aptos"/>
                <a:cs typeface="Aptos"/>
              </a:defRPr>
            </a:pPr>
            <a:r>
              <a:rPr sz="2800" b="1">
                <a:solidFill>
                  <a:srgbClr val="D8941C"/>
                </a:solidFill>
                <a:latin typeface="Aptos"/>
                <a:ea typeface="Aptos"/>
                <a:cs typeface="Aptos"/>
              </a:rPr>
              <a:t>02</a:t>
            </a:r>
          </a:p>
        </p:txBody>
      </p:sp>
      <p:sp>
        <p:nvSpPr>
          <p:cNvPr id="9" name="Content-Placeholder-15-10">
            <a:extLst xmlns:a="http://schemas.openxmlformats.org/drawingml/2006/main">
              <a:ext uri="{FF2B5EF4-FFF2-40B4-BE49-F238E27FC236}">
                <a16:creationId xmlns:a16="http://schemas.microsoft.com/office/drawing/2014/main" id="{740F3AC6-594B-429C-81EE-E57F9069D6D9}"/>
              </a:ext>
            </a:extLst>
          </p:cNvPr>
          <p:cNvSpPr>
            <a:spLocks xmlns:a="http://schemas.openxmlformats.org/drawingml/2006/main" noGrp="1"/>
          </p:cNvSpPr>
          <p:nvPr/>
        </p:nvSpPr>
        <p:spPr>
          <a:xfrm xmlns:a="http://schemas.openxmlformats.org/drawingml/2006/main">
            <a:off x="8172450" y="2171700"/>
            <a:ext cx="666750" cy="57150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2800" b="1">
                <a:solidFill>
                  <a:srgbClr val="D8941C"/>
                </a:solidFill>
                <a:latin typeface="Aptos"/>
                <a:ea typeface="Aptos"/>
                <a:cs typeface="Aptos"/>
              </a:defRPr>
            </a:pPr>
            <a:r>
              <a:rPr sz="2800" b="1">
                <a:solidFill>
                  <a:srgbClr val="D8941C"/>
                </a:solidFill>
                <a:latin typeface="Aptos"/>
                <a:ea typeface="Aptos"/>
                <a:cs typeface="Aptos"/>
              </a:rPr>
              <a:t>03</a:t>
            </a:r>
          </a:p>
        </p:txBody>
      </p:sp>
      <p:sp>
        <p:nvSpPr>
          <p:cNvPr id="10" name="Text-Placeholder-16-11">
            <a:extLst xmlns:a="http://schemas.openxmlformats.org/drawingml/2006/main">
              <a:ext uri="{FF2B5EF4-FFF2-40B4-BE49-F238E27FC236}">
                <a16:creationId xmlns:a16="http://schemas.microsoft.com/office/drawing/2014/main" id="{2DCFFC81-D22B-4BC1-B1F8-6DFA762662D6}"/>
              </a:ext>
            </a:extLst>
          </p:cNvPr>
          <p:cNvSpPr>
            <a:spLocks xmlns:a="http://schemas.openxmlformats.org/drawingml/2006/main" noGrp="1"/>
          </p:cNvSpPr>
          <p:nvPr/>
        </p:nvSpPr>
        <p:spPr>
          <a:xfrm xmlns:a="http://schemas.openxmlformats.org/drawingml/2006/main">
            <a:off x="933450" y="2781300"/>
            <a:ext cx="2419350" cy="2133600"/>
          </a:xfrm>
          <a:prstGeom xmlns:a="http://schemas.openxmlformats.org/drawingml/2006/main" prst="rect">
            <a:avLst/>
          </a:prstGeom>
        </p:spPr>
        <p:txBody>
          <a:bodyPr xmlns:a="http://schemas.openxmlformats.org/drawingml/2006/main" lIns="38100" tIns="38100" rIns="38100" bIns="38100" anchor="t">
            <a:normAutofit fontScale="93129"/>
          </a:bodyPr>
          <a:lstStyle xmlns:a="http://schemas.openxmlformats.org/drawingml/2006/main"/>
          <a:p xmlns:a="http://schemas.openxmlformats.org/drawingml/2006/main">
            <a:pPr algn="l">
              <a:lnSpc>
                <a:spcPct val="108000"/>
              </a:lnSpc>
              <a:buNone/>
              <a:defRPr sz="1600" b="0">
                <a:solidFill>
                  <a:srgbClr val="173126"/>
                </a:solidFill>
                <a:latin typeface="Aptos"/>
                <a:ea typeface="Aptos"/>
                <a:cs typeface="Aptos"/>
              </a:defRPr>
            </a:pPr>
            <a:r>
              <a:rPr sz="1600" b="0">
                <a:solidFill>
                  <a:srgbClr val="173126"/>
                </a:solidFill>
                <a:latin typeface="Aptos"/>
                <a:ea typeface="Aptos"/>
                <a:cs typeface="Aptos"/>
              </a:rPr>
              <a:t>Analysing experimental evidence</a:t>
            </a:r>
          </a:p>
          <a:p xmlns:a="http://schemas.openxmlformats.org/drawingml/2006/main">
            <a:pPr algn="l">
              <a:buNone/>
              <a:defRPr sz="2400">
                <a:solidFill>
                  <a:srgbClr val="000000"/>
                </a:solidFill>
                <a:latin typeface="Helvetica Neue"/>
                <a:ea typeface="Helvetica Neue"/>
                <a:cs typeface="Helvetica Neue"/>
              </a:defRPr>
            </a:pPr>
            <a:r>
              <a:t/>
            </a:r>
          </a:p>
          <a:p xmlns:a="http://schemas.openxmlformats.org/drawingml/2006/main">
            <a:pPr algn="l">
              <a:lnSpc>
                <a:spcPct val="108000"/>
              </a:lnSpc>
              <a:buNone/>
              <a:defRPr sz="1600" b="0">
                <a:solidFill>
                  <a:srgbClr val="173126"/>
                </a:solidFill>
                <a:latin typeface="Aptos"/>
                <a:ea typeface="Aptos"/>
                <a:cs typeface="Aptos"/>
              </a:defRPr>
            </a:pPr>
            <a:r>
              <a:rPr sz="1600" b="0">
                <a:solidFill>
                  <a:srgbClr val="173126"/>
                </a:solidFill>
                <a:latin typeface="Aptos"/>
                <a:ea typeface="Aptos"/>
                <a:cs typeface="Aptos"/>
              </a:rPr>
              <a:t>Experimental evidence can be used to compare textile materials and judge how well they meet relevant performance…</a:t>
            </a:r>
          </a:p>
        </p:txBody>
      </p:sp>
      <p:sp>
        <p:nvSpPr>
          <p:cNvPr id="11" name="Text-Placeholder-16-12">
            <a:extLst xmlns:a="http://schemas.openxmlformats.org/drawingml/2006/main">
              <a:ext uri="{FF2B5EF4-FFF2-40B4-BE49-F238E27FC236}">
                <a16:creationId xmlns:a16="http://schemas.microsoft.com/office/drawing/2014/main" id="{B6ACFAD4-DA68-47CD-BF12-9531E07EEC1D}"/>
              </a:ext>
            </a:extLst>
          </p:cNvPr>
          <p:cNvSpPr>
            <a:spLocks xmlns:a="http://schemas.openxmlformats.org/drawingml/2006/main" noGrp="1"/>
          </p:cNvSpPr>
          <p:nvPr/>
        </p:nvSpPr>
        <p:spPr>
          <a:xfrm xmlns:a="http://schemas.openxmlformats.org/drawingml/2006/main">
            <a:off x="4552950" y="2781300"/>
            <a:ext cx="2419350" cy="213360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8000"/>
              </a:lnSpc>
              <a:buNone/>
              <a:defRPr sz="1600" b="0">
                <a:solidFill>
                  <a:srgbClr val="173126"/>
                </a:solidFill>
                <a:latin typeface="Aptos"/>
                <a:ea typeface="Aptos"/>
                <a:cs typeface="Aptos"/>
              </a:defRPr>
            </a:pPr>
            <a:r>
              <a:rPr sz="1600" b="0">
                <a:solidFill>
                  <a:srgbClr val="173126"/>
                </a:solidFill>
                <a:latin typeface="Aptos"/>
                <a:ea typeface="Aptos"/>
                <a:cs typeface="Aptos"/>
              </a:rPr>
              <a:t>Fabric selection and design</a:t>
            </a:r>
          </a:p>
          <a:p xmlns:a="http://schemas.openxmlformats.org/drawingml/2006/main">
            <a:pPr algn="l">
              <a:buNone/>
              <a:defRPr sz="2400">
                <a:solidFill>
                  <a:srgbClr val="000000"/>
                </a:solidFill>
                <a:latin typeface="Helvetica Neue"/>
                <a:ea typeface="Helvetica Neue"/>
                <a:cs typeface="Helvetica Neue"/>
              </a:defRPr>
            </a:pPr>
            <a:r>
              <a:t/>
            </a:r>
          </a:p>
          <a:p xmlns:a="http://schemas.openxmlformats.org/drawingml/2006/main">
            <a:pPr algn="l">
              <a:lnSpc>
                <a:spcPct val="108000"/>
              </a:lnSpc>
              <a:buNone/>
              <a:defRPr sz="1600" b="0">
                <a:solidFill>
                  <a:srgbClr val="173126"/>
                </a:solidFill>
                <a:latin typeface="Aptos"/>
                <a:ea typeface="Aptos"/>
                <a:cs typeface="Aptos"/>
              </a:defRPr>
            </a:pPr>
            <a:r>
              <a:rPr sz="1600" b="0">
                <a:solidFill>
                  <a:srgbClr val="173126"/>
                </a:solidFill>
                <a:latin typeface="Aptos"/>
                <a:ea typeface="Aptos"/>
                <a:cs typeface="Aptos"/>
              </a:rPr>
              <a:t>Fabric selection begins by translating user and end-use needs into clear criteria .</a:t>
            </a:r>
          </a:p>
        </p:txBody>
      </p:sp>
      <p:sp>
        <p:nvSpPr>
          <p:cNvPr id="12" name="Text-Placeholder-16-13">
            <a:extLst xmlns:a="http://schemas.openxmlformats.org/drawingml/2006/main">
              <a:ext uri="{FF2B5EF4-FFF2-40B4-BE49-F238E27FC236}">
                <a16:creationId xmlns:a16="http://schemas.microsoft.com/office/drawing/2014/main" id="{78B5E93A-F297-48EF-AAD3-C5B7DD87F0E4}"/>
              </a:ext>
            </a:extLst>
          </p:cNvPr>
          <p:cNvSpPr>
            <a:spLocks xmlns:a="http://schemas.openxmlformats.org/drawingml/2006/main" noGrp="1"/>
          </p:cNvSpPr>
          <p:nvPr/>
        </p:nvSpPr>
        <p:spPr>
          <a:xfrm xmlns:a="http://schemas.openxmlformats.org/drawingml/2006/main">
            <a:off x="8172450" y="2781300"/>
            <a:ext cx="2419350" cy="2133600"/>
          </a:xfrm>
          <a:prstGeom xmlns:a="http://schemas.openxmlformats.org/drawingml/2006/main" prst="rect">
            <a:avLst/>
          </a:prstGeom>
        </p:spPr>
        <p:txBody>
          <a:bodyPr xmlns:a="http://schemas.openxmlformats.org/drawingml/2006/main" lIns="38100" tIns="38100" rIns="38100" bIns="38100" anchor="t">
            <a:normAutofit fontScale="93129"/>
          </a:bodyPr>
          <a:lstStyle xmlns:a="http://schemas.openxmlformats.org/drawingml/2006/main"/>
          <a:p xmlns:a="http://schemas.openxmlformats.org/drawingml/2006/main">
            <a:pPr algn="l">
              <a:lnSpc>
                <a:spcPct val="108000"/>
              </a:lnSpc>
              <a:buNone/>
              <a:defRPr sz="1600" b="0">
                <a:solidFill>
                  <a:srgbClr val="173126"/>
                </a:solidFill>
                <a:latin typeface="Aptos"/>
                <a:ea typeface="Aptos"/>
                <a:cs typeface="Aptos"/>
              </a:defRPr>
            </a:pPr>
            <a:r>
              <a:rPr sz="1600" b="0">
                <a:solidFill>
                  <a:srgbClr val="173126"/>
                </a:solidFill>
                <a:latin typeface="Aptos"/>
                <a:ea typeface="Aptos"/>
                <a:cs typeface="Aptos"/>
              </a:rPr>
              <a:t>Project evidence and evaluation</a:t>
            </a:r>
          </a:p>
          <a:p xmlns:a="http://schemas.openxmlformats.org/drawingml/2006/main">
            <a:pPr algn="l">
              <a:buNone/>
              <a:defRPr sz="2400">
                <a:solidFill>
                  <a:srgbClr val="000000"/>
                </a:solidFill>
                <a:latin typeface="Helvetica Neue"/>
                <a:ea typeface="Helvetica Neue"/>
                <a:cs typeface="Helvetica Neue"/>
              </a:defRPr>
            </a:pPr>
            <a:r>
              <a:t/>
            </a:r>
          </a:p>
          <a:p xmlns:a="http://schemas.openxmlformats.org/drawingml/2006/main">
            <a:pPr algn="l">
              <a:lnSpc>
                <a:spcPct val="108000"/>
              </a:lnSpc>
              <a:buNone/>
              <a:defRPr sz="1600" b="0">
                <a:solidFill>
                  <a:srgbClr val="173126"/>
                </a:solidFill>
                <a:latin typeface="Aptos"/>
                <a:ea typeface="Aptos"/>
                <a:cs typeface="Aptos"/>
              </a:defRPr>
            </a:pPr>
            <a:r>
              <a:rPr sz="1600" b="0">
                <a:solidFill>
                  <a:srgbClr val="173126"/>
                </a:solidFill>
                <a:latin typeface="Aptos"/>
                <a:ea typeface="Aptos"/>
                <a:cs typeface="Aptos"/>
              </a:rPr>
              <a:t>Strong project evidence forms a traceable chain from the original brief and research through experimentation,…</a:t>
            </a:r>
          </a:p>
        </p:txBody>
      </p:sp>
      <p:sp>
        <p:nvSpPr>
          <p:cNvPr id="19" name="">
            <a:extLst xmlns:a="http://schemas.openxmlformats.org/drawingml/2006/main">
              <a:ext uri="{FF2B5EF4-FFF2-40B4-BE49-F238E27FC236}">
                <a16:creationId xmlns:a16="http://schemas.microsoft.com/office/drawing/2014/main" id="{BB159F23-A0CC-49B4-83D4-61338CCA10C6}"/>
              </a:ext>
            </a:extLst>
          </p:cNvPr>
          <p:cNvSpPr>
            <a:spLocks xmlns:a="http://schemas.openxmlformats.org/drawingml/2006/main" noGrp="1"/>
          </p:cNvSpPr>
          <p:nvPr/>
        </p:nvSpPr>
        <p:spPr>
          <a:xfrm xmlns:a="http://schemas.openxmlformats.org/drawingml/2006/main">
            <a:off x="590550" y="1190625"/>
            <a:ext cx="933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95238"/>
          </a:bodyPr>
          <a:lstStyle xmlns:a="http://schemas.openxmlformats.org/drawingml/2006/main"/>
          <a:p xmlns:a="http://schemas.openxmlformats.org/drawingml/2006/main">
            <a:pPr algn="l">
              <a:lnSpc>
                <a:spcPct val="105000"/>
              </a:lnSpc>
              <a:buNone/>
              <a:defRPr sz="2000" b="0">
                <a:solidFill>
                  <a:srgbClr val="5A665F"/>
                </a:solidFill>
                <a:latin typeface="Aptos"/>
                <a:ea typeface="Aptos"/>
                <a:cs typeface="Aptos"/>
              </a:defRPr>
            </a:pPr>
            <a:r>
              <a:rPr sz="2000" b="0">
                <a:solidFill>
                  <a:srgbClr val="5A665F"/>
                </a:solidFill>
                <a:latin typeface="Aptos"/>
                <a:ea typeface="Aptos"/>
                <a:cs typeface="Aptos"/>
              </a:rPr>
              <a:t>Connect the three ideas, then justify one decision with evidence.</a:t>
            </a:r>
          </a:p>
        </p:txBody>
      </p:sp>
      <p:sp>
        <p:nvSpPr>
          <p:cNvPr id="20" name="">
            <a:extLst xmlns:a="http://schemas.openxmlformats.org/drawingml/2006/main">
              <a:ext uri="{FF2B5EF4-FFF2-40B4-BE49-F238E27FC236}">
                <a16:creationId xmlns:a16="http://schemas.microsoft.com/office/drawing/2014/main" id="{F8941D7B-C927-40EF-AD75-001986D69FE8}"/>
              </a:ext>
            </a:extLst>
          </p:cNvPr>
          <p:cNvSpPr>
            <a:spLocks xmlns:a="http://schemas.openxmlformats.org/drawingml/2006/main" noGrp="1"/>
          </p:cNvSpPr>
          <p:nvPr/>
        </p:nvSpPr>
        <p:spPr>
          <a:xfrm xmlns:a="http://schemas.openxmlformats.org/drawingml/2006/main">
            <a:off x="666750" y="1952625"/>
            <a:ext cx="2952750" cy="3333750"/>
          </a:xfrm>
          <a:prstGeom xmlns:a="http://schemas.openxmlformats.org/drawingml/2006/main" prst="roundRect">
            <a:avLst>
              <a:gd name="adj" fmla="val 3871"/>
            </a:avLst>
          </a:prstGeom>
          <a:noFill xmlns:a="http://schemas.openxmlformats.org/drawingml/2006/main"/>
          <a:ln xmlns:a="http://schemas.openxmlformats.org/drawingml/2006/main" w="9525">
            <a:solidFill>
              <a:srgbClr val="EAD2AE"/>
            </a:solidFill>
            <a:prstDash val="solid"/>
          </a:ln>
        </p:spPr>
      </p:sp>
      <p:sp>
        <p:nvSpPr>
          <p:cNvPr id="21" name="">
            <a:extLst xmlns:a="http://schemas.openxmlformats.org/drawingml/2006/main">
              <a:ext uri="{FF2B5EF4-FFF2-40B4-BE49-F238E27FC236}">
                <a16:creationId xmlns:a16="http://schemas.microsoft.com/office/drawing/2014/main" id="{96418902-0D60-4955-BF78-64D12E5311DA}"/>
              </a:ext>
            </a:extLst>
          </p:cNvPr>
          <p:cNvSpPr>
            <a:spLocks xmlns:a="http://schemas.openxmlformats.org/drawingml/2006/main" noGrp="1"/>
          </p:cNvSpPr>
          <p:nvPr/>
        </p:nvSpPr>
        <p:spPr>
          <a:xfrm xmlns:a="http://schemas.openxmlformats.org/drawingml/2006/main">
            <a:off x="4286250" y="1952625"/>
            <a:ext cx="2952750" cy="3333750"/>
          </a:xfrm>
          <a:prstGeom xmlns:a="http://schemas.openxmlformats.org/drawingml/2006/main" prst="roundRect">
            <a:avLst>
              <a:gd name="adj" fmla="val 3871"/>
            </a:avLst>
          </a:prstGeom>
          <a:noFill xmlns:a="http://schemas.openxmlformats.org/drawingml/2006/main"/>
          <a:ln xmlns:a="http://schemas.openxmlformats.org/drawingml/2006/main" w="9525">
            <a:solidFill>
              <a:srgbClr val="D8941C"/>
            </a:solidFill>
            <a:prstDash val="solid"/>
          </a:ln>
        </p:spPr>
      </p:sp>
      <p:sp>
        <p:nvSpPr>
          <p:cNvPr id="22" name="">
            <a:extLst xmlns:a="http://schemas.openxmlformats.org/drawingml/2006/main">
              <a:ext uri="{FF2B5EF4-FFF2-40B4-BE49-F238E27FC236}">
                <a16:creationId xmlns:a16="http://schemas.microsoft.com/office/drawing/2014/main" id="{6E844523-F8E9-4C62-A984-9A5A63D55C8A}"/>
              </a:ext>
            </a:extLst>
          </p:cNvPr>
          <p:cNvSpPr>
            <a:spLocks xmlns:a="http://schemas.openxmlformats.org/drawingml/2006/main" noGrp="1"/>
          </p:cNvSpPr>
          <p:nvPr/>
        </p:nvSpPr>
        <p:spPr>
          <a:xfrm xmlns:a="http://schemas.openxmlformats.org/drawingml/2006/main">
            <a:off x="7905750" y="1952625"/>
            <a:ext cx="2952750" cy="3333750"/>
          </a:xfrm>
          <a:prstGeom xmlns:a="http://schemas.openxmlformats.org/drawingml/2006/main" prst="roundRect">
            <a:avLst>
              <a:gd name="adj" fmla="val 3871"/>
            </a:avLst>
          </a:prstGeom>
          <a:noFill xmlns:a="http://schemas.openxmlformats.org/drawingml/2006/main"/>
          <a:ln xmlns:a="http://schemas.openxmlformats.org/drawingml/2006/main" w="9525">
            <a:solidFill>
              <a:srgbClr val="EAD2AE"/>
            </a:solidFill>
            <a:prstDash val="solid"/>
          </a:ln>
        </p:spPr>
      </p:sp>
    </p:spTree>
    <p:extLst>
      <p:ext uri="{BB962C8B-B14F-4D97-AF65-F5344CB8AC3E}">
        <p14:creationId xmlns:p14="http://schemas.microsoft.com/office/powerpoint/2010/main" val="593234553"/>
      </p:ext>
    </p:extLst>
  </p:cSld>
</p:sld>
</file>

<file path=ppt/slides/slide3.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7" name="Slide-Number-Placeholder-1-2">
            <a:extLst xmlns:a="http://schemas.openxmlformats.org/drawingml/2006/main">
              <a:ext uri="{FF2B5EF4-FFF2-40B4-BE49-F238E27FC236}">
                <a16:creationId xmlns:a16="http://schemas.microsoft.com/office/drawing/2014/main" id="{8B2A920B-A121-4C29-8AD9-4B493140AF81}"/>
              </a:ext>
            </a:extLst>
          </p:cNvPr>
          <p:cNvSpPr>
            <a:spLocks xmlns:a="http://schemas.openxmlformats.org/drawingml/2006/main" noGrp="1"/>
          </p:cNvSpPr>
          <p:nvPr/>
        </p:nvSpPr>
        <p:spPr>
          <a:xfrm xmlns:a="http://schemas.openxmlformats.org/drawingml/2006/main">
            <a:off x="11334750" y="6496050"/>
            <a:ext cx="400050" cy="190500"/>
          </a:xfrm>
          <a:prstGeom xmlns:a="http://schemas.openxmlformats.org/drawingml/2006/main" prst="rect">
            <a:avLst/>
          </a:prstGeom>
        </p:spPr>
        <p:txBody>
          <a:bodyPr xmlns:a="http://schemas.openxmlformats.org/drawingml/2006/main" lIns="38100" tIns="38100" rIns="38100" bIns="38100" anchor="ctr">
            <a:normAutofit fontScale="64935"/>
          </a:bodyPr>
          <a:lstStyle xmlns:a="http://schemas.openxmlformats.org/drawingml/2006/main"/>
          <a:p xmlns:a="http://schemas.openxmlformats.org/drawingml/2006/main">
            <a:pPr algn="r">
              <a:lnSpc>
                <a:spcPct val="105000"/>
              </a:lnSpc>
              <a:buNone/>
              <a:defRPr sz="1100" b="1">
                <a:solidFill>
                  <a:srgbClr val="5A665F"/>
                </a:solidFill>
                <a:latin typeface="Aptos"/>
                <a:ea typeface="Aptos"/>
                <a:cs typeface="Aptos"/>
              </a:defRPr>
            </a:pPr>
            <a:r>
              <a:rPr sz="1100" b="1">
                <a:solidFill>
                  <a:srgbClr val="5A665F"/>
                </a:solidFill>
                <a:latin typeface="Aptos"/>
                <a:ea typeface="Aptos"/>
                <a:cs typeface="Aptos"/>
              </a:rPr>
              <a:t>3</a:t>
            </a:r>
          </a:p>
        </p:txBody>
      </p:sp>
      <p:sp>
        <p:nvSpPr>
          <p:cNvPr id="2" name="Title-2-3">
            <a:extLst xmlns:a="http://schemas.openxmlformats.org/drawingml/2006/main">
              <a:ext uri="{FF2B5EF4-FFF2-40B4-BE49-F238E27FC236}">
                <a16:creationId xmlns:a16="http://schemas.microsoft.com/office/drawing/2014/main" id="{252F3A05-9EBE-45C1-B219-F9A8DDB8481F}"/>
              </a:ext>
            </a:extLst>
          </p:cNvPr>
          <p:cNvSpPr>
            <a:spLocks xmlns:a="http://schemas.openxmlformats.org/drawingml/2006/main" noGrp="1"/>
          </p:cNvSpPr>
          <p:nvPr/>
        </p:nvSpPr>
        <p:spPr>
          <a:xfrm xmlns:a="http://schemas.openxmlformats.org/drawingml/2006/main">
            <a:off x="571500" y="533400"/>
            <a:ext cx="5191125" cy="15049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98000"/>
              </a:lnSpc>
              <a:buNone/>
              <a:defRPr sz="3500" b="1">
                <a:solidFill>
                  <a:srgbClr val="173126"/>
                </a:solidFill>
                <a:latin typeface="Aptos"/>
                <a:ea typeface="Aptos"/>
                <a:cs typeface="Aptos"/>
              </a:defRPr>
            </a:pPr>
            <a:r>
              <a:rPr sz="3500" b="1">
                <a:solidFill>
                  <a:srgbClr val="173126"/>
                </a:solidFill>
                <a:latin typeface="Aptos"/>
                <a:ea typeface="Aptos"/>
                <a:cs typeface="Aptos"/>
              </a:rPr>
              <a:t>Analysing experimental evidence</a:t>
            </a:r>
          </a:p>
        </p:txBody>
      </p:sp>
      <p:sp>
        <p:nvSpPr>
          <p:cNvPr id="3" name="Content-Placeholder-9-4">
            <a:extLst xmlns:a="http://schemas.openxmlformats.org/drawingml/2006/main">
              <a:ext uri="{FF2B5EF4-FFF2-40B4-BE49-F238E27FC236}">
                <a16:creationId xmlns:a16="http://schemas.microsoft.com/office/drawing/2014/main" id="{B3B5522B-4811-4958-BA5B-70E2FFB73BD3}"/>
              </a:ext>
            </a:extLst>
          </p:cNvPr>
          <p:cNvSpPr>
            <a:spLocks xmlns:a="http://schemas.openxmlformats.org/drawingml/2006/main" noGrp="1"/>
          </p:cNvSpPr>
          <p:nvPr/>
        </p:nvSpPr>
        <p:spPr>
          <a:xfrm xmlns:a="http://schemas.openxmlformats.org/drawingml/2006/main">
            <a:off x="685800" y="2095500"/>
            <a:ext cx="4905375" cy="723900"/>
          </a:xfrm>
          <a:prstGeom xmlns:a="http://schemas.openxmlformats.org/drawingml/2006/main" prst="rect">
            <a:avLst/>
          </a:prstGeom>
        </p:spPr>
        <p:txBody>
          <a:bodyPr xmlns:a="http://schemas.openxmlformats.org/drawingml/2006/main" lIns="38100" tIns="38100" rIns="38100" bIns="38100" anchor="ctr">
            <a:normAutofit fontScale="77865"/>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01 Experimental evidence can be used to compare textile materials and judge how well they meet relevant performance criteria.</a:t>
            </a:r>
          </a:p>
        </p:txBody>
      </p:sp>
      <p:sp>
        <p:nvSpPr>
          <p:cNvPr id="4" name="Content-Placeholder-10-5">
            <a:extLst xmlns:a="http://schemas.openxmlformats.org/drawingml/2006/main">
              <a:ext uri="{FF2B5EF4-FFF2-40B4-BE49-F238E27FC236}">
                <a16:creationId xmlns:a16="http://schemas.microsoft.com/office/drawing/2014/main" id="{5A010513-2588-46B2-9A08-569104F0558E}"/>
              </a:ext>
            </a:extLst>
          </p:cNvPr>
          <p:cNvSpPr>
            <a:spLocks xmlns:a="http://schemas.openxmlformats.org/drawingml/2006/main" noGrp="1"/>
          </p:cNvSpPr>
          <p:nvPr/>
        </p:nvSpPr>
        <p:spPr>
          <a:xfrm xmlns:a="http://schemas.openxmlformats.org/drawingml/2006/main">
            <a:off x="685800" y="2905125"/>
            <a:ext cx="4905375" cy="723900"/>
          </a:xfrm>
          <a:prstGeom xmlns:a="http://schemas.openxmlformats.org/drawingml/2006/main" prst="rect">
            <a:avLst/>
          </a:prstGeom>
        </p:spPr>
        <p:txBody>
          <a:bodyPr xmlns:a="http://schemas.openxmlformats.org/drawingml/2006/main" lIns="38100" tIns="38100" rIns="38100" bIns="38100" anchor="ctr">
            <a:normAutofit fontScale="77160"/>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02 A useful comparison considers not only which material produced the higher or lower result, but also the magnitude of the difference.</a:t>
            </a:r>
          </a:p>
        </p:txBody>
      </p:sp>
      <p:sp>
        <p:nvSpPr>
          <p:cNvPr id="5" name="Content-Placeholder-9-6">
            <a:extLst xmlns:a="http://schemas.openxmlformats.org/drawingml/2006/main">
              <a:ext uri="{FF2B5EF4-FFF2-40B4-BE49-F238E27FC236}">
                <a16:creationId xmlns:a16="http://schemas.microsoft.com/office/drawing/2014/main" id="{081A3EC2-FEC1-461B-AE89-5FDACA8FF123}"/>
              </a:ext>
            </a:extLst>
          </p:cNvPr>
          <p:cNvSpPr>
            <a:spLocks xmlns:a="http://schemas.openxmlformats.org/drawingml/2006/main" noGrp="1"/>
          </p:cNvSpPr>
          <p:nvPr/>
        </p:nvSpPr>
        <p:spPr>
          <a:xfrm xmlns:a="http://schemas.openxmlformats.org/drawingml/2006/main">
            <a:off x="685800" y="3714750"/>
            <a:ext cx="4905375" cy="723900"/>
          </a:xfrm>
          <a:prstGeom xmlns:a="http://schemas.openxmlformats.org/drawingml/2006/main" prst="rect">
            <a:avLst/>
          </a:prstGeom>
        </p:spPr>
        <p:txBody>
          <a:bodyPr xmlns:a="http://schemas.openxmlformats.org/drawingml/2006/main" lIns="38100" tIns="38100" rIns="38100" bIns="38100" anchor="ctr">
            <a:normAutofit fontScale="77160"/>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03 A small difference may be less meaningful than a large, consistent difference, so results should be interpreted in relation to the…</a:t>
            </a:r>
          </a:p>
        </p:txBody>
      </p:sp>
      <p:sp>
        <p:nvSpPr>
          <p:cNvPr id="6" name="Content-Placeholder-10-7">
            <a:extLst xmlns:a="http://schemas.openxmlformats.org/drawingml/2006/main">
              <a:ext uri="{FF2B5EF4-FFF2-40B4-BE49-F238E27FC236}">
                <a16:creationId xmlns:a16="http://schemas.microsoft.com/office/drawing/2014/main" id="{E3D79959-7930-4CBE-A084-FA4E4180CB2A}"/>
              </a:ext>
            </a:extLst>
          </p:cNvPr>
          <p:cNvSpPr>
            <a:spLocks xmlns:a="http://schemas.openxmlformats.org/drawingml/2006/main" noGrp="1"/>
          </p:cNvSpPr>
          <p:nvPr/>
        </p:nvSpPr>
        <p:spPr>
          <a:xfrm xmlns:a="http://schemas.openxmlformats.org/drawingml/2006/main">
            <a:off x="685800" y="4524375"/>
            <a:ext cx="4905375" cy="723900"/>
          </a:xfrm>
          <a:prstGeom xmlns:a="http://schemas.openxmlformats.org/drawingml/2006/main" prst="rect">
            <a:avLst/>
          </a:prstGeom>
        </p:spPr>
        <p:txBody>
          <a:bodyPr xmlns:a="http://schemas.openxmlformats.org/drawingml/2006/main" lIns="38100" tIns="38100" rIns="38100" bIns="38100" anchor="ctr">
            <a:normAutofit fontScale="81983"/>
          </a:bodyPr>
          <a:lstStyle xmlns:a="http://schemas.openxmlformats.org/drawingml/2006/main"/>
          <a:p xmlns:a="http://schemas.openxmlformats.org/drawingml/2006/main">
            <a:pPr algn="l">
              <a:lnSpc>
                <a:spcPct val="108000"/>
              </a:lnSpc>
              <a:buNone/>
              <a:defRPr sz="1600" b="1">
                <a:solidFill>
                  <a:srgbClr val="5A665F"/>
                </a:solidFill>
                <a:latin typeface="Aptos"/>
                <a:ea typeface="Aptos"/>
                <a:cs typeface="Aptos"/>
              </a:defRPr>
            </a:pPr>
            <a:r>
              <a:rPr sz="1600" b="1">
                <a:solidFill>
                  <a:srgbClr val="5A665F"/>
                </a:solidFill>
                <a:latin typeface="Aptos"/>
                <a:ea typeface="Aptos"/>
                <a:cs typeface="Aptos"/>
              </a:rPr>
              <a:t>EVIDENCE Make a comparative claim about two textile materials using supplied test evidence, then include one limitation and a cautious final judgement.</a:t>
            </a:r>
          </a:p>
        </p:txBody>
      </p:sp>
      <p:sp>
        <p:nvSpPr>
          <p:cNvPr id="8" name="">
            <a:extLst xmlns:a="http://schemas.openxmlformats.org/drawingml/2006/main">
              <a:ext uri="{FF2B5EF4-FFF2-40B4-BE49-F238E27FC236}">
                <a16:creationId xmlns:a16="http://schemas.microsoft.com/office/drawing/2014/main" id="{741B4463-5DC9-4BB4-9AEB-C31EFFE5BD83}"/>
              </a:ext>
            </a:extLst>
          </p:cNvPr>
          <p:cNvSpPr>
            <a:spLocks xmlns:a="http://schemas.openxmlformats.org/drawingml/2006/main" noGrp="1"/>
          </p:cNvSpPr>
          <p:nvPr/>
        </p:nvSpPr>
        <p:spPr>
          <a:xfrm xmlns:a="http://schemas.openxmlformats.org/drawingml/2006/main">
            <a:off x="590550" y="285750"/>
            <a:ext cx="247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77839"/>
          </a:bodyPr>
          <a:lstStyle xmlns:a="http://schemas.openxmlformats.org/drawingml/2006/main"/>
          <a:p xmlns:a="http://schemas.openxmlformats.org/drawingml/2006/main">
            <a:pPr algn="l">
              <a:lnSpc>
                <a:spcPct val="105000"/>
              </a:lnSpc>
              <a:buNone/>
              <a:defRPr sz="1300" b="1">
                <a:solidFill>
                  <a:srgbClr val="D8941C"/>
                </a:solidFill>
                <a:latin typeface="Aptos"/>
                <a:ea typeface="Aptos"/>
                <a:cs typeface="Aptos"/>
              </a:defRPr>
            </a:pPr>
            <a:r>
              <a:rPr sz="1300" b="1">
                <a:solidFill>
                  <a:srgbClr val="D8941C"/>
                </a:solidFill>
                <a:latin typeface="Aptos"/>
                <a:ea typeface="Aptos"/>
                <a:cs typeface="Aptos"/>
              </a:rPr>
              <a:t>THEORY 1 OF 3</a:t>
            </a:r>
          </a:p>
        </p:txBody>
      </p:sp>
      <p:sp>
        <p:nvSpPr>
          <p:cNvPr id="9" name="">
            <a:extLst xmlns:a="http://schemas.openxmlformats.org/drawingml/2006/main">
              <a:ext uri="{FF2B5EF4-FFF2-40B4-BE49-F238E27FC236}">
                <a16:creationId xmlns:a16="http://schemas.microsoft.com/office/drawing/2014/main" id="{01D285C7-4067-4681-8840-E1A99A134558}"/>
              </a:ext>
            </a:extLst>
          </p:cNvPr>
          <p:cNvSpPr>
            <a:spLocks xmlns:a="http://schemas.openxmlformats.org/drawingml/2006/main" noGrp="1"/>
          </p:cNvSpPr>
          <p:nvPr/>
        </p:nvSpPr>
        <p:spPr>
          <a:xfrm xmlns:a="http://schemas.openxmlformats.org/drawingml/2006/main">
            <a:off x="6048375" y="552450"/>
            <a:ext cx="5619750" cy="5524500"/>
          </a:xfrm>
          <a:prstGeom xmlns:a="http://schemas.openxmlformats.org/drawingml/2006/main" prst="roundRect">
            <a:avLst>
              <a:gd name="adj" fmla="val 2069"/>
            </a:avLst>
          </a:prstGeom>
          <a:noFill xmlns:a="http://schemas.openxmlformats.org/drawingml/2006/main"/>
          <a:ln xmlns:a="http://schemas.openxmlformats.org/drawingml/2006/main" w="9525">
            <a:solidFill>
              <a:srgbClr val="D8941C"/>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edf16ef505fa4244"/>
          <a:stretch xmlns:a="http://schemas.openxmlformats.org/drawingml/2006/main"/>
        </p:blipFill>
        <p:spPr>
          <a:xfrm xmlns:a="http://schemas.openxmlformats.org/drawingml/2006/main" flipH="0" flipV="0">
            <a:off x="6200775" y="1210270"/>
            <a:ext cx="5314950" cy="2989659"/>
          </a:xfrm>
          <a:prstGeom xmlns:a="http://schemas.openxmlformats.org/drawingml/2006/main" prst="roundRect">
            <a:avLst/>
          </a:prstGeom>
        </p:spPr>
      </p:pic>
      <p:sp>
        <p:nvSpPr>
          <p:cNvPr id="11" name="">
            <a:extLst xmlns:a="http://schemas.openxmlformats.org/drawingml/2006/main">
              <a:ext uri="{FF2B5EF4-FFF2-40B4-BE49-F238E27FC236}">
                <a16:creationId xmlns:a16="http://schemas.microsoft.com/office/drawing/2014/main" id="{A20C32CF-C64C-40B2-BBC3-02D81A16F72F}"/>
              </a:ext>
            </a:extLst>
          </p:cNvPr>
          <p:cNvSpPr>
            <a:spLocks xmlns:a="http://schemas.openxmlformats.org/drawingml/2006/main" noGrp="1"/>
          </p:cNvSpPr>
          <p:nvPr/>
        </p:nvSpPr>
        <p:spPr>
          <a:xfrm xmlns:a="http://schemas.openxmlformats.org/drawingml/2006/main">
            <a:off x="6267450" y="4810125"/>
            <a:ext cx="51625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1600" b="0">
                <a:solidFill>
                  <a:srgbClr val="5A665F"/>
                </a:solidFill>
                <a:latin typeface="Aptos"/>
                <a:ea typeface="Aptos"/>
                <a:cs typeface="Aptos"/>
              </a:defRPr>
            </a:pPr>
            <a:r>
              <a:rPr sz="1600" b="0">
                <a:solidFill>
                  <a:srgbClr val="5A665F"/>
                </a:solidFill>
                <a:latin typeface="Aptos"/>
                <a:ea typeface="Aptos"/>
                <a:cs typeface="Aptos"/>
              </a:rPr>
              <a:t>Create an evidence-analysis flow diagram showing repeated results moving through comparison of magnitude and consistency, consideration of limitations, connection…</a:t>
            </a:r>
          </a:p>
        </p:txBody>
      </p:sp>
    </p:spTree>
    <p:extLst>
      <p:ext uri="{BB962C8B-B14F-4D97-AF65-F5344CB8AC3E}">
        <p14:creationId xmlns:p14="http://schemas.microsoft.com/office/powerpoint/2010/main" val="803449303"/>
      </p:ext>
    </p:extLst>
  </p:cSld>
</p:sld>
</file>

<file path=ppt/slides/slide4.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13" name="Slide-Number-Placeholder-3-2">
            <a:extLst xmlns:a="http://schemas.openxmlformats.org/drawingml/2006/main">
              <a:ext uri="{FF2B5EF4-FFF2-40B4-BE49-F238E27FC236}">
                <a16:creationId xmlns:a16="http://schemas.microsoft.com/office/drawing/2014/main" id="{6B078C44-14AA-48A4-A5F1-EC8BBB169E45}"/>
              </a:ext>
            </a:extLst>
          </p:cNvPr>
          <p:cNvSpPr>
            <a:spLocks xmlns:a="http://schemas.openxmlformats.org/drawingml/2006/main" noGrp="1"/>
          </p:cNvSpPr>
          <p:nvPr/>
        </p:nvSpPr>
        <p:spPr>
          <a:xfrm xmlns:a="http://schemas.openxmlformats.org/drawingml/2006/main">
            <a:off x="11334750" y="6496050"/>
            <a:ext cx="400050" cy="190500"/>
          </a:xfrm>
          <a:prstGeom xmlns:a="http://schemas.openxmlformats.org/drawingml/2006/main" prst="rect">
            <a:avLst/>
          </a:prstGeom>
        </p:spPr>
        <p:txBody>
          <a:bodyPr xmlns:a="http://schemas.openxmlformats.org/drawingml/2006/main" lIns="38100" tIns="38100" rIns="38100" bIns="38100" anchor="ctr">
            <a:normAutofit fontScale="64935"/>
          </a:bodyPr>
          <a:lstStyle xmlns:a="http://schemas.openxmlformats.org/drawingml/2006/main"/>
          <a:p xmlns:a="http://schemas.openxmlformats.org/drawingml/2006/main">
            <a:pPr algn="r">
              <a:lnSpc>
                <a:spcPct val="105000"/>
              </a:lnSpc>
              <a:buNone/>
              <a:defRPr sz="1100" b="1">
                <a:solidFill>
                  <a:srgbClr val="5A665F"/>
                </a:solidFill>
                <a:latin typeface="Aptos"/>
                <a:ea typeface="Aptos"/>
                <a:cs typeface="Aptos"/>
              </a:defRPr>
            </a:pPr>
            <a:r>
              <a:rPr sz="1100" b="1">
                <a:solidFill>
                  <a:srgbClr val="5A665F"/>
                </a:solidFill>
                <a:latin typeface="Aptos"/>
                <a:ea typeface="Aptos"/>
                <a:cs typeface="Aptos"/>
              </a:rPr>
              <a:t>4</a:t>
            </a:r>
          </a:p>
        </p:txBody>
      </p:sp>
      <p:sp>
        <p:nvSpPr>
          <p:cNvPr id="2" name="Title-10-3">
            <a:extLst xmlns:a="http://schemas.openxmlformats.org/drawingml/2006/main">
              <a:ext uri="{FF2B5EF4-FFF2-40B4-BE49-F238E27FC236}">
                <a16:creationId xmlns:a16="http://schemas.microsoft.com/office/drawing/2014/main" id="{DDA065D4-4C79-4E5B-96CF-0A428EF120DA}"/>
              </a:ext>
            </a:extLst>
          </p:cNvPr>
          <p:cNvSpPr>
            <a:spLocks xmlns:a="http://schemas.openxmlformats.org/drawingml/2006/main" noGrp="1"/>
          </p:cNvSpPr>
          <p:nvPr/>
        </p:nvSpPr>
        <p:spPr>
          <a:xfrm xmlns:a="http://schemas.openxmlformats.org/drawingml/2006/main">
            <a:off x="571500" y="533400"/>
            <a:ext cx="5191125" cy="15049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98000"/>
              </a:lnSpc>
              <a:buNone/>
              <a:defRPr sz="3500" b="1">
                <a:solidFill>
                  <a:srgbClr val="173126"/>
                </a:solidFill>
                <a:latin typeface="Aptos"/>
                <a:ea typeface="Aptos"/>
                <a:cs typeface="Aptos"/>
              </a:defRPr>
            </a:pPr>
            <a:r>
              <a:rPr sz="3500" b="1">
                <a:solidFill>
                  <a:srgbClr val="173126"/>
                </a:solidFill>
                <a:latin typeface="Aptos"/>
                <a:ea typeface="Aptos"/>
                <a:cs typeface="Aptos"/>
              </a:rPr>
              <a:t>Fabric selection and design</a:t>
            </a:r>
          </a:p>
        </p:txBody>
      </p:sp>
      <p:cxnSp>
        <p:nvCxnSpPr>
          <p:cNvPr id="37" name="Google-Shape-2259-p159-4"/>
          <p:cNvCxnSpPr/>
          <p:nvPr/>
        </p:nvCxnSpPr>
        <p:spPr>
          <a:xfrm xmlns:a="http://schemas.openxmlformats.org/drawingml/2006/main">
            <a:off x="0" y="0"/>
            <a:ext cx="9525" cy="9525"/>
          </a:xfrm>
          <a:prstGeom xmlns:a="http://schemas.openxmlformats.org/drawingml/2006/main" prst="straightConnector1">
            <a:avLst/>
          </a:prstGeom>
          <a:ln xmlns:a="http://schemas.openxmlformats.org/drawingml/2006/main" w="0">
            <a:noFill/>
            <a:prstDash val="solid"/>
          </a:ln>
        </p:spPr>
      </p:cxnSp>
      <p:sp>
        <p:nvSpPr>
          <p:cNvPr id="4" name="Google-Shape-2260-p159-5">
            <a:extLst xmlns:a="http://schemas.openxmlformats.org/drawingml/2006/main">
              <a:ext uri="{FF2B5EF4-FFF2-40B4-BE49-F238E27FC236}">
                <a16:creationId xmlns:a16="http://schemas.microsoft.com/office/drawing/2014/main" id="{CB8329C4-AC4D-48CF-B627-84A37532678A}"/>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5" name="Google-Shape-2261-p159-6">
            <a:extLst xmlns:a="http://schemas.openxmlformats.org/drawingml/2006/main">
              <a:ext uri="{FF2B5EF4-FFF2-40B4-BE49-F238E27FC236}">
                <a16:creationId xmlns:a16="http://schemas.microsoft.com/office/drawing/2014/main" id="{2BC3E00B-0457-4BA3-B55D-A589DCDA33E9}"/>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6" name="Google-Shape-2262-p159-7">
            <a:extLst xmlns:a="http://schemas.openxmlformats.org/drawingml/2006/main">
              <a:ext uri="{FF2B5EF4-FFF2-40B4-BE49-F238E27FC236}">
                <a16:creationId xmlns:a16="http://schemas.microsoft.com/office/drawing/2014/main" id="{6E9ACF0A-CE3E-42C3-B7C9-B61142D78CBB}"/>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7" name="Content-Placeholder-15-8">
            <a:extLst xmlns:a="http://schemas.openxmlformats.org/drawingml/2006/main">
              <a:ext uri="{FF2B5EF4-FFF2-40B4-BE49-F238E27FC236}">
                <a16:creationId xmlns:a16="http://schemas.microsoft.com/office/drawing/2014/main" id="{6E71B14A-A610-486F-B74D-69334CE0B461}"/>
              </a:ext>
            </a:extLst>
          </p:cNvPr>
          <p:cNvSpPr>
            <a:spLocks xmlns:a="http://schemas.openxmlformats.org/drawingml/2006/main" noGrp="1"/>
          </p:cNvSpPr>
          <p:nvPr/>
        </p:nvSpPr>
        <p:spPr>
          <a:xfrm xmlns:a="http://schemas.openxmlformats.org/drawingml/2006/main">
            <a:off x="647700" y="2209800"/>
            <a:ext cx="495300" cy="55245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5000"/>
              </a:lnSpc>
              <a:buNone/>
              <a:defRPr sz="2400" b="1">
                <a:solidFill>
                  <a:srgbClr val="D8941C"/>
                </a:solidFill>
                <a:latin typeface="Aptos"/>
                <a:ea typeface="Aptos"/>
                <a:cs typeface="Aptos"/>
              </a:defRPr>
            </a:pPr>
            <a:r>
              <a:rPr sz="2400" b="1">
                <a:solidFill>
                  <a:srgbClr val="D8941C"/>
                </a:solidFill>
                <a:latin typeface="Aptos"/>
                <a:ea typeface="Aptos"/>
                <a:cs typeface="Aptos"/>
              </a:rPr>
              <a:t>01</a:t>
            </a:r>
          </a:p>
        </p:txBody>
      </p:sp>
      <p:sp>
        <p:nvSpPr>
          <p:cNvPr id="8" name="Content-Placeholder-15-9">
            <a:extLst xmlns:a="http://schemas.openxmlformats.org/drawingml/2006/main">
              <a:ext uri="{FF2B5EF4-FFF2-40B4-BE49-F238E27FC236}">
                <a16:creationId xmlns:a16="http://schemas.microsoft.com/office/drawing/2014/main" id="{44E73360-ED41-4AE3-9474-1BE306AE7858}"/>
              </a:ext>
            </a:extLst>
          </p:cNvPr>
          <p:cNvSpPr>
            <a:spLocks xmlns:a="http://schemas.openxmlformats.org/drawingml/2006/main" noGrp="1"/>
          </p:cNvSpPr>
          <p:nvPr/>
        </p:nvSpPr>
        <p:spPr>
          <a:xfrm xmlns:a="http://schemas.openxmlformats.org/drawingml/2006/main">
            <a:off x="647700" y="3209925"/>
            <a:ext cx="495300" cy="55245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5000"/>
              </a:lnSpc>
              <a:buNone/>
              <a:defRPr sz="2400" b="1">
                <a:solidFill>
                  <a:srgbClr val="D8941C"/>
                </a:solidFill>
                <a:latin typeface="Aptos"/>
                <a:ea typeface="Aptos"/>
                <a:cs typeface="Aptos"/>
              </a:defRPr>
            </a:pPr>
            <a:r>
              <a:rPr sz="2400" b="1">
                <a:solidFill>
                  <a:srgbClr val="D8941C"/>
                </a:solidFill>
                <a:latin typeface="Aptos"/>
                <a:ea typeface="Aptos"/>
                <a:cs typeface="Aptos"/>
              </a:rPr>
              <a:t>02</a:t>
            </a:r>
          </a:p>
        </p:txBody>
      </p:sp>
      <p:sp>
        <p:nvSpPr>
          <p:cNvPr id="9" name="Content-Placeholder-15-10">
            <a:extLst xmlns:a="http://schemas.openxmlformats.org/drawingml/2006/main">
              <a:ext uri="{FF2B5EF4-FFF2-40B4-BE49-F238E27FC236}">
                <a16:creationId xmlns:a16="http://schemas.microsoft.com/office/drawing/2014/main" id="{6E21EB1A-F8DD-4B0D-A6A7-032E794FE7DF}"/>
              </a:ext>
            </a:extLst>
          </p:cNvPr>
          <p:cNvSpPr>
            <a:spLocks xmlns:a="http://schemas.openxmlformats.org/drawingml/2006/main" noGrp="1"/>
          </p:cNvSpPr>
          <p:nvPr/>
        </p:nvSpPr>
        <p:spPr>
          <a:xfrm xmlns:a="http://schemas.openxmlformats.org/drawingml/2006/main">
            <a:off x="647700" y="4210050"/>
            <a:ext cx="495300" cy="55245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5000"/>
              </a:lnSpc>
              <a:buNone/>
              <a:defRPr sz="2400" b="1">
                <a:solidFill>
                  <a:srgbClr val="D8941C"/>
                </a:solidFill>
                <a:latin typeface="Aptos"/>
                <a:ea typeface="Aptos"/>
                <a:cs typeface="Aptos"/>
              </a:defRPr>
            </a:pPr>
            <a:r>
              <a:rPr sz="2400" b="1">
                <a:solidFill>
                  <a:srgbClr val="D8941C"/>
                </a:solidFill>
                <a:latin typeface="Aptos"/>
                <a:ea typeface="Aptos"/>
                <a:cs typeface="Aptos"/>
              </a:rPr>
              <a:t>03</a:t>
            </a:r>
          </a:p>
        </p:txBody>
      </p:sp>
      <p:sp>
        <p:nvSpPr>
          <p:cNvPr id="10" name="Text-Placeholder-16-11">
            <a:extLst xmlns:a="http://schemas.openxmlformats.org/drawingml/2006/main">
              <a:ext uri="{FF2B5EF4-FFF2-40B4-BE49-F238E27FC236}">
                <a16:creationId xmlns:a16="http://schemas.microsoft.com/office/drawing/2014/main" id="{64F29560-52C2-4511-8FC1-AAABF9570180}"/>
              </a:ext>
            </a:extLst>
          </p:cNvPr>
          <p:cNvSpPr>
            <a:spLocks xmlns:a="http://schemas.openxmlformats.org/drawingml/2006/main" noGrp="1"/>
          </p:cNvSpPr>
          <p:nvPr/>
        </p:nvSpPr>
        <p:spPr>
          <a:xfrm xmlns:a="http://schemas.openxmlformats.org/drawingml/2006/main">
            <a:off x="1200150" y="2114550"/>
            <a:ext cx="4429125" cy="85725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01 Fabric selection begins by translating user and end-use needs into clear criteria .</a:t>
            </a:r>
          </a:p>
        </p:txBody>
      </p:sp>
      <p:sp>
        <p:nvSpPr>
          <p:cNvPr id="11" name="Text-Placeholder-16-12">
            <a:extLst xmlns:a="http://schemas.openxmlformats.org/drawingml/2006/main">
              <a:ext uri="{FF2B5EF4-FFF2-40B4-BE49-F238E27FC236}">
                <a16:creationId xmlns:a16="http://schemas.microsoft.com/office/drawing/2014/main" id="{3CAB6260-4966-4846-A976-124725E23EC6}"/>
              </a:ext>
            </a:extLst>
          </p:cNvPr>
          <p:cNvSpPr>
            <a:spLocks xmlns:a="http://schemas.openxmlformats.org/drawingml/2006/main" noGrp="1"/>
          </p:cNvSpPr>
          <p:nvPr/>
        </p:nvSpPr>
        <p:spPr>
          <a:xfrm xmlns:a="http://schemas.openxmlformats.org/drawingml/2006/main">
            <a:off x="1200150" y="3114675"/>
            <a:ext cx="4429125" cy="857250"/>
          </a:xfrm>
          <a:prstGeom xmlns:a="http://schemas.openxmlformats.org/drawingml/2006/main" prst="rect">
            <a:avLst/>
          </a:prstGeom>
        </p:spPr>
        <p:txBody>
          <a:bodyPr xmlns:a="http://schemas.openxmlformats.org/drawingml/2006/main" lIns="38100" tIns="38100" rIns="38100" bIns="38100" anchor="ctr">
            <a:normAutofit fontScale="93046"/>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02 Some criteria will matter more than others, so they can be weighted or prioritised according to the demands of the design.</a:t>
            </a:r>
          </a:p>
        </p:txBody>
      </p:sp>
      <p:sp>
        <p:nvSpPr>
          <p:cNvPr id="12" name="Text-Placeholder-16-13">
            <a:extLst xmlns:a="http://schemas.openxmlformats.org/drawingml/2006/main">
              <a:ext uri="{FF2B5EF4-FFF2-40B4-BE49-F238E27FC236}">
                <a16:creationId xmlns:a16="http://schemas.microsoft.com/office/drawing/2014/main" id="{25A797A7-58D5-4050-BDF5-3121335E898E}"/>
              </a:ext>
            </a:extLst>
          </p:cNvPr>
          <p:cNvSpPr>
            <a:spLocks xmlns:a="http://schemas.openxmlformats.org/drawingml/2006/main" noGrp="1"/>
          </p:cNvSpPr>
          <p:nvPr/>
        </p:nvSpPr>
        <p:spPr>
          <a:xfrm xmlns:a="http://schemas.openxmlformats.org/drawingml/2006/main">
            <a:off x="1200150" y="4114800"/>
            <a:ext cx="4429125" cy="857250"/>
          </a:xfrm>
          <a:prstGeom xmlns:a="http://schemas.openxmlformats.org/drawingml/2006/main" prst="rect">
            <a:avLst/>
          </a:prstGeom>
        </p:spPr>
        <p:txBody>
          <a:bodyPr xmlns:a="http://schemas.openxmlformats.org/drawingml/2006/main" lIns="38100" tIns="38100" rIns="38100" bIns="38100" anchor="ctr">
            <a:normAutofit fontScale="91811"/>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03 Performance requirements may include characteristics such as durability, comfort, stability or care, while aesthetic requirements may…</a:t>
            </a:r>
          </a:p>
        </p:txBody>
      </p:sp>
      <p:sp>
        <p:nvSpPr>
          <p:cNvPr id="19" name="">
            <a:extLst xmlns:a="http://schemas.openxmlformats.org/drawingml/2006/main">
              <a:ext uri="{FF2B5EF4-FFF2-40B4-BE49-F238E27FC236}">
                <a16:creationId xmlns:a16="http://schemas.microsoft.com/office/drawing/2014/main" id="{50F14AF4-30E2-4AAF-9DB0-9EE8998D9CD0}"/>
              </a:ext>
            </a:extLst>
          </p:cNvPr>
          <p:cNvSpPr>
            <a:spLocks xmlns:a="http://schemas.openxmlformats.org/drawingml/2006/main" noGrp="1"/>
          </p:cNvSpPr>
          <p:nvPr/>
        </p:nvSpPr>
        <p:spPr>
          <a:xfrm xmlns:a="http://schemas.openxmlformats.org/drawingml/2006/main">
            <a:off x="590550" y="285750"/>
            <a:ext cx="247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77839"/>
          </a:bodyPr>
          <a:lstStyle xmlns:a="http://schemas.openxmlformats.org/drawingml/2006/main"/>
          <a:p xmlns:a="http://schemas.openxmlformats.org/drawingml/2006/main">
            <a:pPr algn="l">
              <a:lnSpc>
                <a:spcPct val="105000"/>
              </a:lnSpc>
              <a:buNone/>
              <a:defRPr sz="1300" b="1">
                <a:solidFill>
                  <a:srgbClr val="D8941C"/>
                </a:solidFill>
                <a:latin typeface="Aptos"/>
                <a:ea typeface="Aptos"/>
                <a:cs typeface="Aptos"/>
              </a:defRPr>
            </a:pPr>
            <a:r>
              <a:rPr sz="1300" b="1">
                <a:solidFill>
                  <a:srgbClr val="D8941C"/>
                </a:solidFill>
                <a:latin typeface="Aptos"/>
                <a:ea typeface="Aptos"/>
                <a:cs typeface="Aptos"/>
              </a:rPr>
              <a:t>THEORY 2 OF 3</a:t>
            </a:r>
          </a:p>
        </p:txBody>
      </p:sp>
      <p:sp>
        <p:nvSpPr>
          <p:cNvPr id="20" name="">
            <a:extLst xmlns:a="http://schemas.openxmlformats.org/drawingml/2006/main">
              <a:ext uri="{FF2B5EF4-FFF2-40B4-BE49-F238E27FC236}">
                <a16:creationId xmlns:a16="http://schemas.microsoft.com/office/drawing/2014/main" id="{272D4C34-16B4-4863-9EB2-19E75DBAD3D2}"/>
              </a:ext>
            </a:extLst>
          </p:cNvPr>
          <p:cNvSpPr>
            <a:spLocks xmlns:a="http://schemas.openxmlformats.org/drawingml/2006/main" noGrp="1"/>
          </p:cNvSpPr>
          <p:nvPr/>
        </p:nvSpPr>
        <p:spPr>
          <a:xfrm xmlns:a="http://schemas.openxmlformats.org/drawingml/2006/main">
            <a:off x="6048375" y="552450"/>
            <a:ext cx="5619750" cy="5524500"/>
          </a:xfrm>
          <a:prstGeom xmlns:a="http://schemas.openxmlformats.org/drawingml/2006/main" prst="roundRect">
            <a:avLst>
              <a:gd name="adj" fmla="val 2069"/>
            </a:avLst>
          </a:prstGeom>
          <a:noFill xmlns:a="http://schemas.openxmlformats.org/drawingml/2006/main"/>
          <a:ln xmlns:a="http://schemas.openxmlformats.org/drawingml/2006/main" w="9525">
            <a:solidFill>
              <a:srgbClr val="D8941C"/>
            </a:solidFill>
            <a:prstDash val="solid"/>
          </a:ln>
        </p:spPr>
      </p:sp>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8af2123526c84691"/>
          <a:stretch xmlns:a="http://schemas.openxmlformats.org/drawingml/2006/main"/>
        </p:blipFill>
        <p:spPr>
          <a:xfrm xmlns:a="http://schemas.openxmlformats.org/drawingml/2006/main" flipH="0" flipV="0">
            <a:off x="6200775" y="1210270"/>
            <a:ext cx="5314950" cy="2989659"/>
          </a:xfrm>
          <a:prstGeom xmlns:a="http://schemas.openxmlformats.org/drawingml/2006/main" prst="roundRect">
            <a:avLst/>
          </a:prstGeom>
        </p:spPr>
      </p:pic>
      <p:sp>
        <p:nvSpPr>
          <p:cNvPr id="22" name="">
            <a:extLst xmlns:a="http://schemas.openxmlformats.org/drawingml/2006/main">
              <a:ext uri="{FF2B5EF4-FFF2-40B4-BE49-F238E27FC236}">
                <a16:creationId xmlns:a16="http://schemas.microsoft.com/office/drawing/2014/main" id="{7EDDDA1C-B9EE-4BC9-B3C5-1D15F9C65AD3}"/>
              </a:ext>
            </a:extLst>
          </p:cNvPr>
          <p:cNvSpPr>
            <a:spLocks xmlns:a="http://schemas.openxmlformats.org/drawingml/2006/main" noGrp="1"/>
          </p:cNvSpPr>
          <p:nvPr/>
        </p:nvSpPr>
        <p:spPr>
          <a:xfrm xmlns:a="http://schemas.openxmlformats.org/drawingml/2006/main">
            <a:off x="6267450" y="4810125"/>
            <a:ext cx="51625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1600" b="0">
                <a:solidFill>
                  <a:srgbClr val="5A665F"/>
                </a:solidFill>
                <a:latin typeface="Aptos"/>
                <a:ea typeface="Aptos"/>
                <a:cs typeface="Aptos"/>
              </a:defRPr>
            </a:pPr>
            <a:r>
              <a:rPr sz="1600" b="0">
                <a:solidFill>
                  <a:srgbClr val="5A665F"/>
                </a:solidFill>
                <a:latin typeface="Aptos"/>
                <a:ea typeface="Aptos"/>
                <a:cs typeface="Aptos"/>
              </a:rPr>
              <a:t>EVIDENCE Explain a material-selection matrix comparing several fabric options and make an evidence-based recommendation for a stated user and end use.</a:t>
            </a:r>
          </a:p>
        </p:txBody>
      </p:sp>
    </p:spTree>
    <p:extLst>
      <p:ext uri="{BB962C8B-B14F-4D97-AF65-F5344CB8AC3E}">
        <p14:creationId xmlns:p14="http://schemas.microsoft.com/office/powerpoint/2010/main" val="791432774"/>
      </p:ext>
    </p:extLst>
  </p:cSld>
</p:sld>
</file>

<file path=ppt/slides/slide5.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7" name="Slide-Number-Placeholder-1-2">
            <a:extLst xmlns:a="http://schemas.openxmlformats.org/drawingml/2006/main">
              <a:ext uri="{FF2B5EF4-FFF2-40B4-BE49-F238E27FC236}">
                <a16:creationId xmlns:a16="http://schemas.microsoft.com/office/drawing/2014/main" id="{04438865-7489-48C2-8699-B582E4817FF7}"/>
              </a:ext>
            </a:extLst>
          </p:cNvPr>
          <p:cNvSpPr>
            <a:spLocks xmlns:a="http://schemas.openxmlformats.org/drawingml/2006/main" noGrp="1"/>
          </p:cNvSpPr>
          <p:nvPr/>
        </p:nvSpPr>
        <p:spPr>
          <a:xfrm xmlns:a="http://schemas.openxmlformats.org/drawingml/2006/main">
            <a:off x="11334750" y="6496050"/>
            <a:ext cx="400050" cy="190500"/>
          </a:xfrm>
          <a:prstGeom xmlns:a="http://schemas.openxmlformats.org/drawingml/2006/main" prst="rect">
            <a:avLst/>
          </a:prstGeom>
        </p:spPr>
        <p:txBody>
          <a:bodyPr xmlns:a="http://schemas.openxmlformats.org/drawingml/2006/main" lIns="38100" tIns="38100" rIns="38100" bIns="38100" anchor="ctr">
            <a:normAutofit fontScale="64935"/>
          </a:bodyPr>
          <a:lstStyle xmlns:a="http://schemas.openxmlformats.org/drawingml/2006/main"/>
          <a:p xmlns:a="http://schemas.openxmlformats.org/drawingml/2006/main">
            <a:pPr algn="r">
              <a:lnSpc>
                <a:spcPct val="105000"/>
              </a:lnSpc>
              <a:buNone/>
              <a:defRPr sz="1100" b="1">
                <a:solidFill>
                  <a:srgbClr val="5A665F"/>
                </a:solidFill>
                <a:latin typeface="Aptos"/>
                <a:ea typeface="Aptos"/>
                <a:cs typeface="Aptos"/>
              </a:defRPr>
            </a:pPr>
            <a:r>
              <a:rPr sz="1100" b="1">
                <a:solidFill>
                  <a:srgbClr val="5A665F"/>
                </a:solidFill>
                <a:latin typeface="Aptos"/>
                <a:ea typeface="Aptos"/>
                <a:cs typeface="Aptos"/>
              </a:rPr>
              <a:t>5</a:t>
            </a:r>
          </a:p>
        </p:txBody>
      </p:sp>
      <p:sp>
        <p:nvSpPr>
          <p:cNvPr id="2" name="Title-2-3">
            <a:extLst xmlns:a="http://schemas.openxmlformats.org/drawingml/2006/main">
              <a:ext uri="{FF2B5EF4-FFF2-40B4-BE49-F238E27FC236}">
                <a16:creationId xmlns:a16="http://schemas.microsoft.com/office/drawing/2014/main" id="{65E6E568-2A5A-4AC2-A37E-A11C9C083959}"/>
              </a:ext>
            </a:extLst>
          </p:cNvPr>
          <p:cNvSpPr>
            <a:spLocks xmlns:a="http://schemas.openxmlformats.org/drawingml/2006/main" noGrp="1"/>
          </p:cNvSpPr>
          <p:nvPr/>
        </p:nvSpPr>
        <p:spPr>
          <a:xfrm xmlns:a="http://schemas.openxmlformats.org/drawingml/2006/main">
            <a:off x="571500" y="533400"/>
            <a:ext cx="5191125" cy="15049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98000"/>
              </a:lnSpc>
              <a:buNone/>
              <a:defRPr sz="3500" b="1">
                <a:solidFill>
                  <a:srgbClr val="173126"/>
                </a:solidFill>
                <a:latin typeface="Aptos"/>
                <a:ea typeface="Aptos"/>
                <a:cs typeface="Aptos"/>
              </a:defRPr>
            </a:pPr>
            <a:r>
              <a:rPr sz="3500" b="1">
                <a:solidFill>
                  <a:srgbClr val="173126"/>
                </a:solidFill>
                <a:latin typeface="Aptos"/>
                <a:ea typeface="Aptos"/>
                <a:cs typeface="Aptos"/>
              </a:rPr>
              <a:t>Project evidence and evaluation</a:t>
            </a:r>
          </a:p>
        </p:txBody>
      </p:sp>
      <p:sp>
        <p:nvSpPr>
          <p:cNvPr id="3" name="Content-Placeholder-9-4">
            <a:extLst xmlns:a="http://schemas.openxmlformats.org/drawingml/2006/main">
              <a:ext uri="{FF2B5EF4-FFF2-40B4-BE49-F238E27FC236}">
                <a16:creationId xmlns:a16="http://schemas.microsoft.com/office/drawing/2014/main" id="{1F3651F5-E7CE-4B5A-BABC-64F9FB61699A}"/>
              </a:ext>
            </a:extLst>
          </p:cNvPr>
          <p:cNvSpPr>
            <a:spLocks xmlns:a="http://schemas.openxmlformats.org/drawingml/2006/main" noGrp="1"/>
          </p:cNvSpPr>
          <p:nvPr/>
        </p:nvSpPr>
        <p:spPr>
          <a:xfrm xmlns:a="http://schemas.openxmlformats.org/drawingml/2006/main">
            <a:off x="685800" y="2095500"/>
            <a:ext cx="4905375" cy="723900"/>
          </a:xfrm>
          <a:prstGeom xmlns:a="http://schemas.openxmlformats.org/drawingml/2006/main" prst="rect">
            <a:avLst/>
          </a:prstGeom>
        </p:spPr>
        <p:txBody>
          <a:bodyPr xmlns:a="http://schemas.openxmlformats.org/drawingml/2006/main" lIns="38100" tIns="38100" rIns="38100" bIns="38100" anchor="ctr">
            <a:normAutofit fontScale="77160"/>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01 Strong project evidence forms a traceable chain from the original brief and research through experimentation, selection, production…</a:t>
            </a:r>
          </a:p>
        </p:txBody>
      </p:sp>
      <p:sp>
        <p:nvSpPr>
          <p:cNvPr id="4" name="Content-Placeholder-10-5">
            <a:extLst xmlns:a="http://schemas.openxmlformats.org/drawingml/2006/main">
              <a:ext uri="{FF2B5EF4-FFF2-40B4-BE49-F238E27FC236}">
                <a16:creationId xmlns:a16="http://schemas.microsoft.com/office/drawing/2014/main" id="{0B69F6AD-12EB-4C3E-91C6-0362468EE485}"/>
              </a:ext>
            </a:extLst>
          </p:cNvPr>
          <p:cNvSpPr>
            <a:spLocks xmlns:a="http://schemas.openxmlformats.org/drawingml/2006/main" noGrp="1"/>
          </p:cNvSpPr>
          <p:nvPr/>
        </p:nvSpPr>
        <p:spPr>
          <a:xfrm xmlns:a="http://schemas.openxmlformats.org/drawingml/2006/main">
            <a:off x="685800" y="2905125"/>
            <a:ext cx="4905375" cy="72390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02 Each stage should show how information influenced later decisions.</a:t>
            </a:r>
          </a:p>
        </p:txBody>
      </p:sp>
      <p:sp>
        <p:nvSpPr>
          <p:cNvPr id="5" name="Content-Placeholder-9-6">
            <a:extLst xmlns:a="http://schemas.openxmlformats.org/drawingml/2006/main">
              <a:ext uri="{FF2B5EF4-FFF2-40B4-BE49-F238E27FC236}">
                <a16:creationId xmlns:a16="http://schemas.microsoft.com/office/drawing/2014/main" id="{894D7850-A6B2-4408-8BD6-376BFCA8BD5F}"/>
              </a:ext>
            </a:extLst>
          </p:cNvPr>
          <p:cNvSpPr>
            <a:spLocks xmlns:a="http://schemas.openxmlformats.org/drawingml/2006/main" noGrp="1"/>
          </p:cNvSpPr>
          <p:nvPr/>
        </p:nvSpPr>
        <p:spPr>
          <a:xfrm xmlns:a="http://schemas.openxmlformats.org/drawingml/2006/main">
            <a:off x="685800" y="3714750"/>
            <a:ext cx="4905375" cy="723900"/>
          </a:xfrm>
          <a:prstGeom xmlns:a="http://schemas.openxmlformats.org/drawingml/2006/main" prst="rect">
            <a:avLst/>
          </a:prstGeom>
        </p:spPr>
        <p:txBody>
          <a:bodyPr xmlns:a="http://schemas.openxmlformats.org/drawingml/2006/main" lIns="38100" tIns="38100" rIns="38100" bIns="38100" anchor="ctr">
            <a:normAutofit fontScale="77160"/>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03 The aim is not to collect everything, but to keep evidence that helps explain what was considered, what changed and why particular…</a:t>
            </a:r>
          </a:p>
        </p:txBody>
      </p:sp>
      <p:sp>
        <p:nvSpPr>
          <p:cNvPr id="6" name="Content-Placeholder-10-7">
            <a:extLst xmlns:a="http://schemas.openxmlformats.org/drawingml/2006/main">
              <a:ext uri="{FF2B5EF4-FFF2-40B4-BE49-F238E27FC236}">
                <a16:creationId xmlns:a16="http://schemas.microsoft.com/office/drawing/2014/main" id="{311B82AE-5CBD-4093-AE6F-D5E6E5840FF5}"/>
              </a:ext>
            </a:extLst>
          </p:cNvPr>
          <p:cNvSpPr>
            <a:spLocks xmlns:a="http://schemas.openxmlformats.org/drawingml/2006/main" noGrp="1"/>
          </p:cNvSpPr>
          <p:nvPr/>
        </p:nvSpPr>
        <p:spPr>
          <a:xfrm xmlns:a="http://schemas.openxmlformats.org/drawingml/2006/main">
            <a:off x="685800" y="4524375"/>
            <a:ext cx="4905375" cy="723900"/>
          </a:xfrm>
          <a:prstGeom xmlns:a="http://schemas.openxmlformats.org/drawingml/2006/main" prst="rect">
            <a:avLst/>
          </a:prstGeom>
        </p:spPr>
        <p:txBody>
          <a:bodyPr xmlns:a="http://schemas.openxmlformats.org/drawingml/2006/main" lIns="38100" tIns="38100" rIns="38100" bIns="38100" anchor="ctr">
            <a:normAutofit fontScale="81983"/>
          </a:bodyPr>
          <a:lstStyle xmlns:a="http://schemas.openxmlformats.org/drawingml/2006/main"/>
          <a:p xmlns:a="http://schemas.openxmlformats.org/drawingml/2006/main">
            <a:pPr algn="l">
              <a:lnSpc>
                <a:spcPct val="108000"/>
              </a:lnSpc>
              <a:buNone/>
              <a:defRPr sz="1600" b="1">
                <a:solidFill>
                  <a:srgbClr val="5A665F"/>
                </a:solidFill>
                <a:latin typeface="Aptos"/>
                <a:ea typeface="Aptos"/>
                <a:cs typeface="Aptos"/>
              </a:defRPr>
            </a:pPr>
            <a:r>
              <a:rPr sz="1600" b="1">
                <a:solidFill>
                  <a:srgbClr val="5A665F"/>
                </a:solidFill>
                <a:latin typeface="Aptos"/>
                <a:ea typeface="Aptos"/>
                <a:cs typeface="Aptos"/>
              </a:rPr>
              <a:t>EVIDENCE Create an evidence map for a textile project showing what evidence should be kept and how each item would support the final judgement.</a:t>
            </a:r>
          </a:p>
        </p:txBody>
      </p:sp>
      <p:sp>
        <p:nvSpPr>
          <p:cNvPr id="8" name="">
            <a:extLst xmlns:a="http://schemas.openxmlformats.org/drawingml/2006/main">
              <a:ext uri="{FF2B5EF4-FFF2-40B4-BE49-F238E27FC236}">
                <a16:creationId xmlns:a16="http://schemas.microsoft.com/office/drawing/2014/main" id="{E22B54A6-2AD6-4294-B051-E413DFD7E765}"/>
              </a:ext>
            </a:extLst>
          </p:cNvPr>
          <p:cNvSpPr>
            <a:spLocks xmlns:a="http://schemas.openxmlformats.org/drawingml/2006/main" noGrp="1"/>
          </p:cNvSpPr>
          <p:nvPr/>
        </p:nvSpPr>
        <p:spPr>
          <a:xfrm xmlns:a="http://schemas.openxmlformats.org/drawingml/2006/main">
            <a:off x="590550" y="285750"/>
            <a:ext cx="247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77839"/>
          </a:bodyPr>
          <a:lstStyle xmlns:a="http://schemas.openxmlformats.org/drawingml/2006/main"/>
          <a:p xmlns:a="http://schemas.openxmlformats.org/drawingml/2006/main">
            <a:pPr algn="l">
              <a:lnSpc>
                <a:spcPct val="105000"/>
              </a:lnSpc>
              <a:buNone/>
              <a:defRPr sz="1300" b="1">
                <a:solidFill>
                  <a:srgbClr val="D8941C"/>
                </a:solidFill>
                <a:latin typeface="Aptos"/>
                <a:ea typeface="Aptos"/>
                <a:cs typeface="Aptos"/>
              </a:defRPr>
            </a:pPr>
            <a:r>
              <a:rPr sz="1300" b="1">
                <a:solidFill>
                  <a:srgbClr val="D8941C"/>
                </a:solidFill>
                <a:latin typeface="Aptos"/>
                <a:ea typeface="Aptos"/>
                <a:cs typeface="Aptos"/>
              </a:rPr>
              <a:t>THEORY 3 OF 3</a:t>
            </a:r>
          </a:p>
        </p:txBody>
      </p:sp>
      <p:sp>
        <p:nvSpPr>
          <p:cNvPr id="9" name="">
            <a:extLst xmlns:a="http://schemas.openxmlformats.org/drawingml/2006/main">
              <a:ext uri="{FF2B5EF4-FFF2-40B4-BE49-F238E27FC236}">
                <a16:creationId xmlns:a16="http://schemas.microsoft.com/office/drawing/2014/main" id="{D9658BBD-B043-4046-9981-CD4088088BF6}"/>
              </a:ext>
            </a:extLst>
          </p:cNvPr>
          <p:cNvSpPr>
            <a:spLocks xmlns:a="http://schemas.openxmlformats.org/drawingml/2006/main" noGrp="1"/>
          </p:cNvSpPr>
          <p:nvPr/>
        </p:nvSpPr>
        <p:spPr>
          <a:xfrm xmlns:a="http://schemas.openxmlformats.org/drawingml/2006/main">
            <a:off x="6048375" y="552450"/>
            <a:ext cx="5619750" cy="5524500"/>
          </a:xfrm>
          <a:prstGeom xmlns:a="http://schemas.openxmlformats.org/drawingml/2006/main" prst="roundRect">
            <a:avLst>
              <a:gd name="adj" fmla="val 2069"/>
            </a:avLst>
          </a:prstGeom>
          <a:noFill xmlns:a="http://schemas.openxmlformats.org/drawingml/2006/main"/>
          <a:ln xmlns:a="http://schemas.openxmlformats.org/drawingml/2006/main" w="9525">
            <a:solidFill>
              <a:srgbClr val="D8941C"/>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27b0ba9be7064510"/>
          <a:stretch xmlns:a="http://schemas.openxmlformats.org/drawingml/2006/main"/>
        </p:blipFill>
        <p:spPr>
          <a:xfrm xmlns:a="http://schemas.openxmlformats.org/drawingml/2006/main" flipH="0" flipV="0">
            <a:off x="6200775" y="1210270"/>
            <a:ext cx="5314950" cy="2989659"/>
          </a:xfrm>
          <a:prstGeom xmlns:a="http://schemas.openxmlformats.org/drawingml/2006/main" prst="roundRect">
            <a:avLst/>
          </a:prstGeom>
        </p:spPr>
      </p:pic>
      <p:sp>
        <p:nvSpPr>
          <p:cNvPr id="11" name="">
            <a:extLst xmlns:a="http://schemas.openxmlformats.org/drawingml/2006/main">
              <a:ext uri="{FF2B5EF4-FFF2-40B4-BE49-F238E27FC236}">
                <a16:creationId xmlns:a16="http://schemas.microsoft.com/office/drawing/2014/main" id="{EF1AF138-E39A-45A4-98C7-44449B6CE141}"/>
              </a:ext>
            </a:extLst>
          </p:cNvPr>
          <p:cNvSpPr>
            <a:spLocks xmlns:a="http://schemas.openxmlformats.org/drawingml/2006/main" noGrp="1"/>
          </p:cNvSpPr>
          <p:nvPr/>
        </p:nvSpPr>
        <p:spPr>
          <a:xfrm xmlns:a="http://schemas.openxmlformats.org/drawingml/2006/main">
            <a:off x="6267450" y="4810125"/>
            <a:ext cx="51625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1600" b="0">
                <a:solidFill>
                  <a:srgbClr val="5A665F"/>
                </a:solidFill>
                <a:latin typeface="Aptos"/>
                <a:ea typeface="Aptos"/>
                <a:cs typeface="Aptos"/>
              </a:defRPr>
            </a:pPr>
            <a:r>
              <a:rPr sz="1600" b="0">
                <a:solidFill>
                  <a:srgbClr val="5A665F"/>
                </a:solidFill>
                <a:latin typeface="Aptos"/>
                <a:ea typeface="Aptos"/>
                <a:cs typeface="Aptos"/>
              </a:rPr>
              <a:t>Create a traceable evidence-map diagram showing brief and research leading to experimentation, selection, production evidence and evaluation, with caption links…</a:t>
            </a:r>
          </a:p>
        </p:txBody>
      </p:sp>
    </p:spTree>
    <p:extLst>
      <p:ext uri="{BB962C8B-B14F-4D97-AF65-F5344CB8AC3E}">
        <p14:creationId xmlns:p14="http://schemas.microsoft.com/office/powerpoint/2010/main" val="234341914"/>
      </p:ext>
    </p:extLst>
  </p:cSld>
</p:sld>
</file>

<file path=ppt/slides/slide6.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13" name="Slide-Number-Placeholder-3-2">
            <a:extLst xmlns:a="http://schemas.openxmlformats.org/drawingml/2006/main">
              <a:ext uri="{FF2B5EF4-FFF2-40B4-BE49-F238E27FC236}">
                <a16:creationId xmlns:a16="http://schemas.microsoft.com/office/drawing/2014/main" id="{470E4CBD-8D62-4D1D-9B20-55EBF6D27A5E}"/>
              </a:ext>
            </a:extLst>
          </p:cNvPr>
          <p:cNvSpPr>
            <a:spLocks xmlns:a="http://schemas.openxmlformats.org/drawingml/2006/main" noGrp="1"/>
          </p:cNvSpPr>
          <p:nvPr/>
        </p:nvSpPr>
        <p:spPr>
          <a:xfrm xmlns:a="http://schemas.openxmlformats.org/drawingml/2006/main">
            <a:off x="11334750" y="6496050"/>
            <a:ext cx="400050" cy="190500"/>
          </a:xfrm>
          <a:prstGeom xmlns:a="http://schemas.openxmlformats.org/drawingml/2006/main" prst="rect">
            <a:avLst/>
          </a:prstGeom>
        </p:spPr>
        <p:txBody>
          <a:bodyPr xmlns:a="http://schemas.openxmlformats.org/drawingml/2006/main" lIns="38100" tIns="38100" rIns="38100" bIns="38100" anchor="ctr">
            <a:normAutofit fontScale="64935"/>
          </a:bodyPr>
          <a:lstStyle xmlns:a="http://schemas.openxmlformats.org/drawingml/2006/main"/>
          <a:p xmlns:a="http://schemas.openxmlformats.org/drawingml/2006/main">
            <a:pPr algn="r">
              <a:lnSpc>
                <a:spcPct val="105000"/>
              </a:lnSpc>
              <a:buNone/>
              <a:defRPr sz="1100" b="1">
                <a:solidFill>
                  <a:srgbClr val="5A665F"/>
                </a:solidFill>
                <a:latin typeface="Aptos"/>
                <a:ea typeface="Aptos"/>
                <a:cs typeface="Aptos"/>
              </a:defRPr>
            </a:pPr>
            <a:r>
              <a:rPr sz="1100" b="1">
                <a:solidFill>
                  <a:srgbClr val="5A665F"/>
                </a:solidFill>
                <a:latin typeface="Aptos"/>
                <a:ea typeface="Aptos"/>
                <a:cs typeface="Aptos"/>
              </a:rPr>
              <a:t>6</a:t>
            </a:r>
          </a:p>
        </p:txBody>
      </p:sp>
      <p:sp>
        <p:nvSpPr>
          <p:cNvPr id="2" name="Title-10-3">
            <a:extLst xmlns:a="http://schemas.openxmlformats.org/drawingml/2006/main">
              <a:ext uri="{FF2B5EF4-FFF2-40B4-BE49-F238E27FC236}">
                <a16:creationId xmlns:a16="http://schemas.microsoft.com/office/drawing/2014/main" id="{3E6A61C8-FA20-4C18-8A82-D49D9EBFF4CF}"/>
              </a:ext>
            </a:extLst>
          </p:cNvPr>
          <p:cNvSpPr>
            <a:spLocks xmlns:a="http://schemas.openxmlformats.org/drawingml/2006/main" noGrp="1"/>
          </p:cNvSpPr>
          <p:nvPr/>
        </p:nvSpPr>
        <p:spPr>
          <a:xfrm xmlns:a="http://schemas.openxmlformats.org/drawingml/2006/main">
            <a:off x="571500" y="533400"/>
            <a:ext cx="10287000" cy="666750"/>
          </a:xfrm>
          <a:prstGeom xmlns:a="http://schemas.openxmlformats.org/drawingml/2006/main" prst="rect">
            <a:avLst/>
          </a:prstGeom>
        </p:spPr>
        <p:txBody>
          <a:bodyPr xmlns:a="http://schemas.openxmlformats.org/drawingml/2006/main" lIns="38100" tIns="38100" rIns="38100" bIns="38100" anchor="t">
            <a:normAutofit fontScale="96628"/>
          </a:bodyPr>
          <a:lstStyle xmlns:a="http://schemas.openxmlformats.org/drawingml/2006/main"/>
          <a:p xmlns:a="http://schemas.openxmlformats.org/drawingml/2006/main">
            <a:pPr algn="l">
              <a:lnSpc>
                <a:spcPct val="105000"/>
              </a:lnSpc>
              <a:buNone/>
              <a:defRPr sz="3600" b="1">
                <a:solidFill>
                  <a:srgbClr val="173126"/>
                </a:solidFill>
                <a:latin typeface="Aptos"/>
                <a:ea typeface="Aptos"/>
                <a:cs typeface="Aptos"/>
              </a:defRPr>
            </a:pPr>
            <a:r>
              <a:rPr sz="3600" b="1">
                <a:solidFill>
                  <a:srgbClr val="173126"/>
                </a:solidFill>
                <a:latin typeface="Aptos"/>
                <a:ea typeface="Aptos"/>
                <a:cs typeface="Aptos"/>
              </a:rPr>
              <a:t>Retrieve the relationships—not isolated definitions</a:t>
            </a:r>
          </a:p>
        </p:txBody>
      </p:sp>
      <p:cxnSp>
        <p:nvCxnSpPr>
          <p:cNvPr id="34" name="Google-Shape-2259-p159-4"/>
          <p:cNvCxnSpPr/>
          <p:nvPr/>
        </p:nvCxnSpPr>
        <p:spPr>
          <a:xfrm xmlns:a="http://schemas.openxmlformats.org/drawingml/2006/main">
            <a:off x="0" y="0"/>
            <a:ext cx="9525" cy="9525"/>
          </a:xfrm>
          <a:prstGeom xmlns:a="http://schemas.openxmlformats.org/drawingml/2006/main" prst="straightConnector1">
            <a:avLst/>
          </a:prstGeom>
          <a:ln xmlns:a="http://schemas.openxmlformats.org/drawingml/2006/main" w="0">
            <a:noFill/>
            <a:prstDash val="solid"/>
          </a:ln>
        </p:spPr>
      </p:cxnSp>
      <p:sp>
        <p:nvSpPr>
          <p:cNvPr id="4" name="Google-Shape-2260-p159-5">
            <a:extLst xmlns:a="http://schemas.openxmlformats.org/drawingml/2006/main">
              <a:ext uri="{FF2B5EF4-FFF2-40B4-BE49-F238E27FC236}">
                <a16:creationId xmlns:a16="http://schemas.microsoft.com/office/drawing/2014/main" id="{1E74EF7E-884C-41AF-AD97-B8E18A6F6CB8}"/>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5" name="Google-Shape-2261-p159-6">
            <a:extLst xmlns:a="http://schemas.openxmlformats.org/drawingml/2006/main">
              <a:ext uri="{FF2B5EF4-FFF2-40B4-BE49-F238E27FC236}">
                <a16:creationId xmlns:a16="http://schemas.microsoft.com/office/drawing/2014/main" id="{141F0FA2-B455-4F2C-A2ED-34D2A8A4B545}"/>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6" name="Google-Shape-2262-p159-7">
            <a:extLst xmlns:a="http://schemas.openxmlformats.org/drawingml/2006/main">
              <a:ext uri="{FF2B5EF4-FFF2-40B4-BE49-F238E27FC236}">
                <a16:creationId xmlns:a16="http://schemas.microsoft.com/office/drawing/2014/main" id="{5EAC4B4A-5EB8-4213-97B3-853E484150EA}"/>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7" name="Content-Placeholder-15-8">
            <a:extLst xmlns:a="http://schemas.openxmlformats.org/drawingml/2006/main">
              <a:ext uri="{FF2B5EF4-FFF2-40B4-BE49-F238E27FC236}">
                <a16:creationId xmlns:a16="http://schemas.microsoft.com/office/drawing/2014/main" id="{AF2E796C-24F4-41C8-877A-B723CF9732C5}"/>
              </a:ext>
            </a:extLst>
          </p:cNvPr>
          <p:cNvSpPr>
            <a:spLocks xmlns:a="http://schemas.openxmlformats.org/drawingml/2006/main" noGrp="1"/>
          </p:cNvSpPr>
          <p:nvPr/>
        </p:nvSpPr>
        <p:spPr>
          <a:xfrm xmlns:a="http://schemas.openxmlformats.org/drawingml/2006/main">
            <a:off x="1000125" y="2266950"/>
            <a:ext cx="666750" cy="5905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3000" b="1">
                <a:solidFill>
                  <a:srgbClr val="D8941C"/>
                </a:solidFill>
                <a:latin typeface="Aptos"/>
                <a:ea typeface="Aptos"/>
                <a:cs typeface="Aptos"/>
              </a:defRPr>
            </a:pPr>
            <a:r>
              <a:rPr sz="3000" b="1">
                <a:solidFill>
                  <a:srgbClr val="D8941C"/>
                </a:solidFill>
                <a:latin typeface="Aptos"/>
                <a:ea typeface="Aptos"/>
                <a:cs typeface="Aptos"/>
              </a:rPr>
              <a:t>01</a:t>
            </a:r>
          </a:p>
        </p:txBody>
      </p:sp>
      <p:sp>
        <p:nvSpPr>
          <p:cNvPr id="8" name="Content-Placeholder-15-9">
            <a:extLst xmlns:a="http://schemas.openxmlformats.org/drawingml/2006/main">
              <a:ext uri="{FF2B5EF4-FFF2-40B4-BE49-F238E27FC236}">
                <a16:creationId xmlns:a16="http://schemas.microsoft.com/office/drawing/2014/main" id="{E497B4AB-F992-4F71-91E8-000BEA874621}"/>
              </a:ext>
            </a:extLst>
          </p:cNvPr>
          <p:cNvSpPr>
            <a:spLocks xmlns:a="http://schemas.openxmlformats.org/drawingml/2006/main" noGrp="1"/>
          </p:cNvSpPr>
          <p:nvPr/>
        </p:nvSpPr>
        <p:spPr>
          <a:xfrm xmlns:a="http://schemas.openxmlformats.org/drawingml/2006/main">
            <a:off x="4714875" y="2266950"/>
            <a:ext cx="666750" cy="5905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3000" b="1">
                <a:solidFill>
                  <a:srgbClr val="D8941C"/>
                </a:solidFill>
                <a:latin typeface="Aptos"/>
                <a:ea typeface="Aptos"/>
                <a:cs typeface="Aptos"/>
              </a:defRPr>
            </a:pPr>
            <a:r>
              <a:rPr sz="3000" b="1">
                <a:solidFill>
                  <a:srgbClr val="D8941C"/>
                </a:solidFill>
                <a:latin typeface="Aptos"/>
                <a:ea typeface="Aptos"/>
                <a:cs typeface="Aptos"/>
              </a:rPr>
              <a:t>02</a:t>
            </a:r>
          </a:p>
        </p:txBody>
      </p:sp>
      <p:sp>
        <p:nvSpPr>
          <p:cNvPr id="9" name="Content-Placeholder-15-10">
            <a:extLst xmlns:a="http://schemas.openxmlformats.org/drawingml/2006/main">
              <a:ext uri="{FF2B5EF4-FFF2-40B4-BE49-F238E27FC236}">
                <a16:creationId xmlns:a16="http://schemas.microsoft.com/office/drawing/2014/main" id="{9880C656-A3E0-4FBA-A3A3-57890DB4A6E2}"/>
              </a:ext>
            </a:extLst>
          </p:cNvPr>
          <p:cNvSpPr>
            <a:spLocks xmlns:a="http://schemas.openxmlformats.org/drawingml/2006/main" noGrp="1"/>
          </p:cNvSpPr>
          <p:nvPr/>
        </p:nvSpPr>
        <p:spPr>
          <a:xfrm xmlns:a="http://schemas.openxmlformats.org/drawingml/2006/main">
            <a:off x="8429625" y="2266950"/>
            <a:ext cx="666750" cy="5905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3000" b="1">
                <a:solidFill>
                  <a:srgbClr val="D8941C"/>
                </a:solidFill>
                <a:latin typeface="Aptos"/>
                <a:ea typeface="Aptos"/>
                <a:cs typeface="Aptos"/>
              </a:defRPr>
            </a:pPr>
            <a:r>
              <a:rPr sz="3000" b="1">
                <a:solidFill>
                  <a:srgbClr val="D8941C"/>
                </a:solidFill>
                <a:latin typeface="Aptos"/>
                <a:ea typeface="Aptos"/>
                <a:cs typeface="Aptos"/>
              </a:rPr>
              <a:t>03</a:t>
            </a:r>
          </a:p>
        </p:txBody>
      </p:sp>
      <p:sp>
        <p:nvSpPr>
          <p:cNvPr id="10" name="Text-Placeholder-16-11">
            <a:extLst xmlns:a="http://schemas.openxmlformats.org/drawingml/2006/main">
              <a:ext uri="{FF2B5EF4-FFF2-40B4-BE49-F238E27FC236}">
                <a16:creationId xmlns:a16="http://schemas.microsoft.com/office/drawing/2014/main" id="{4FD3FD99-AFA0-4A20-B064-75652BCA2C15}"/>
              </a:ext>
            </a:extLst>
          </p:cNvPr>
          <p:cNvSpPr>
            <a:spLocks xmlns:a="http://schemas.openxmlformats.org/drawingml/2006/main" noGrp="1"/>
          </p:cNvSpPr>
          <p:nvPr/>
        </p:nvSpPr>
        <p:spPr>
          <a:xfrm xmlns:a="http://schemas.openxmlformats.org/drawingml/2006/main">
            <a:off x="1000125" y="2914650"/>
            <a:ext cx="2667000" cy="16192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1600" b="0">
                <a:solidFill>
                  <a:srgbClr val="173126"/>
                </a:solidFill>
                <a:latin typeface="Aptos"/>
                <a:ea typeface="Aptos"/>
                <a:cs typeface="Aptos"/>
              </a:defRPr>
            </a:pPr>
            <a:r>
              <a:rPr sz="1600" b="0">
                <a:solidFill>
                  <a:srgbClr val="173126"/>
                </a:solidFill>
                <a:latin typeface="Aptos"/>
                <a:ea typeface="Aptos"/>
                <a:cs typeface="Aptos"/>
              </a:rPr>
              <a:t>ANALYSING EXPERIMENTAL EVIDENCE</a:t>
            </a:r>
          </a:p>
          <a:p xmlns:a="http://schemas.openxmlformats.org/drawingml/2006/main">
            <a:pPr algn="l">
              <a:buNone/>
              <a:defRPr sz="2400">
                <a:solidFill>
                  <a:srgbClr val="000000"/>
                </a:solidFill>
                <a:latin typeface="Helvetica Neue"/>
                <a:ea typeface="Helvetica Neue"/>
                <a:cs typeface="Helvetica Neue"/>
              </a:defRPr>
            </a:pPr>
            <a:r>
              <a:t/>
            </a:r>
          </a:p>
          <a:p xmlns:a="http://schemas.openxmlformats.org/drawingml/2006/main">
            <a:pPr algn="l">
              <a:lnSpc>
                <a:spcPct val="112000"/>
              </a:lnSpc>
              <a:buNone/>
              <a:defRPr sz="1600" b="0">
                <a:solidFill>
                  <a:srgbClr val="173126"/>
                </a:solidFill>
                <a:latin typeface="Aptos"/>
                <a:ea typeface="Aptos"/>
                <a:cs typeface="Aptos"/>
              </a:defRPr>
            </a:pPr>
            <a:r>
              <a:rPr sz="1600" b="0">
                <a:solidFill>
                  <a:srgbClr val="173126"/>
                </a:solidFill>
                <a:latin typeface="Aptos"/>
                <a:ea typeface="Aptos"/>
                <a:cs typeface="Aptos"/>
              </a:rPr>
              <a:t>What makes a comparative claim strong?</a:t>
            </a:r>
          </a:p>
        </p:txBody>
      </p:sp>
      <p:sp>
        <p:nvSpPr>
          <p:cNvPr id="11" name="Text-Placeholder-16-12">
            <a:extLst xmlns:a="http://schemas.openxmlformats.org/drawingml/2006/main">
              <a:ext uri="{FF2B5EF4-FFF2-40B4-BE49-F238E27FC236}">
                <a16:creationId xmlns:a16="http://schemas.microsoft.com/office/drawing/2014/main" id="{E14E470D-3EB0-4181-9D87-AB6AC7574BA9}"/>
              </a:ext>
            </a:extLst>
          </p:cNvPr>
          <p:cNvSpPr>
            <a:spLocks xmlns:a="http://schemas.openxmlformats.org/drawingml/2006/main" noGrp="1"/>
          </p:cNvSpPr>
          <p:nvPr/>
        </p:nvSpPr>
        <p:spPr>
          <a:xfrm xmlns:a="http://schemas.openxmlformats.org/drawingml/2006/main">
            <a:off x="4714875" y="2914650"/>
            <a:ext cx="2667000" cy="16192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1600" b="0">
                <a:solidFill>
                  <a:srgbClr val="173126"/>
                </a:solidFill>
                <a:latin typeface="Aptos"/>
                <a:ea typeface="Aptos"/>
                <a:cs typeface="Aptos"/>
              </a:defRPr>
            </a:pPr>
            <a:r>
              <a:rPr sz="1600" b="0">
                <a:solidFill>
                  <a:srgbClr val="173126"/>
                </a:solidFill>
                <a:latin typeface="Aptos"/>
                <a:ea typeface="Aptos"/>
                <a:cs typeface="Aptos"/>
              </a:rPr>
              <a:t>FABRIC SELECTION AND DESIGN</a:t>
            </a:r>
          </a:p>
          <a:p xmlns:a="http://schemas.openxmlformats.org/drawingml/2006/main">
            <a:pPr algn="l">
              <a:buNone/>
              <a:defRPr sz="2400">
                <a:solidFill>
                  <a:srgbClr val="000000"/>
                </a:solidFill>
                <a:latin typeface="Helvetica Neue"/>
                <a:ea typeface="Helvetica Neue"/>
                <a:cs typeface="Helvetica Neue"/>
              </a:defRPr>
            </a:pPr>
            <a:r>
              <a:t/>
            </a:r>
          </a:p>
          <a:p xmlns:a="http://schemas.openxmlformats.org/drawingml/2006/main">
            <a:pPr algn="l">
              <a:lnSpc>
                <a:spcPct val="112000"/>
              </a:lnSpc>
              <a:buNone/>
              <a:defRPr sz="1600" b="0">
                <a:solidFill>
                  <a:srgbClr val="173126"/>
                </a:solidFill>
                <a:latin typeface="Aptos"/>
                <a:ea typeface="Aptos"/>
                <a:cs typeface="Aptos"/>
              </a:defRPr>
            </a:pPr>
            <a:r>
              <a:rPr sz="1600" b="0">
                <a:solidFill>
                  <a:srgbClr val="173126"/>
                </a:solidFill>
                <a:latin typeface="Aptos"/>
                <a:ea typeface="Aptos"/>
                <a:cs typeface="Aptos"/>
              </a:rPr>
              <a:t>Why should rejected alternatives be recorded?</a:t>
            </a:r>
          </a:p>
        </p:txBody>
      </p:sp>
      <p:sp>
        <p:nvSpPr>
          <p:cNvPr id="12" name="Text-Placeholder-16-13">
            <a:extLst xmlns:a="http://schemas.openxmlformats.org/drawingml/2006/main">
              <a:ext uri="{FF2B5EF4-FFF2-40B4-BE49-F238E27FC236}">
                <a16:creationId xmlns:a16="http://schemas.microsoft.com/office/drawing/2014/main" id="{376F7259-3952-48F7-92C0-D580593817F7}"/>
              </a:ext>
            </a:extLst>
          </p:cNvPr>
          <p:cNvSpPr>
            <a:spLocks xmlns:a="http://schemas.openxmlformats.org/drawingml/2006/main" noGrp="1"/>
          </p:cNvSpPr>
          <p:nvPr/>
        </p:nvSpPr>
        <p:spPr>
          <a:xfrm xmlns:a="http://schemas.openxmlformats.org/drawingml/2006/main">
            <a:off x="8429625" y="2914650"/>
            <a:ext cx="2667000" cy="1619250"/>
          </a:xfrm>
          <a:prstGeom xmlns:a="http://schemas.openxmlformats.org/drawingml/2006/main" prst="rect">
            <a:avLst/>
          </a:prstGeom>
        </p:spPr>
        <p:txBody>
          <a:bodyPr xmlns:a="http://schemas.openxmlformats.org/drawingml/2006/main" lIns="38100" tIns="38100" rIns="38100" bIns="38100" anchor="t">
            <a:normAutofit fontScale="89129"/>
          </a:bodyPr>
          <a:lstStyle xmlns:a="http://schemas.openxmlformats.org/drawingml/2006/main"/>
          <a:p xmlns:a="http://schemas.openxmlformats.org/drawingml/2006/main">
            <a:pPr algn="l">
              <a:lnSpc>
                <a:spcPct val="112000"/>
              </a:lnSpc>
              <a:buNone/>
              <a:defRPr sz="1600" b="0">
                <a:solidFill>
                  <a:srgbClr val="173126"/>
                </a:solidFill>
                <a:latin typeface="Aptos"/>
                <a:ea typeface="Aptos"/>
                <a:cs typeface="Aptos"/>
              </a:defRPr>
            </a:pPr>
            <a:r>
              <a:rPr sz="1600" b="0">
                <a:solidFill>
                  <a:srgbClr val="173126"/>
                </a:solidFill>
                <a:latin typeface="Aptos"/>
                <a:ea typeface="Aptos"/>
                <a:cs typeface="Aptos"/>
              </a:rPr>
              <a:t>PROJECT EVIDENCE AND EVALUATION</a:t>
            </a:r>
          </a:p>
          <a:p xmlns:a="http://schemas.openxmlformats.org/drawingml/2006/main">
            <a:pPr algn="l">
              <a:buNone/>
              <a:defRPr sz="2400">
                <a:solidFill>
                  <a:srgbClr val="000000"/>
                </a:solidFill>
                <a:latin typeface="Helvetica Neue"/>
                <a:ea typeface="Helvetica Neue"/>
                <a:cs typeface="Helvetica Neue"/>
              </a:defRPr>
            </a:pPr>
            <a:r>
              <a:t/>
            </a:r>
          </a:p>
          <a:p xmlns:a="http://schemas.openxmlformats.org/drawingml/2006/main">
            <a:pPr algn="l">
              <a:lnSpc>
                <a:spcPct val="112000"/>
              </a:lnSpc>
              <a:buNone/>
              <a:defRPr sz="1600" b="0">
                <a:solidFill>
                  <a:srgbClr val="173126"/>
                </a:solidFill>
                <a:latin typeface="Aptos"/>
                <a:ea typeface="Aptos"/>
                <a:cs typeface="Aptos"/>
              </a:defRPr>
            </a:pPr>
            <a:r>
              <a:rPr sz="1600" b="0">
                <a:solidFill>
                  <a:srgbClr val="173126"/>
                </a:solidFill>
                <a:latin typeface="Aptos"/>
                <a:ea typeface="Aptos"/>
                <a:cs typeface="Aptos"/>
              </a:rPr>
              <a:t>What is the main difference between project evidence and a decorative scrapbook?</a:t>
            </a:r>
          </a:p>
        </p:txBody>
      </p:sp>
      <p:sp>
        <p:nvSpPr>
          <p:cNvPr id="19" name="">
            <a:extLst xmlns:a="http://schemas.openxmlformats.org/drawingml/2006/main">
              <a:ext uri="{FF2B5EF4-FFF2-40B4-BE49-F238E27FC236}">
                <a16:creationId xmlns:a16="http://schemas.microsoft.com/office/drawing/2014/main" id="{50B13189-640C-4F85-A57E-A01655EE318C}"/>
              </a:ext>
            </a:extLst>
          </p:cNvPr>
          <p:cNvSpPr>
            <a:spLocks xmlns:a="http://schemas.openxmlformats.org/drawingml/2006/main" noGrp="1"/>
          </p:cNvSpPr>
          <p:nvPr/>
        </p:nvSpPr>
        <p:spPr>
          <a:xfrm xmlns:a="http://schemas.openxmlformats.org/drawingml/2006/main">
            <a:off x="590550" y="1200150"/>
            <a:ext cx="8382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83333"/>
          </a:bodyPr>
          <a:lstStyle xmlns:a="http://schemas.openxmlformats.org/drawingml/2006/main"/>
          <a:p xmlns:a="http://schemas.openxmlformats.org/drawingml/2006/main">
            <a:pPr algn="l">
              <a:lnSpc>
                <a:spcPct val="105000"/>
              </a:lnSpc>
              <a:buNone/>
              <a:defRPr sz="2000" b="0">
                <a:solidFill>
                  <a:srgbClr val="5A665F"/>
                </a:solidFill>
                <a:latin typeface="Aptos"/>
                <a:ea typeface="Aptos"/>
                <a:cs typeface="Aptos"/>
              </a:defRPr>
            </a:pPr>
            <a:r>
              <a:rPr sz="2000" b="0">
                <a:solidFill>
                  <a:srgbClr val="5A665F"/>
                </a:solidFill>
                <a:latin typeface="Aptos"/>
                <a:ea typeface="Aptos"/>
                <a:cs typeface="Aptos"/>
              </a:rPr>
              <a:t>Answer aloud or write one precise sentence for each prompt.</a:t>
            </a:r>
          </a:p>
        </p:txBody>
      </p:sp>
      <p:sp>
        <p:nvSpPr>
          <p:cNvPr id="20" name="">
            <a:extLst xmlns:a="http://schemas.openxmlformats.org/drawingml/2006/main">
              <a:ext uri="{FF2B5EF4-FFF2-40B4-BE49-F238E27FC236}">
                <a16:creationId xmlns:a16="http://schemas.microsoft.com/office/drawing/2014/main" id="{35ED1ED7-12CC-4D64-A46D-642B399C390F}"/>
              </a:ext>
            </a:extLst>
          </p:cNvPr>
          <p:cNvSpPr>
            <a:spLocks xmlns:a="http://schemas.openxmlformats.org/drawingml/2006/main" noGrp="1"/>
          </p:cNvSpPr>
          <p:nvPr/>
        </p:nvSpPr>
        <p:spPr>
          <a:xfrm xmlns:a="http://schemas.openxmlformats.org/drawingml/2006/main">
            <a:off x="714375" y="2057400"/>
            <a:ext cx="3238500" cy="2781300"/>
          </a:xfrm>
          <a:prstGeom xmlns:a="http://schemas.openxmlformats.org/drawingml/2006/main" prst="roundRect">
            <a:avLst>
              <a:gd name="adj" fmla="val 4110"/>
            </a:avLst>
          </a:prstGeom>
          <a:noFill xmlns:a="http://schemas.openxmlformats.org/drawingml/2006/main"/>
          <a:ln xmlns:a="http://schemas.openxmlformats.org/drawingml/2006/main" w="9525">
            <a:solidFill>
              <a:srgbClr val="EAD2AE"/>
            </a:solidFill>
            <a:prstDash val="solid"/>
          </a:ln>
        </p:spPr>
      </p:sp>
      <p:sp>
        <p:nvSpPr>
          <p:cNvPr id="21" name="">
            <a:extLst xmlns:a="http://schemas.openxmlformats.org/drawingml/2006/main">
              <a:ext uri="{FF2B5EF4-FFF2-40B4-BE49-F238E27FC236}">
                <a16:creationId xmlns:a16="http://schemas.microsoft.com/office/drawing/2014/main" id="{E4112AAD-9DD8-49E7-BBD2-BF2FE6D22021}"/>
              </a:ext>
            </a:extLst>
          </p:cNvPr>
          <p:cNvSpPr>
            <a:spLocks xmlns:a="http://schemas.openxmlformats.org/drawingml/2006/main" noGrp="1"/>
          </p:cNvSpPr>
          <p:nvPr/>
        </p:nvSpPr>
        <p:spPr>
          <a:xfrm xmlns:a="http://schemas.openxmlformats.org/drawingml/2006/main">
            <a:off x="4429125" y="2057400"/>
            <a:ext cx="3238500" cy="2781300"/>
          </a:xfrm>
          <a:prstGeom xmlns:a="http://schemas.openxmlformats.org/drawingml/2006/main" prst="roundRect">
            <a:avLst>
              <a:gd name="adj" fmla="val 4110"/>
            </a:avLst>
          </a:prstGeom>
          <a:noFill xmlns:a="http://schemas.openxmlformats.org/drawingml/2006/main"/>
          <a:ln xmlns:a="http://schemas.openxmlformats.org/drawingml/2006/main" w="9525">
            <a:solidFill>
              <a:srgbClr val="D8941C"/>
            </a:solidFill>
            <a:prstDash val="solid"/>
          </a:ln>
        </p:spPr>
      </p:sp>
      <p:sp>
        <p:nvSpPr>
          <p:cNvPr id="22" name="">
            <a:extLst xmlns:a="http://schemas.openxmlformats.org/drawingml/2006/main">
              <a:ext uri="{FF2B5EF4-FFF2-40B4-BE49-F238E27FC236}">
                <a16:creationId xmlns:a16="http://schemas.microsoft.com/office/drawing/2014/main" id="{1E7C6842-406E-4A43-904C-0BFF50917464}"/>
              </a:ext>
            </a:extLst>
          </p:cNvPr>
          <p:cNvSpPr>
            <a:spLocks xmlns:a="http://schemas.openxmlformats.org/drawingml/2006/main" noGrp="1"/>
          </p:cNvSpPr>
          <p:nvPr/>
        </p:nvSpPr>
        <p:spPr>
          <a:xfrm xmlns:a="http://schemas.openxmlformats.org/drawingml/2006/main">
            <a:off x="8143875" y="2057400"/>
            <a:ext cx="3238500" cy="2781300"/>
          </a:xfrm>
          <a:prstGeom xmlns:a="http://schemas.openxmlformats.org/drawingml/2006/main" prst="roundRect">
            <a:avLst>
              <a:gd name="adj" fmla="val 4110"/>
            </a:avLst>
          </a:prstGeom>
          <a:noFill xmlns:a="http://schemas.openxmlformats.org/drawingml/2006/main"/>
          <a:ln xmlns:a="http://schemas.openxmlformats.org/drawingml/2006/main" w="9525">
            <a:solidFill>
              <a:srgbClr val="EAD2AE"/>
            </a:solidFill>
            <a:prstDash val="solid"/>
          </a:ln>
        </p:spPr>
      </p:sp>
    </p:spTree>
    <p:extLst>
      <p:ext uri="{BB962C8B-B14F-4D97-AF65-F5344CB8AC3E}">
        <p14:creationId xmlns:p14="http://schemas.microsoft.com/office/powerpoint/2010/main" val="197396306"/>
      </p:ext>
    </p:extLst>
  </p:cSld>
</p:sld>
</file>

<file path=ppt/slides/slide7.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7" name="Slide-Number-Placeholder-1-2">
            <a:extLst xmlns:a="http://schemas.openxmlformats.org/drawingml/2006/main">
              <a:ext uri="{FF2B5EF4-FFF2-40B4-BE49-F238E27FC236}">
                <a16:creationId xmlns:a16="http://schemas.microsoft.com/office/drawing/2014/main" id="{BC763F4E-BCA4-4B07-B025-6FEAA72E5BCD}"/>
              </a:ext>
            </a:extLst>
          </p:cNvPr>
          <p:cNvSpPr>
            <a:spLocks xmlns:a="http://schemas.openxmlformats.org/drawingml/2006/main" noGrp="1"/>
          </p:cNvSpPr>
          <p:nvPr/>
        </p:nvSpPr>
        <p:spPr>
          <a:xfrm xmlns:a="http://schemas.openxmlformats.org/drawingml/2006/main">
            <a:off x="11334750" y="6496050"/>
            <a:ext cx="400050" cy="190500"/>
          </a:xfrm>
          <a:prstGeom xmlns:a="http://schemas.openxmlformats.org/drawingml/2006/main" prst="rect">
            <a:avLst/>
          </a:prstGeom>
        </p:spPr>
        <p:txBody>
          <a:bodyPr xmlns:a="http://schemas.openxmlformats.org/drawingml/2006/main" lIns="38100" tIns="38100" rIns="38100" bIns="38100" anchor="ctr">
            <a:normAutofit fontScale="64935"/>
          </a:bodyPr>
          <a:lstStyle xmlns:a="http://schemas.openxmlformats.org/drawingml/2006/main"/>
          <a:p xmlns:a="http://schemas.openxmlformats.org/drawingml/2006/main">
            <a:pPr algn="r">
              <a:lnSpc>
                <a:spcPct val="105000"/>
              </a:lnSpc>
              <a:buNone/>
              <a:defRPr sz="1100" b="1">
                <a:solidFill>
                  <a:srgbClr val="5A665F"/>
                </a:solidFill>
                <a:latin typeface="Aptos"/>
                <a:ea typeface="Aptos"/>
                <a:cs typeface="Aptos"/>
              </a:defRPr>
            </a:pPr>
            <a:r>
              <a:rPr sz="1100" b="1">
                <a:solidFill>
                  <a:srgbClr val="5A665F"/>
                </a:solidFill>
                <a:latin typeface="Aptos"/>
                <a:ea typeface="Aptos"/>
                <a:cs typeface="Aptos"/>
              </a:rPr>
              <a:t>7</a:t>
            </a:r>
          </a:p>
        </p:txBody>
      </p:sp>
      <p:sp>
        <p:nvSpPr>
          <p:cNvPr id="2" name="Title-2-3">
            <a:extLst xmlns:a="http://schemas.openxmlformats.org/drawingml/2006/main">
              <a:ext uri="{FF2B5EF4-FFF2-40B4-BE49-F238E27FC236}">
                <a16:creationId xmlns:a16="http://schemas.microsoft.com/office/drawing/2014/main" id="{0D369F46-2FA0-4532-839B-72712112A52E}"/>
              </a:ext>
            </a:extLst>
          </p:cNvPr>
          <p:cNvSpPr>
            <a:spLocks xmlns:a="http://schemas.openxmlformats.org/drawingml/2006/main" noGrp="1"/>
          </p:cNvSpPr>
          <p:nvPr/>
        </p:nvSpPr>
        <p:spPr>
          <a:xfrm xmlns:a="http://schemas.openxmlformats.org/drawingml/2006/main">
            <a:off x="571500" y="514350"/>
            <a:ext cx="10287000" cy="6667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3600" b="1">
                <a:solidFill>
                  <a:srgbClr val="173126"/>
                </a:solidFill>
                <a:latin typeface="Aptos"/>
                <a:ea typeface="Aptos"/>
                <a:cs typeface="Aptos"/>
              </a:defRPr>
            </a:pPr>
            <a:r>
              <a:rPr sz="3600" b="1">
                <a:solidFill>
                  <a:srgbClr val="173126"/>
                </a:solidFill>
                <a:latin typeface="Aptos"/>
                <a:ea typeface="Aptos"/>
                <a:cs typeface="Aptos"/>
              </a:rPr>
              <a:t>Build a response that uses evidence</a:t>
            </a:r>
          </a:p>
        </p:txBody>
      </p:sp>
      <p:sp>
        <p:nvSpPr>
          <p:cNvPr id="3" name="Content-Placeholder-9-4">
            <a:extLst xmlns:a="http://schemas.openxmlformats.org/drawingml/2006/main">
              <a:ext uri="{FF2B5EF4-FFF2-40B4-BE49-F238E27FC236}">
                <a16:creationId xmlns:a16="http://schemas.microsoft.com/office/drawing/2014/main" id="{D2374728-E4B4-470D-AE72-552FDDDDF0E2}"/>
              </a:ext>
            </a:extLst>
          </p:cNvPr>
          <p:cNvSpPr>
            <a:spLocks xmlns:a="http://schemas.openxmlformats.org/drawingml/2006/main" noGrp="1"/>
          </p:cNvSpPr>
          <p:nvPr/>
        </p:nvSpPr>
        <p:spPr>
          <a:xfrm xmlns:a="http://schemas.openxmlformats.org/drawingml/2006/main">
            <a:off x="742950" y="2381250"/>
            <a:ext cx="2095500" cy="1600200"/>
          </a:xfrm>
          <a:prstGeom xmlns:a="http://schemas.openxmlformats.org/drawingml/2006/main" prst="rect">
            <a:avLst/>
          </a:prstGeom>
        </p:spPr>
        <p:txBody>
          <a:bodyPr xmlns:a="http://schemas.openxmlformats.org/drawingml/2006/main" lIns="38100" tIns="38100" rIns="38100" bIns="38100" anchor="ctr">
            <a:normAutofit fontScale="89286"/>
          </a:bodyPr>
          <a:lstStyle xmlns:a="http://schemas.openxmlformats.org/drawingml/2006/main"/>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READ</a:t>
            </a:r>
          </a:p>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Identify one useful evidence item from each major stage of the…</a:t>
            </a:r>
          </a:p>
        </p:txBody>
      </p:sp>
      <p:sp>
        <p:nvSpPr>
          <p:cNvPr id="4" name="Content-Placeholder-10-5">
            <a:extLst xmlns:a="http://schemas.openxmlformats.org/drawingml/2006/main">
              <a:ext uri="{FF2B5EF4-FFF2-40B4-BE49-F238E27FC236}">
                <a16:creationId xmlns:a16="http://schemas.microsoft.com/office/drawing/2014/main" id="{745C2A24-1535-4D4F-BEF4-6A9C7804C230}"/>
              </a:ext>
            </a:extLst>
          </p:cNvPr>
          <p:cNvSpPr>
            <a:spLocks xmlns:a="http://schemas.openxmlformats.org/drawingml/2006/main" noGrp="1"/>
          </p:cNvSpPr>
          <p:nvPr/>
        </p:nvSpPr>
        <p:spPr>
          <a:xfrm xmlns:a="http://schemas.openxmlformats.org/drawingml/2006/main">
            <a:off x="3648075" y="2381250"/>
            <a:ext cx="2095500" cy="1600200"/>
          </a:xfrm>
          <a:prstGeom xmlns:a="http://schemas.openxmlformats.org/drawingml/2006/main" prst="rect">
            <a:avLst/>
          </a:prstGeom>
        </p:spPr>
        <p:txBody>
          <a:bodyPr xmlns:a="http://schemas.openxmlformats.org/drawingml/2006/main" lIns="38100" tIns="38100" rIns="38100" bIns="38100" anchor="ctr">
            <a:normAutofit fontScale="89286"/>
          </a:bodyPr>
          <a:lstStyle xmlns:a="http://schemas.openxmlformats.org/drawingml/2006/main"/>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SELECT</a:t>
            </a:r>
          </a:p>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Explain what each item shows about the project's development.</a:t>
            </a:r>
          </a:p>
        </p:txBody>
      </p:sp>
      <p:sp>
        <p:nvSpPr>
          <p:cNvPr id="5" name="Content-Placeholder-9-6">
            <a:extLst xmlns:a="http://schemas.openxmlformats.org/drawingml/2006/main">
              <a:ext uri="{FF2B5EF4-FFF2-40B4-BE49-F238E27FC236}">
                <a16:creationId xmlns:a16="http://schemas.microsoft.com/office/drawing/2014/main" id="{4AED10BE-E00C-4A46-B1DA-CFFF3691C1F5}"/>
              </a:ext>
            </a:extLst>
          </p:cNvPr>
          <p:cNvSpPr>
            <a:spLocks xmlns:a="http://schemas.openxmlformats.org/drawingml/2006/main" noGrp="1"/>
          </p:cNvSpPr>
          <p:nvPr/>
        </p:nvSpPr>
        <p:spPr>
          <a:xfrm xmlns:a="http://schemas.openxmlformats.org/drawingml/2006/main">
            <a:off x="6553200" y="2381250"/>
            <a:ext cx="2095500" cy="1600200"/>
          </a:xfrm>
          <a:prstGeom xmlns:a="http://schemas.openxmlformats.org/drawingml/2006/main" prst="rect">
            <a:avLst/>
          </a:prstGeom>
        </p:spPr>
        <p:txBody>
          <a:bodyPr xmlns:a="http://schemas.openxmlformats.org/drawingml/2006/main" lIns="38100" tIns="38100" rIns="38100" bIns="38100" anchor="ctr">
            <a:normAutofit fontScale="99039"/>
          </a:bodyPr>
          <a:lstStyle xmlns:a="http://schemas.openxmlformats.org/drawingml/2006/main"/>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EXPLAIN</a:t>
            </a:r>
          </a:p>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Link each item to a decision, criterion or change.</a:t>
            </a:r>
          </a:p>
        </p:txBody>
      </p:sp>
      <p:sp>
        <p:nvSpPr>
          <p:cNvPr id="6" name="Content-Placeholder-10-7">
            <a:extLst xmlns:a="http://schemas.openxmlformats.org/drawingml/2006/main">
              <a:ext uri="{FF2B5EF4-FFF2-40B4-BE49-F238E27FC236}">
                <a16:creationId xmlns:a16="http://schemas.microsoft.com/office/drawing/2014/main" id="{4ECE2ED3-28BC-4F59-BFE2-F9047B67517C}"/>
              </a:ext>
            </a:extLst>
          </p:cNvPr>
          <p:cNvSpPr>
            <a:spLocks xmlns:a="http://schemas.openxmlformats.org/drawingml/2006/main" noGrp="1"/>
          </p:cNvSpPr>
          <p:nvPr/>
        </p:nvSpPr>
        <p:spPr>
          <a:xfrm xmlns:a="http://schemas.openxmlformats.org/drawingml/2006/main">
            <a:off x="9458325" y="2381250"/>
            <a:ext cx="2095500" cy="1600200"/>
          </a:xfrm>
          <a:prstGeom xmlns:a="http://schemas.openxmlformats.org/drawingml/2006/main" prst="rect">
            <a:avLst/>
          </a:prstGeom>
        </p:spPr>
        <p:txBody>
          <a:bodyPr xmlns:a="http://schemas.openxmlformats.org/drawingml/2006/main" lIns="38100" tIns="38100" rIns="38100" bIns="38100" anchor="ctr">
            <a:normAutofit fontScale="89286"/>
          </a:bodyPr>
          <a:lstStyle xmlns:a="http://schemas.openxmlformats.org/drawingml/2006/main"/>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CHECK</a:t>
            </a:r>
          </a:p>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Explain how the collected evidence supports a balanced final…</a:t>
            </a:r>
          </a:p>
        </p:txBody>
      </p:sp>
      <p:sp>
        <p:nvSpPr>
          <p:cNvPr id="8" name="">
            <a:extLst xmlns:a="http://schemas.openxmlformats.org/drawingml/2006/main">
              <a:ext uri="{FF2B5EF4-FFF2-40B4-BE49-F238E27FC236}">
                <a16:creationId xmlns:a16="http://schemas.microsoft.com/office/drawing/2014/main" id="{A8EFDF2A-7606-4595-951B-4CFE3BA786BC}"/>
              </a:ext>
            </a:extLst>
          </p:cNvPr>
          <p:cNvSpPr>
            <a:spLocks xmlns:a="http://schemas.openxmlformats.org/drawingml/2006/main" noGrp="1"/>
          </p:cNvSpPr>
          <p:nvPr/>
        </p:nvSpPr>
        <p:spPr>
          <a:xfrm xmlns:a="http://schemas.openxmlformats.org/drawingml/2006/main">
            <a:off x="590550" y="121920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81077"/>
          </a:bodyPr>
          <a:lstStyle xmlns:a="http://schemas.openxmlformats.org/drawingml/2006/main"/>
          <a:p xmlns:a="http://schemas.openxmlformats.org/drawingml/2006/main">
            <a:pPr algn="l">
              <a:lnSpc>
                <a:spcPct val="105000"/>
              </a:lnSpc>
              <a:buNone/>
              <a:defRPr sz="2000" b="0">
                <a:solidFill>
                  <a:srgbClr val="5A665F"/>
                </a:solidFill>
                <a:latin typeface="Aptos"/>
                <a:ea typeface="Aptos"/>
                <a:cs typeface="Aptos"/>
              </a:defRPr>
            </a:pPr>
            <a:r>
              <a:rPr sz="2000" b="0">
                <a:solidFill>
                  <a:srgbClr val="5A665F"/>
                </a:solidFill>
                <a:latin typeface="Aptos"/>
                <a:ea typeface="Aptos"/>
                <a:cs typeface="Aptos"/>
              </a:rPr>
              <a:t>Prompt: Create an evidence map for a textile project showing what evidence should be kept and how each item…</a:t>
            </a:r>
          </a:p>
        </p:txBody>
      </p:sp>
      <p:sp>
        <p:nvSpPr>
          <p:cNvPr id="9" name="">
            <a:extLst xmlns:a="http://schemas.openxmlformats.org/drawingml/2006/main">
              <a:ext uri="{FF2B5EF4-FFF2-40B4-BE49-F238E27FC236}">
                <a16:creationId xmlns:a16="http://schemas.microsoft.com/office/drawing/2014/main" id="{834625C6-A9E5-4E32-8BDC-7B1DB61EA47A}"/>
              </a:ext>
            </a:extLst>
          </p:cNvPr>
          <p:cNvSpPr>
            <a:spLocks xmlns:a="http://schemas.openxmlformats.org/drawingml/2006/main" noGrp="1"/>
          </p:cNvSpPr>
          <p:nvPr/>
        </p:nvSpPr>
        <p:spPr>
          <a:xfrm xmlns:a="http://schemas.openxmlformats.org/drawingml/2006/main">
            <a:off x="495300" y="2114550"/>
            <a:ext cx="2619375" cy="2381250"/>
          </a:xfrm>
          <a:prstGeom xmlns:a="http://schemas.openxmlformats.org/drawingml/2006/main" prst="roundRect">
            <a:avLst>
              <a:gd name="adj" fmla="val 4800"/>
            </a:avLst>
          </a:prstGeom>
          <a:noFill xmlns:a="http://schemas.openxmlformats.org/drawingml/2006/main"/>
          <a:ln xmlns:a="http://schemas.openxmlformats.org/drawingml/2006/main" w="9525">
            <a:solidFill>
              <a:srgbClr val="EAD2AE"/>
            </a:solidFill>
            <a:prstDash val="solid"/>
          </a:ln>
        </p:spPr>
      </p:sp>
      <p:sp>
        <p:nvSpPr>
          <p:cNvPr id="10" name="">
            <a:extLst xmlns:a="http://schemas.openxmlformats.org/drawingml/2006/main">
              <a:ext uri="{FF2B5EF4-FFF2-40B4-BE49-F238E27FC236}">
                <a16:creationId xmlns:a16="http://schemas.microsoft.com/office/drawing/2014/main" id="{D8B5150D-E39C-4861-A904-435C14723698}"/>
              </a:ext>
            </a:extLst>
          </p:cNvPr>
          <p:cNvSpPr>
            <a:spLocks xmlns:a="http://schemas.openxmlformats.org/drawingml/2006/main" noGrp="1"/>
          </p:cNvSpPr>
          <p:nvPr/>
        </p:nvSpPr>
        <p:spPr>
          <a:xfrm xmlns:a="http://schemas.openxmlformats.org/drawingml/2006/main">
            <a:off x="3400425" y="2114550"/>
            <a:ext cx="2619375" cy="2381250"/>
          </a:xfrm>
          <a:prstGeom xmlns:a="http://schemas.openxmlformats.org/drawingml/2006/main" prst="roundRect">
            <a:avLst>
              <a:gd name="adj" fmla="val 4800"/>
            </a:avLst>
          </a:prstGeom>
          <a:noFill xmlns:a="http://schemas.openxmlformats.org/drawingml/2006/main"/>
          <a:ln xmlns:a="http://schemas.openxmlformats.org/drawingml/2006/main" w="9525">
            <a:solidFill>
              <a:srgbClr val="EAD2AE"/>
            </a:solidFill>
            <a:prstDash val="solid"/>
          </a:ln>
        </p:spPr>
      </p:sp>
      <p:sp>
        <p:nvSpPr>
          <p:cNvPr id="11" name="">
            <a:extLst xmlns:a="http://schemas.openxmlformats.org/drawingml/2006/main">
              <a:ext uri="{FF2B5EF4-FFF2-40B4-BE49-F238E27FC236}">
                <a16:creationId xmlns:a16="http://schemas.microsoft.com/office/drawing/2014/main" id="{7E0A2E4B-8FE2-4D98-A3C8-FE5982AB5D23}"/>
              </a:ext>
            </a:extLst>
          </p:cNvPr>
          <p:cNvSpPr>
            <a:spLocks xmlns:a="http://schemas.openxmlformats.org/drawingml/2006/main" noGrp="1"/>
          </p:cNvSpPr>
          <p:nvPr/>
        </p:nvSpPr>
        <p:spPr>
          <a:xfrm xmlns:a="http://schemas.openxmlformats.org/drawingml/2006/main">
            <a:off x="6305550" y="2114550"/>
            <a:ext cx="2619375" cy="2381250"/>
          </a:xfrm>
          <a:prstGeom xmlns:a="http://schemas.openxmlformats.org/drawingml/2006/main" prst="roundRect">
            <a:avLst>
              <a:gd name="adj" fmla="val 4800"/>
            </a:avLst>
          </a:prstGeom>
          <a:noFill xmlns:a="http://schemas.openxmlformats.org/drawingml/2006/main"/>
          <a:ln xmlns:a="http://schemas.openxmlformats.org/drawingml/2006/main" w="9525">
            <a:solidFill>
              <a:srgbClr val="D8941C"/>
            </a:solidFill>
            <a:prstDash val="solid"/>
          </a:ln>
        </p:spPr>
      </p:sp>
      <p:sp>
        <p:nvSpPr>
          <p:cNvPr id="12" name="">
            <a:extLst xmlns:a="http://schemas.openxmlformats.org/drawingml/2006/main">
              <a:ext uri="{FF2B5EF4-FFF2-40B4-BE49-F238E27FC236}">
                <a16:creationId xmlns:a16="http://schemas.microsoft.com/office/drawing/2014/main" id="{9B7B1F36-8E4F-492E-A852-62EBE0D89EE2}"/>
              </a:ext>
            </a:extLst>
          </p:cNvPr>
          <p:cNvSpPr>
            <a:spLocks xmlns:a="http://schemas.openxmlformats.org/drawingml/2006/main" noGrp="1"/>
          </p:cNvSpPr>
          <p:nvPr/>
        </p:nvSpPr>
        <p:spPr>
          <a:xfrm xmlns:a="http://schemas.openxmlformats.org/drawingml/2006/main">
            <a:off x="9210675" y="2114550"/>
            <a:ext cx="2619375" cy="2381250"/>
          </a:xfrm>
          <a:prstGeom xmlns:a="http://schemas.openxmlformats.org/drawingml/2006/main" prst="roundRect">
            <a:avLst>
              <a:gd name="adj" fmla="val 4800"/>
            </a:avLst>
          </a:prstGeom>
          <a:noFill xmlns:a="http://schemas.openxmlformats.org/drawingml/2006/main"/>
          <a:ln xmlns:a="http://schemas.openxmlformats.org/drawingml/2006/main" w="9525">
            <a:solidFill>
              <a:srgbClr val="EAD2AE"/>
            </a:solidFill>
            <a:prstDash val="solid"/>
          </a:ln>
        </p:spPr>
      </p:sp>
      <p:sp>
        <p:nvSpPr>
          <p:cNvPr id="13" name="">
            <a:extLst xmlns:a="http://schemas.openxmlformats.org/drawingml/2006/main">
              <a:ext uri="{FF2B5EF4-FFF2-40B4-BE49-F238E27FC236}">
                <a16:creationId xmlns:a16="http://schemas.microsoft.com/office/drawing/2014/main" id="{819AF333-CFAB-40EC-88E6-3EBDA680DA9E}"/>
              </a:ext>
            </a:extLst>
          </p:cNvPr>
          <p:cNvSpPr>
            <a:spLocks xmlns:a="http://schemas.openxmlformats.org/drawingml/2006/main" noGrp="1"/>
          </p:cNvSpPr>
          <p:nvPr/>
        </p:nvSpPr>
        <p:spPr>
          <a:xfrm xmlns:a="http://schemas.openxmlformats.org/drawingml/2006/main">
            <a:off x="704850" y="4972050"/>
            <a:ext cx="1047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80305"/>
          </a:bodyPr>
          <a:lstStyle xmlns:a="http://schemas.openxmlformats.org/drawingml/2006/main"/>
          <a:p xmlns:a="http://schemas.openxmlformats.org/drawingml/2006/main">
            <a:pPr algn="l">
              <a:lnSpc>
                <a:spcPct val="105000"/>
              </a:lnSpc>
              <a:buNone/>
              <a:defRPr sz="1700" b="1">
                <a:solidFill>
                  <a:srgbClr val="5A665F"/>
                </a:solidFill>
                <a:latin typeface="Aptos"/>
                <a:ea typeface="Aptos"/>
                <a:cs typeface="Aptos"/>
              </a:defRPr>
            </a:pPr>
            <a:r>
              <a:rPr sz="1700" b="1">
                <a:solidFill>
                  <a:srgbClr val="5A665F"/>
                </a:solidFill>
                <a:latin typeface="Aptos"/>
                <a:ea typeface="Aptos"/>
                <a:cs typeface="Aptos"/>
              </a:rPr>
              <a:t>Sentence starter: I would keep ___ from the research stage because it shows ___. From experimentation, I would keep ___ because it…</a:t>
            </a:r>
          </a:p>
        </p:txBody>
      </p:sp>
    </p:spTree>
    <p:extLst>
      <p:ext uri="{BB962C8B-B14F-4D97-AF65-F5344CB8AC3E}">
        <p14:creationId xmlns:p14="http://schemas.microsoft.com/office/powerpoint/2010/main" val="1924835816"/>
      </p:ext>
    </p:extLst>
  </p:cSld>
</p:sld>
</file>

<file path=ppt/slides/slide8.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4" name="Title-3-1">
            <a:extLst xmlns:a="http://schemas.openxmlformats.org/drawingml/2006/main">
              <a:ext uri="{FF2B5EF4-FFF2-40B4-BE49-F238E27FC236}">
                <a16:creationId xmlns:a16="http://schemas.microsoft.com/office/drawing/2014/main" id="{3FB9544D-AF55-480E-ACA9-CBF758DE4DED}"/>
              </a:ext>
            </a:extLst>
          </p:cNvPr>
          <p:cNvSpPr>
            <a:spLocks xmlns:a="http://schemas.openxmlformats.org/drawingml/2006/main" noGrp="1"/>
          </p:cNvSpPr>
          <p:nvPr/>
        </p:nvSpPr>
        <p:spPr>
          <a:xfrm xmlns:a="http://schemas.openxmlformats.org/drawingml/2006/main">
            <a:off x="628650" y="1352550"/>
            <a:ext cx="5810250" cy="1257300"/>
          </a:xfrm>
          <a:prstGeom xmlns:a="http://schemas.openxmlformats.org/drawingml/2006/main" prst="rect">
            <a:avLst/>
          </a:prstGeom>
        </p:spPr>
        <p:txBody>
          <a:bodyPr xmlns:a="http://schemas.openxmlformats.org/drawingml/2006/main" lIns="38100" tIns="38100" rIns="38100" bIns="38100" anchor="t">
            <a:normAutofit fontScale="94145"/>
          </a:bodyPr>
          <a:lstStyle xmlns:a="http://schemas.openxmlformats.org/drawingml/2006/main"/>
          <a:p xmlns:a="http://schemas.openxmlformats.org/drawingml/2006/main">
            <a:pPr algn="l">
              <a:lnSpc>
                <a:spcPct val="98000"/>
              </a:lnSpc>
              <a:buNone/>
              <a:defRPr sz="4200" b="1">
                <a:solidFill>
                  <a:srgbClr val="173126"/>
                </a:solidFill>
                <a:latin typeface="Aptos"/>
                <a:ea typeface="Aptos"/>
                <a:cs typeface="Aptos"/>
              </a:defRPr>
            </a:pPr>
            <a:r>
              <a:rPr sz="4200" b="1">
                <a:solidFill>
                  <a:srgbClr val="173126"/>
                </a:solidFill>
                <a:latin typeface="Aptos"/>
                <a:ea typeface="Aptos"/>
                <a:cs typeface="Aptos"/>
              </a:rPr>
              <a:t>Exit ticket: carry Module 12 evidence forward</a:t>
            </a:r>
          </a:p>
        </p:txBody>
      </p:sp>
      <p:sp>
        <p:nvSpPr>
          <p:cNvPr id="2" name="Subtitle-4-2">
            <a:extLst xmlns:a="http://schemas.openxmlformats.org/drawingml/2006/main">
              <a:ext uri="{FF2B5EF4-FFF2-40B4-BE49-F238E27FC236}">
                <a16:creationId xmlns:a16="http://schemas.microsoft.com/office/drawing/2014/main" id="{37162B0B-61CF-4E28-975D-100A269EB1FC}"/>
              </a:ext>
            </a:extLst>
          </p:cNvPr>
          <p:cNvSpPr>
            <a:spLocks xmlns:a="http://schemas.openxmlformats.org/drawingml/2006/main" noGrp="1"/>
          </p:cNvSpPr>
          <p:nvPr/>
        </p:nvSpPr>
        <p:spPr>
          <a:xfrm xmlns:a="http://schemas.openxmlformats.org/drawingml/2006/main">
            <a:off x="666750" y="3048000"/>
            <a:ext cx="5429250" cy="2095500"/>
          </a:xfrm>
          <a:prstGeom xmlns:a="http://schemas.openxmlformats.org/drawingml/2006/main" prst="rect">
            <a:avLst/>
          </a:prstGeom>
        </p:spPr>
        <p:txBody>
          <a:bodyPr xmlns:a="http://schemas.openxmlformats.org/drawingml/2006/main" lIns="38100" tIns="38100" rIns="38100" bIns="38100" anchor="t">
            <a:normAutofit fontScale="85324"/>
          </a:bodyPr>
          <a:lstStyle xmlns:a="http://schemas.openxmlformats.org/drawingml/2006/main"/>
          <a:p xmlns:a="http://schemas.openxmlformats.org/drawingml/2006/main">
            <a:pPr algn="l">
              <a:lnSpc>
                <a:spcPct val="115000"/>
              </a:lnSpc>
              <a:buNone/>
              <a:defRPr sz="2200" b="0">
                <a:solidFill>
                  <a:srgbClr val="173126"/>
                </a:solidFill>
                <a:latin typeface="Aptos"/>
                <a:ea typeface="Aptos"/>
                <a:cs typeface="Aptos"/>
              </a:defRPr>
            </a:pPr>
            <a:r>
              <a:rPr sz="2200" b="0">
                <a:solidFill>
                  <a:srgbClr val="173126"/>
                </a:solidFill>
                <a:latin typeface="Aptos"/>
                <a:ea typeface="Aptos"/>
                <a:cs typeface="Aptos"/>
              </a:rPr>
              <a:t>1. Name one relationship from Module 12 you can now explain.</a:t>
            </a:r>
          </a:p>
          <a:p xmlns:a="http://schemas.openxmlformats.org/drawingml/2006/main">
            <a:pPr algn="l">
              <a:buNone/>
              <a:defRPr sz="2400">
                <a:solidFill>
                  <a:srgbClr val="000000"/>
                </a:solidFill>
                <a:latin typeface="Helvetica Neue"/>
                <a:ea typeface="Helvetica Neue"/>
                <a:cs typeface="Helvetica Neue"/>
              </a:defRPr>
            </a:pPr>
            <a:r>
              <a:t/>
            </a:r>
          </a:p>
          <a:p xmlns:a="http://schemas.openxmlformats.org/drawingml/2006/main">
            <a:pPr algn="l">
              <a:lnSpc>
                <a:spcPct val="115000"/>
              </a:lnSpc>
              <a:buNone/>
              <a:defRPr sz="2200" b="0">
                <a:solidFill>
                  <a:srgbClr val="173126"/>
                </a:solidFill>
                <a:latin typeface="Aptos"/>
                <a:ea typeface="Aptos"/>
                <a:cs typeface="Aptos"/>
              </a:defRPr>
            </a:pPr>
            <a:r>
              <a:rPr sz="2200" b="0">
                <a:solidFill>
                  <a:srgbClr val="173126"/>
                </a:solidFill>
                <a:latin typeface="Aptos"/>
                <a:ea typeface="Aptos"/>
                <a:cs typeface="Aptos"/>
              </a:rPr>
              <a:t>2. Save one supported response in My folio.</a:t>
            </a:r>
          </a:p>
          <a:p xmlns:a="http://schemas.openxmlformats.org/drawingml/2006/main">
            <a:pPr algn="l">
              <a:buNone/>
              <a:defRPr sz="2400">
                <a:solidFill>
                  <a:srgbClr val="000000"/>
                </a:solidFill>
                <a:latin typeface="Helvetica Neue"/>
                <a:ea typeface="Helvetica Neue"/>
                <a:cs typeface="Helvetica Neue"/>
              </a:defRPr>
            </a:pPr>
            <a:r>
              <a:t/>
            </a:r>
          </a:p>
          <a:p xmlns:a="http://schemas.openxmlformats.org/drawingml/2006/main">
            <a:pPr algn="l">
              <a:lnSpc>
                <a:spcPct val="115000"/>
              </a:lnSpc>
              <a:buNone/>
              <a:defRPr sz="2200" b="0">
                <a:solidFill>
                  <a:srgbClr val="173126"/>
                </a:solidFill>
                <a:latin typeface="Aptos"/>
                <a:ea typeface="Aptos"/>
                <a:cs typeface="Aptos"/>
              </a:defRPr>
            </a:pPr>
            <a:r>
              <a:rPr sz="2200" b="0">
                <a:solidFill>
                  <a:srgbClr val="173126"/>
                </a:solidFill>
                <a:latin typeface="Aptos"/>
                <a:ea typeface="Aptos"/>
                <a:cs typeface="Aptos"/>
              </a:rPr>
              <a:t>3. Complete the Module 12 applied-practice activity.</a:t>
            </a:r>
          </a:p>
        </p:txBody>
      </p:sp>
      <p:sp>
        <p:nvSpPr>
          <p:cNvPr id="3" name="Subtitle-4-3">
            <a:extLst xmlns:a="http://schemas.openxmlformats.org/drawingml/2006/main">
              <a:ext uri="{FF2B5EF4-FFF2-40B4-BE49-F238E27FC236}">
                <a16:creationId xmlns:a16="http://schemas.microsoft.com/office/drawing/2014/main" id="{14BE888C-8D03-4186-B5D1-4BD3576D68EF}"/>
              </a:ext>
            </a:extLst>
          </p:cNvPr>
          <p:cNvSpPr>
            <a:spLocks xmlns:a="http://schemas.openxmlformats.org/drawingml/2006/main" noGrp="1"/>
          </p:cNvSpPr>
          <p:nvPr/>
        </p:nvSpPr>
        <p:spPr>
          <a:xfrm xmlns:a="http://schemas.openxmlformats.org/drawingml/2006/main">
            <a:off x="666750" y="819150"/>
            <a:ext cx="2857500" cy="266700"/>
          </a:xfrm>
          <a:prstGeom xmlns:a="http://schemas.openxmlformats.org/drawingml/2006/main" prst="rect">
            <a:avLst/>
          </a:prstGeom>
        </p:spPr>
        <p:txBody>
          <a:bodyPr xmlns:a="http://schemas.openxmlformats.org/drawingml/2006/main" lIns="38100" tIns="38100" rIns="38100" bIns="38100" anchor="t">
            <a:normAutofit fontScale="85034"/>
          </a:bodyPr>
          <a:lstStyle xmlns:a="http://schemas.openxmlformats.org/drawingml/2006/main"/>
          <a:p xmlns:a="http://schemas.openxmlformats.org/drawingml/2006/main">
            <a:pPr algn="l">
              <a:lnSpc>
                <a:spcPct val="105000"/>
              </a:lnSpc>
              <a:buNone/>
              <a:defRPr sz="1400" b="1">
                <a:solidFill>
                  <a:srgbClr val="D8941C"/>
                </a:solidFill>
                <a:latin typeface="Aptos"/>
                <a:ea typeface="Aptos"/>
                <a:cs typeface="Aptos"/>
              </a:defRPr>
            </a:pPr>
            <a:r>
              <a:rPr sz="1400" b="1">
                <a:solidFill>
                  <a:srgbClr val="D8941C"/>
                </a:solidFill>
                <a:latin typeface="Aptos"/>
                <a:ea typeface="Aptos"/>
                <a:cs typeface="Aptos"/>
              </a:rPr>
              <a:t>YOUR NEXT MOVE</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30a41fdb72284979"/>
          <a:srcRect xmlns:a="http://schemas.openxmlformats.org/drawingml/2006/main" l="0" t="0" r="0" b="0"/>
          <a:stretch xmlns:a="http://schemas.openxmlformats.org/drawingml/2006/main">
            <a:fillRect l="0" t="0" r="0" b="0"/>
          </a:stretch>
        </p:blipFill>
        <p:spPr>
          <a:xfrm xmlns:a="http://schemas.openxmlformats.org/drawingml/2006/main" flipH="0" flipV="0">
            <a:off x="6953250" y="0"/>
            <a:ext cx="5238750" cy="6858000"/>
          </a:xfrm>
          <a:prstGeom xmlns:a="http://schemas.openxmlformats.org/drawingml/2006/main" prst="rect">
            <a:avLst/>
          </a:prstGeom>
        </p:spPr>
      </p:pic>
    </p:spTree>
    <p:extLst>
      <p:ext uri="{BB962C8B-B14F-4D97-AF65-F5344CB8AC3E}">
        <p14:creationId xmlns:p14="http://schemas.microsoft.com/office/powerpoint/2010/main" val="52068884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2026-08-18T17:28:58.0590000Z</dcterms:created>
  <dcterms:modified xsi:type="dcterms:W3CDTF">2026-08-18T17:28:58.0590000Z</dcterms:modified>
</coreProperties>
</file>
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d940782ba64bf9" /><Relationship Type="http://schemas.openxmlformats.org/officeDocument/2006/relationships/extended-properties" Target="/docProps/app.xml" Id="Re18cd420276d4f78" /><Relationship Type="http://schemas.openxmlformats.org/officeDocument/2006/relationships/officeDocument" Target="/ppt/presentation.xml" Id="Rfcce9c372ae24427" /></Relationships>
</file>

<file path=ppt/presentation.xml><?xml version="1.0" encoding="utf-8"?>
<p:presentation xmlns:p="http://schemas.openxmlformats.org/presentationml/2006/main">
  <p:sldMasterIdLst>
    <p:sldMasterId xmlns:r="http://schemas.openxmlformats.org/officeDocument/2006/relationships" id="2147483648" r:id="R94972c6686ce479e"/>
  </p:sldMasterIdLst>
  <p:notesMasterIdLst>
    <p:notesMasterId xmlns:r="http://schemas.openxmlformats.org/officeDocument/2006/relationships" r:id="R8fb95205ce404d18"/>
  </p:notesMasterIdLst>
  <p:sldIdLst>
    <p:sldId xmlns:r="http://schemas.openxmlformats.org/officeDocument/2006/relationships" id="256" r:id="R2a7e0c14f6d64061"/>
    <p:sldId xmlns:r="http://schemas.openxmlformats.org/officeDocument/2006/relationships" id="257" r:id="R75ff3042dcfb44c3"/>
    <p:sldId xmlns:r="http://schemas.openxmlformats.org/officeDocument/2006/relationships" id="258" r:id="R2545b6dc9d4d4953"/>
    <p:sldId xmlns:r="http://schemas.openxmlformats.org/officeDocument/2006/relationships" id="259" r:id="R017d341f7a054f58"/>
    <p:sldId xmlns:r="http://schemas.openxmlformats.org/officeDocument/2006/relationships" id="260" r:id="Rddc97fb0896a4ad3"/>
    <p:sldId xmlns:r="http://schemas.openxmlformats.org/officeDocument/2006/relationships" id="261" r:id="R4b9f809fbfe44c3f"/>
    <p:sldId xmlns:r="http://schemas.openxmlformats.org/officeDocument/2006/relationships" id="262" r:id="R5d9cc1ae04764521"/>
    <p:sldId xmlns:r="http://schemas.openxmlformats.org/officeDocument/2006/relationships" id="263" r:id="R55a0501703ad42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60aa2661c64fc1" /><Relationship Type="http://schemas.openxmlformats.org/officeDocument/2006/relationships/slideMaster" Target="/ppt/slideMasters/slideMaster1.xml" Id="R94972c6686ce479e" /><Relationship Type="http://schemas.openxmlformats.org/officeDocument/2006/relationships/notesMaster" Target="/ppt/notesMasters/notesMaster1.xml" Id="R8fb95205ce404d18" /><Relationship Type="http://schemas.openxmlformats.org/officeDocument/2006/relationships/presProps" Target="/ppt/presProps.xml" Id="R52a48ccc642a451a" /><Relationship Type="http://schemas.openxmlformats.org/officeDocument/2006/relationships/tableStyles" Target="/ppt/tableStyles.xml" Id="Rf23a3014f29c428c" /><Relationship Type="http://schemas.openxmlformats.org/officeDocument/2006/relationships/slide" Target="/ppt/slides/slide1.xml" Id="R2a7e0c14f6d64061" /><Relationship Type="http://schemas.openxmlformats.org/officeDocument/2006/relationships/slide" Target="/ppt/slides/slide2.xml" Id="R75ff3042dcfb44c3" /><Relationship Type="http://schemas.openxmlformats.org/officeDocument/2006/relationships/slide" Target="/ppt/slides/slide3.xml" Id="R2545b6dc9d4d4953" /><Relationship Type="http://schemas.openxmlformats.org/officeDocument/2006/relationships/slide" Target="/ppt/slides/slide4.xml" Id="R017d341f7a054f58" /><Relationship Type="http://schemas.openxmlformats.org/officeDocument/2006/relationships/slide" Target="/ppt/slides/slide5.xml" Id="Rddc97fb0896a4ad3" /><Relationship Type="http://schemas.openxmlformats.org/officeDocument/2006/relationships/slide" Target="/ppt/slides/slide6.xml" Id="R4b9f809fbfe44c3f" /><Relationship Type="http://schemas.openxmlformats.org/officeDocument/2006/relationships/slide" Target="/ppt/slides/slide7.xml" Id="R5d9cc1ae04764521" /><Relationship Type="http://schemas.openxmlformats.org/officeDocument/2006/relationships/slide" Target="/ppt/slides/slide8.xml" Id="R55a0501703ad42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22dda05fe84e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5b5f81296e49de" /><Relationship Type="http://schemas.openxmlformats.org/officeDocument/2006/relationships/notesMaster" Target="/ppt/notesMasters/notesMaster1.xml" Id="Re7e8bb54fcef4e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7925e5c5f74e9f" /><Relationship Type="http://schemas.openxmlformats.org/officeDocument/2006/relationships/notesMaster" Target="/ppt/notesMasters/notesMaster1.xml" Id="Re5a18558da1741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78d5de7a2b4f48" /><Relationship Type="http://schemas.openxmlformats.org/officeDocument/2006/relationships/notesMaster" Target="/ppt/notesMasters/notesMaster1.xml" Id="R9f749c80009f44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ab234d27934d5a" /><Relationship Type="http://schemas.openxmlformats.org/officeDocument/2006/relationships/notesMaster" Target="/ppt/notesMasters/notesMaster1.xml" Id="R5a7b5543ac1a40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475ba5b96d4a21" /><Relationship Type="http://schemas.openxmlformats.org/officeDocument/2006/relationships/notesMaster" Target="/ppt/notesMasters/notesMaster1.xml" Id="Rd68aabe7d2f54f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f39ca455354246" /><Relationship Type="http://schemas.openxmlformats.org/officeDocument/2006/relationships/notesMaster" Target="/ppt/notesMasters/notesMaster1.xml" Id="R8615211dd5ba47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e41b3c27614921" /><Relationship Type="http://schemas.openxmlformats.org/officeDocument/2006/relationships/notesMaster" Target="/ppt/notesMasters/notesMaster1.xml" Id="Rfaf6d600355d4a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3c93718f0e4978" /><Relationship Type="http://schemas.openxmlformats.org/officeDocument/2006/relationships/notesMaster" Target="/ppt/notesMasters/notesMaster1.xml" Id="Rf209250d22464e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Module 6 and ask the retrieval prompt before showing the learning map.</a:t>
            </a:r>
          </a:p>
          <a:p xmlns:a="http://schemas.openxmlformats.org/drawingml/2006/main">
            <a:r>
              <a:t/>
            </a:r>
          </a:p>
          <a:p xmlns:a="http://schemas.openxmlformats.org/drawingml/2006/main">
            <a:r>
              <a:t>[Sources]</a:t>
            </a:r>
          </a:p>
          <a:p xmlns:a="http://schemas.openxmlformats.org/drawingml/2006/main">
            <a:r>
              <a:t>- SRC-NESA-SYL-2013: Year 11 Preliminary Textiles and Design syllabus.</a:t>
            </a:r>
          </a:p>
          <a:p xmlns:a="http://schemas.openxmlformats.org/drawingml/2006/main">
            <a:r>
              <a:t>- THEORY-QUESTION-MANIFEST-v1: Module 6 named sections.</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ideas as a cumulative learning pathway rather than an agenda.</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Theory files m06-s01 to 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m06-s01.json.</a:t>
            </a:r>
          </a:p>
          <a:p xmlns:a="http://schemas.openxmlformats.org/drawingml/2006/main">
            <a:r>
              <a:t>- Generated course diagram: m06-s01.png; source-bound visual brief: Create a fibre-classification tree beginning with fibres, branching to natural and manufactured fibres, dividing natural fibres into plant, animal and mineral and manufactured fibres into regenerated and synthetic, with blends shown separately as combinations of identified fibre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m06-s02.json.</a:t>
            </a:r>
          </a:p>
          <a:p xmlns:a="http://schemas.openxmlformats.org/drawingml/2006/main">
            <a:r>
              <a:t>- Generated course diagram: m06-s02.png; source-bound visual brief: Create a two-level structure-to-property diagram showing polymer chains with crystalline and amorphous regions alongside fibre morphology features such as length, fineness, crimp, cross-section and surface, all linking to properties while clearly showing that end-use performance depends on additional factors.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m06-s03.json.</a:t>
            </a:r>
          </a:p>
          <a:p xmlns:a="http://schemas.openxmlformats.org/drawingml/2006/main">
            <a:r>
              <a:t>- Generated course diagram: m06-s03.png; source-bound visual brief: Create a layered flow diagram showing fibre preparation and alignment leading from fibre to yarn to fabric to textile product, with yarn structure, fabric structure, finishing and product construction shown as successive influences on final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formative retrieval prompts. Each is answerable from slides 3–5.</a:t>
            </a:r>
          </a:p>
          <a:p xmlns:a="http://schemas.openxmlformats.org/drawingml/2006/main">
            <a:r>
              <a:t/>
            </a:r>
          </a:p>
          <a:p xmlns:a="http://schemas.openxmlformats.org/drawingml/2006/main">
            <a:r>
              <a:t>[Sources]</a:t>
            </a:r>
          </a:p>
          <a:p xmlns:a="http://schemas.openxmlformats.org/drawingml/2006/main">
            <a:r>
              <a:t>- Module 6 theory and knowledge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student submission.</a:t>
            </a:r>
          </a:p>
          <a:p xmlns:a="http://schemas.openxmlformats.org/drawingml/2006/main">
            <a:r>
              <a:t/>
            </a:r>
          </a:p>
          <a:p xmlns:a="http://schemas.openxmlformats.org/drawingml/2006/main">
            <a:r>
              <a:t>[Sources]</a:t>
            </a:r>
          </a:p>
          <a:p xmlns:a="http://schemas.openxmlformats.org/drawingml/2006/main">
            <a:r>
              <a:t>- Module 6 written-response scaffold.</a:t>
            </a:r>
          </a:p>
          <a:p xmlns:a="http://schemas.openxmlformats.org/drawingml/2006/main">
            <a:r>
              <a:t>- Read → Select → Explain → Check course routine.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students to the Module 6 activity and My folio. No formal submission condition is asserted.</a:t>
            </a:r>
          </a:p>
          <a:p xmlns:a="http://schemas.openxmlformats.org/drawingml/2006/main">
            <a:r>
              <a:t/>
            </a:r>
          </a:p>
          <a:p xmlns:a="http://schemas.openxmlformats.org/drawingml/2006/main">
            <a:r>
              <a:t>[Sources]</a:t>
            </a:r>
          </a:p>
          <a:p xmlns:a="http://schemas.openxmlformats.org/drawingml/2006/main">
            <a:r>
              <a:t>- Course route busy-work/activity-06.html.</a:t>
            </a:r>
          </a:p>
          <a:p xmlns:a="http://schemas.openxmlformats.org/drawingml/2006/main">
            <a:r>
              <a:t>- Course route folio.html.</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ce927eed7c49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32689fd89a4df0" /><Relationship Type="http://schemas.openxmlformats.org/officeDocument/2006/relationships/slideLayout" Target="/ppt/slideLayouts/slideLayout1.xml" Id="Rd0d97051d8a645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d97051d8a645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391aa302de4aee" /><Relationship Type="http://schemas.openxmlformats.org/officeDocument/2006/relationships/image" Target="/ppt/media/image.png" Id="R2c0b8507c2024b54" /><Relationship Type="http://schemas.openxmlformats.org/officeDocument/2006/relationships/notesSlide" Target="/ppt/notesSlides/notesSlide1.xml" Id="Ra58f8861837d48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6dfbeae58c4ea2" /><Relationship Type="http://schemas.openxmlformats.org/officeDocument/2006/relationships/notesSlide" Target="/ppt/notesSlides/notesSlide2.xml" Id="R88815d833e064a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c9e191b14544f3" /><Relationship Type="http://schemas.openxmlformats.org/officeDocument/2006/relationships/image" Target="/ppt/media/image2.png" Id="R3953266c8b494667" /><Relationship Type="http://schemas.openxmlformats.org/officeDocument/2006/relationships/notesSlide" Target="/ppt/notesSlides/notesSlide3.xml" Id="R27d494a630bf43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09610501c84f53" /><Relationship Type="http://schemas.openxmlformats.org/officeDocument/2006/relationships/image" Target="/ppt/media/image3.png" Id="R47240e625a10462e" /><Relationship Type="http://schemas.openxmlformats.org/officeDocument/2006/relationships/notesSlide" Target="/ppt/notesSlides/notesSlide4.xml" Id="R3dc096b9150042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56ab6852814571" /><Relationship Type="http://schemas.openxmlformats.org/officeDocument/2006/relationships/image" Target="/ppt/media/image4.png" Id="R53b6dfe6a83943c7" /><Relationship Type="http://schemas.openxmlformats.org/officeDocument/2006/relationships/notesSlide" Target="/ppt/notesSlides/notesSlide5.xml" Id="Rca3bd045902849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01dd352ce44016" /><Relationship Type="http://schemas.openxmlformats.org/officeDocument/2006/relationships/notesSlide" Target="/ppt/notesSlides/notesSlide6.xml" Id="Rac896b3e19de43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c77f6884f14bab" /><Relationship Type="http://schemas.openxmlformats.org/officeDocument/2006/relationships/notesSlide" Target="/ppt/notesSlides/notesSlide7.xml" Id="R83140403995143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76471ab46f432b" /><Relationship Type="http://schemas.openxmlformats.org/officeDocument/2006/relationships/image" Target="/ppt/media/image5.png" Id="R7a9b71748c364c5a" /><Relationship Type="http://schemas.openxmlformats.org/officeDocument/2006/relationships/notesSlide" Target="/ppt/notesSlides/notesSlide8.xml" Id="Rfc368f73d7424cb1"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Fibre foundations</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Use three connected ideas to explain, apply and justify the learning in Module 6.</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11 TEXTILES AND DESIGN · MODULE 6 · WEEKS 11–12</a:t>
            </a:r>
          </a:p>
        </p:txBody>
      </p:sp>
      <p:sp>
        <p:nvSpPr>
          <p:cNvPr id="5" name="">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c0b8507c2024b54"/>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What do you already know about fibre foundations, and what evidence would show it?</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514350"/>
            <a:ext cx="104775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Module 6: three connected ideas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Fibre classification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A fibre is the smallest textile unit from which yarns and fabrics can be formed.</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93129"/>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Molecular and morphological structure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Textile fibres are made from polymers , which are large molecules formed from repeating molecular units joined into…</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From fibre to textile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Textile materials can be understood as a hierarchy from fibre to yarn to fabric to textile product .</a:t>
            </a:r>
          </a:p>
        </p:txBody>
      </p:sp>
      <p:sp>
        <p:nvSpPr>
          <p:cNvPr id="19" name="">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190625"/>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Connect the three ideas, then justify one decision with evidence.</a:t>
            </a:r>
          </a:p>
        </p:txBody>
      </p:sp>
      <p:sp>
        <p:nvSpPr>
          <p:cNvPr id="20" name="">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Fibre classification</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A fibre is the smallest textile unit from which yarns and fabrics can be formed.</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Fibres can first be classified according to their origin.</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Natural fibres occur in nature and are grouped according to plant, animal or mineral origins .</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1983"/>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Classify several unfamiliar fibre examples and justify each classification using evidence about fibre origin and production.</a:t>
            </a:r>
          </a:p>
        </p:txBody>
      </p:sp>
      <p:sp>
        <p:nvSpPr>
          <p:cNvPr id="8" name="">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953266c8b494667"/>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fibre-classification tree beginning with fibres, branching to natural and manufactured fibres, dividing natural fibres into plant, animal and mineral and…</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Molecular and morphological structure</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Textile fibres are made from polymers , which are large molecules formed from repeating molecular units joined into chains.</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Different fibre families contain different kinds of polymers.</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Cellulose-based fibres contain cellulose polymers, protein-based fibres contain protein polymers, and synthetic fibres are made from…</a:t>
            </a:r>
          </a:p>
        </p:txBody>
      </p:sp>
      <p:sp>
        <p:nvSpPr>
          <p:cNvPr id="19" name="">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47240e625a10462e"/>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Explain how the structure of one fibre could contribute to one of its properties, using at least two pieces of structural evidence.</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From fibre to textile</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98671"/>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Textile materials can be understood as a hierarchy from fibre to yarn to fabric to textile product .</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Fibres are the basic units.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80261"/>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Before they become yarn or fabric, fibres may be prepared and aligned so they can be organised into a useful textile structure.</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81983"/>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Trace one fibre characteristic through the yarn, fabric and textile product levels and explain how other structural influences could modify its…</a:t>
            </a:r>
          </a:p>
        </p:txBody>
      </p:sp>
      <p:sp>
        <p:nvSpPr>
          <p:cNvPr id="8" name="">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3b6dfe6a83943c7"/>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layered flow diagram showing fibre preparation and alignment leading from fibre to yarn to fabric to textile product, with yarn structure, fabric…</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96628"/>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relationships—not isolated definitions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FIBRE CLASSIFICATION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How should a fibre blend be described accurately?</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93555"/>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MOLECULAR AND MORPHOLOGICAL STRUCTURE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is fibre length useful when explaining properties?</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FROM FIBRE TO TEXTILE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does product construction matter?</a:t>
            </a:r>
          </a:p>
        </p:txBody>
      </p:sp>
      <p:sp>
        <p:nvSpPr>
          <p:cNvPr id="19" name="">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sentence for each prompt.</a:t>
            </a:r>
          </a:p>
        </p:txBody>
      </p:sp>
      <p:sp>
        <p:nvSpPr>
          <p:cNvPr id="20" name="">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51435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uses evidence</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one fibre characteristic and describe its likely influence.</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how yarn structure could modify or support that…</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how fabric structure could further affect its expression.</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381250"/>
            <a:ext cx="2095500" cy="1600200"/>
          </a:xfrm>
          <a:prstGeom xmlns:a="http://schemas.openxmlformats.org/drawingml/2006/main" prst="rect">
            <a:avLst/>
          </a:prstGeom>
        </p:spPr>
        <p:txBody>
          <a:bodyPr xmlns:a="http://schemas.openxmlformats.org/drawingml/2006/main" lIns="38100" tIns="38100" rIns="38100" bIns="38100" anchor="ctr">
            <a:normAutofit fontScale="88101"/>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how finishing and product construction could influence final…</a:t>
            </a:r>
          </a:p>
        </p:txBody>
      </p:sp>
      <p:sp>
        <p:nvSpPr>
          <p:cNvPr id="8" name="">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219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6436"/>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Trace one fibre characteristic through the yarn, fabric and textile product levels and explain how…</a:t>
            </a:r>
          </a:p>
        </p:txBody>
      </p:sp>
      <p:sp>
        <p:nvSpPr>
          <p:cNvPr id="9" name="">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2657"/>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fibre characteristic I am tracing is ___. At the fibre level, this may contribute to ___. When the fibres form a…</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Module 6 evidence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87360"/>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from Module 6 you can now explain.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Save one supported response in My folio.</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Complete the Module 6 applied-practice activity.</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a9b71748c364c5a"/>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2026-08-18T17:28:40.6380000Z</dcterms:created>
  <dcterms:modified xsi:type="dcterms:W3CDTF">2026-08-18T17:28:40.6380000Z</dcterms:modified>
</coreProperties>
</file>
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8bb71052ff49f1" /><Relationship Type="http://schemas.openxmlformats.org/officeDocument/2006/relationships/extended-properties" Target="/docProps/app.xml" Id="Rb6531edb9e9841ee" /><Relationship Type="http://schemas.openxmlformats.org/officeDocument/2006/relationships/officeDocument" Target="/ppt/presentation.xml" Id="R81238ce93f9542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0c024949e46ca"/>
  </p:sldMasterIdLst>
  <p:notesMasterIdLst>
    <p:notesMasterId xmlns:r="http://schemas.openxmlformats.org/officeDocument/2006/relationships" r:id="R3b24ab9f09e8419b"/>
  </p:notesMasterIdLst>
  <p:sldIdLst>
    <p:sldId xmlns:r="http://schemas.openxmlformats.org/officeDocument/2006/relationships" id="256" r:id="R040723256ece453a"/>
    <p:sldId xmlns:r="http://schemas.openxmlformats.org/officeDocument/2006/relationships" id="257" r:id="R34d41820f0494442"/>
    <p:sldId xmlns:r="http://schemas.openxmlformats.org/officeDocument/2006/relationships" id="258" r:id="R6ef7f05f96fd4e09"/>
    <p:sldId xmlns:r="http://schemas.openxmlformats.org/officeDocument/2006/relationships" id="259" r:id="R717cda70b025422e"/>
    <p:sldId xmlns:r="http://schemas.openxmlformats.org/officeDocument/2006/relationships" id="260" r:id="Rde091d5634844664"/>
    <p:sldId xmlns:r="http://schemas.openxmlformats.org/officeDocument/2006/relationships" id="261" r:id="R471e66202e024c52"/>
    <p:sldId xmlns:r="http://schemas.openxmlformats.org/officeDocument/2006/relationships" id="262" r:id="R321a93aa0de545c7"/>
    <p:sldId xmlns:r="http://schemas.openxmlformats.org/officeDocument/2006/relationships" id="263" r:id="R88b05add3abf46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7bbf3768ff4780" /><Relationship Type="http://schemas.openxmlformats.org/officeDocument/2006/relationships/slideMaster" Target="/ppt/slideMasters/slideMaster1.xml" Id="R1620c024949e46ca" /><Relationship Type="http://schemas.openxmlformats.org/officeDocument/2006/relationships/notesMaster" Target="/ppt/notesMasters/notesMaster1.xml" Id="R3b24ab9f09e8419b" /><Relationship Type="http://schemas.openxmlformats.org/officeDocument/2006/relationships/presProps" Target="/ppt/presProps.xml" Id="Rd2fd1673087a481b" /><Relationship Type="http://schemas.openxmlformats.org/officeDocument/2006/relationships/tableStyles" Target="/ppt/tableStyles.xml" Id="Rafe693781f05462b" /><Relationship Type="http://schemas.openxmlformats.org/officeDocument/2006/relationships/slide" Target="/ppt/slides/slide1.xml" Id="R040723256ece453a" /><Relationship Type="http://schemas.openxmlformats.org/officeDocument/2006/relationships/slide" Target="/ppt/slides/slide2.xml" Id="R34d41820f0494442" /><Relationship Type="http://schemas.openxmlformats.org/officeDocument/2006/relationships/slide" Target="/ppt/slides/slide3.xml" Id="R6ef7f05f96fd4e09" /><Relationship Type="http://schemas.openxmlformats.org/officeDocument/2006/relationships/slide" Target="/ppt/slides/slide4.xml" Id="R717cda70b025422e" /><Relationship Type="http://schemas.openxmlformats.org/officeDocument/2006/relationships/slide" Target="/ppt/slides/slide5.xml" Id="Rde091d5634844664" /><Relationship Type="http://schemas.openxmlformats.org/officeDocument/2006/relationships/slide" Target="/ppt/slides/slide6.xml" Id="R471e66202e024c52" /><Relationship Type="http://schemas.openxmlformats.org/officeDocument/2006/relationships/slide" Target="/ppt/slides/slide7.xml" Id="R321a93aa0de545c7" /><Relationship Type="http://schemas.openxmlformats.org/officeDocument/2006/relationships/slide" Target="/ppt/slides/slide8.xml" Id="R88b05add3abf46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558d5f259e47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dea4b716094a99" /><Relationship Type="http://schemas.openxmlformats.org/officeDocument/2006/relationships/notesMaster" Target="/ppt/notesMasters/notesMaster1.xml" Id="R287828f3025d48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cf140fe5484fcf" /><Relationship Type="http://schemas.openxmlformats.org/officeDocument/2006/relationships/notesMaster" Target="/ppt/notesMasters/notesMaster1.xml" Id="R743d40f7ff0043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131f761dc64c4e" /><Relationship Type="http://schemas.openxmlformats.org/officeDocument/2006/relationships/notesMaster" Target="/ppt/notesMasters/notesMaster1.xml" Id="R13790395424441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a5cd8401c34c75" /><Relationship Type="http://schemas.openxmlformats.org/officeDocument/2006/relationships/notesMaster" Target="/ppt/notesMasters/notesMaster1.xml" Id="R686ec3091f2345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80b48a55294062" /><Relationship Type="http://schemas.openxmlformats.org/officeDocument/2006/relationships/notesMaster" Target="/ppt/notesMasters/notesMaster1.xml" Id="Re05f19aac41b49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ea729db8884a43" /><Relationship Type="http://schemas.openxmlformats.org/officeDocument/2006/relationships/notesMaster" Target="/ppt/notesMasters/notesMaster1.xml" Id="R2b89306abb7b4a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0fa4f9935f4620" /><Relationship Type="http://schemas.openxmlformats.org/officeDocument/2006/relationships/notesMaster" Target="/ppt/notesMasters/notesMaster1.xml" Id="Rbbc1deb56b2d4d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f9c93515d140d3" /><Relationship Type="http://schemas.openxmlformats.org/officeDocument/2006/relationships/notesMaster" Target="/ppt/notesMasters/notesMaster1.xml" Id="R33f94c7a971f48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retrieval question. Ask students to name an item, its user and its end use before judging appearance.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SRC-NESA-SYL-2013: Preliminary Design content.</a:t>
            </a:r>
          </a:p>
          <a:p xmlns:a="http://schemas.openxmlformats.org/drawingml/2006/main">
            <a:r>
              <a:t>- SRC-LOCAL-SCOPE-2023: Module 1 design foundations.</a:t>
            </a:r>
          </a:p>
          <a:p xmlns:a="http://schemas.openxmlformats.org/drawingml/2006/main">
            <a:r>
              <a:t>- Generated asset: textiles-design-workspace.png, built-in image-generation tool, 18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lenses as a reasoning sequence. A student should move from purpose to observable design evidence and then to a justified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SRC-NESA-SYL-2013: Design content and Preliminary outcomes P1.1–P1.2.</a:t>
            </a:r>
          </a:p>
          <a:p xmlns:a="http://schemas.openxmlformats.org/drawingml/2006/main">
            <a:r>
              <a:t>- work/student-course-foundation/course-data.js: Module 1 sections m01-s01 to m01-s03.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examples tied to one user and end use. Functional and aesthetic requirements should be explained together, not as disconnected lists.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SRC-NESA-SYL-2013: functional and aesthetic design; factors affecting design.</a:t>
            </a:r>
          </a:p>
          <a:p xmlns:a="http://schemas.openxmlformats.org/drawingml/2006/main">
            <a:r>
              <a:t>- work/student-course-foundation/course-data.js: section m01-s01.</a:t>
            </a:r>
          </a:p>
          <a:p xmlns:a="http://schemas.openxmlformats.org/drawingml/2006/main">
            <a:r>
              <a:t>- Course-owned visual: assets/design-lens.svg.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identify where each element appears before explaining its effect. Avoid accepting labels such as “nice colour” without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SRC-NESA-SYL-2013: elements of design.</a:t>
            </a:r>
          </a:p>
          <a:p xmlns:a="http://schemas.openxmlformats.org/drawingml/2006/main">
            <a:r>
              <a:t>- work/student-course-foundation/course-data.js: section m01-s02.</a:t>
            </a:r>
          </a:p>
          <a:p xmlns:a="http://schemas.openxmlformats.org/drawingml/2006/main">
            <a:r>
              <a:t>- Course-owned visual: assets/elements.svg.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one supported judgement: identify the principle, point to the elements and placement that create it, then link effectiveness to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SRC-NESA-SYL-2013: principles of design.</a:t>
            </a:r>
          </a:p>
          <a:p xmlns:a="http://schemas.openxmlformats.org/drawingml/2006/main">
            <a:r>
              <a:t>- work/student-course-foundation/course-data.js: section m01-s03.</a:t>
            </a:r>
          </a:p>
          <a:p xmlns:a="http://schemas.openxmlformats.org/drawingml/2006/main">
            <a:r>
              <a:t>- Course-owned visual: assets/principles.svg.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formative pause. Each prompt can be answered from slides 3–5. Do not display teacher-only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work/student-course-foundation/course-data.js: Module 1 theory and knowledge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student answer. Direct students back to the precise theory and visible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work/student-course-foundation/course-data.js: Module 1 written-response scaffolds.</a:t>
            </a:r>
          </a:p>
          <a:p xmlns:a="http://schemas.openxmlformats.org/drawingml/2006/main">
            <a:r>
              <a:t>- Read → Select → Explain → Check course routine.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a spoken or written exit response, then direct students to the Design-analysis studio and My folio. No formal submission condition is asserted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work/student-course-foundation/activities/module-01-design-analysis.html.</a:t>
            </a:r>
          </a:p>
          <a:p xmlns:a="http://schemas.openxmlformats.org/drawingml/2006/main">
            <a:r>
              <a:t>- work/student-course-foundation/folio.html.</a:t>
            </a:r>
          </a:p>
          <a:p xmlns:a="http://schemas.openxmlformats.org/drawingml/2006/main">
            <a:r>
              <a:t>- Generated asset: textiles-design-workspace.png, built-in image-generation tool, 18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2cbbce7464f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bf93cdf1964a63" /><Relationship Type="http://schemas.openxmlformats.org/officeDocument/2006/relationships/slideLayout" Target="/ppt/slideLayouts/slideLayout1.xml" Id="R5e5921e11b494c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5921e11b494c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0174ef160450f" /><Relationship Type="http://schemas.openxmlformats.org/officeDocument/2006/relationships/image" Target="/ppt/media/image.png" Id="Re5ff53e6145f4a16" /><Relationship Type="http://schemas.openxmlformats.org/officeDocument/2006/relationships/notesSlide" Target="/ppt/notesSlides/notesSlide1.xml" Id="R7c1865f6223d4e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3991cba934849" /><Relationship Type="http://schemas.openxmlformats.org/officeDocument/2006/relationships/notesSlide" Target="/ppt/notesSlides/notesSlide2.xml" Id="R18f3ba7f454946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547134e324105" /><Relationship Type="http://schemas.openxmlformats.org/officeDocument/2006/relationships/image" Target="/ppt/media/image2.png" Id="R53bcfd00e5864d76" /><Relationship Type="http://schemas.openxmlformats.org/officeDocument/2006/relationships/notesSlide" Target="/ppt/notesSlides/notesSlide3.xml" Id="Rf215f993e08b46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4d9bfbeb448a3" /><Relationship Type="http://schemas.openxmlformats.org/officeDocument/2006/relationships/image" Target="/ppt/media/image3.png" Id="Ra9b5109ab1c34dba" /><Relationship Type="http://schemas.openxmlformats.org/officeDocument/2006/relationships/notesSlide" Target="/ppt/notesSlides/notesSlide4.xml" Id="R2096b8e406a24a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6b6b9f724417a" /><Relationship Type="http://schemas.openxmlformats.org/officeDocument/2006/relationships/image" Target="/ppt/media/image4.png" Id="R0dea2adf681e4e41" /><Relationship Type="http://schemas.openxmlformats.org/officeDocument/2006/relationships/notesSlide" Target="/ppt/notesSlides/notesSlide5.xml" Id="Rb6dbac1c453f4c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1cee9ca774994" /><Relationship Type="http://schemas.openxmlformats.org/officeDocument/2006/relationships/notesSlide" Target="/ppt/notesSlides/notesSlide6.xml" Id="Rb116a98b1f5941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e073f3972414a" /><Relationship Type="http://schemas.openxmlformats.org/officeDocument/2006/relationships/notesSlide" Target="/ppt/notesSlides/notesSlide7.xml" Id="R84e8b82a34dd40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f96c4a49642ce" /><Relationship Type="http://schemas.openxmlformats.org/officeDocument/2006/relationships/image" Target="/ppt/media/image5.png" Id="Re0e9fe4977684bd8" /><Relationship Type="http://schemas.openxmlformats.org/officeDocument/2006/relationships/notesSlide" Target="/ppt/notesSlides/notesSlide8.xml" Id="R78b2a66ba95748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Design starts with a reason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Connect the user, end use, requirements, elements and principles before you judge a textile idea.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11 TEXTILES AND DESIGN · MODULE 1 · WEEKS 1–2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f53e6145f4a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Choose one textile item. What must it do, and what should it communicate?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lenses turn an idea into a justified decision</a:t>
            </a:r>
          </a:p>
        </p:txBody>
      </p:sp>
      <p:cxnSp>
        <p:nvCxnSpPr>
          <p:cNvPr id="31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Purpose and requirements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Who will use it? What must it do? Which functional and aesthetic requirements matter?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Elements of design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line, shape, size, texture, colour and value in the actual textile item.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Principles of design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 how proportion, balance, rhythm, emphasis, contrast, harmony or unity organise the elements.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purpose → visual ingredients → organised effect → evidence you can justify.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Start with the user, end use and requirements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Purpose identifies the user, end use and what a successful result must achieve.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Functional requirements cover performance: fit, comfort, strength, movement, care or durability.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Aesthetic requirements cover colour, shape, texture, style and the intended visual effect.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4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Compare one real item: link one functional and one aesthetic choice to the same user and purpose.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cfd00e5864d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the relationship: requirements and factors shape the textile decision; they do not replace judgement.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18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Elements are the ingredients you can point to</a:t>
            </a:r>
          </a:p>
        </p:txBody>
      </p:sp>
      <p:cxnSp>
        <p:nvCxnSpPr>
          <p:cNvPr id="33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Line and direction guide the eye through seams, piping, print or contours.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Shape and size establish form, scale and the relationship between parts.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Texture, colour and value influence how the textile looks, feels and communicates.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5109ab1c34d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Name two elements, locate them in one textile item and explain their combined effect.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11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Principles organise the elements into a coherent design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Proportion relates the size of one part to another and to the whole.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Balance and rhythm distribute visual weight and create movement.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Emphasis, contrast, harmony and unity control focus and connection.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Judge one principle against the intended user or purpose—not personal preference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a2adf681e4e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 design can use several principles together. Point to visible evidence before you make a judgement.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relationship—not just the definition</a:t>
            </a:r>
          </a:p>
        </p:txBody>
      </p:sp>
      <p:cxnSp>
        <p:nvCxnSpPr>
          <p:cNvPr id="31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70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PURPOSE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How can a textile item meet a functional and an aesthetic requirement at the same time?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20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ELEMENTS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Choose two elements. Where can you see them, and what combined effect do they create?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PRINCIPLES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Which principle organises one textile example most effectively, and what evidence supports your judgement?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sentence for each prompt.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Name the item, user and end use.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Choose a requirement, element or principle.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visible evidence to the design effect.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Support the final judgement and answer every part.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Explain how one textile design choice suits its intended user and end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In the ___ used by ___, the designer uses ___ through ___. This is effective because 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42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save a supported design judgement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759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textile decision you can now justify.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Record the evidence that makes your explanation convincing.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Complete the Design-analysis studio and review the response in My folio.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9fe4977684b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2026-08-18T02:12:11.5700000Z</dcterms:created>
  <dcterms:modified xsi:type="dcterms:W3CDTF">2026-08-18T02:12:11.5700000Z</dcterms:modified>
</coreProperties>
</file>
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f2a99b833e4b98" /><Relationship Type="http://schemas.openxmlformats.org/officeDocument/2006/relationships/extended-properties" Target="/docProps/app.xml" Id="R46af16f7f78d4373" /><Relationship Type="http://schemas.openxmlformats.org/officeDocument/2006/relationships/officeDocument" Target="/ppt/presentation.xml" Id="Rc9c8b354af7c47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554b51a3de4655"/>
  </p:sldMasterIdLst>
  <p:notesMasterIdLst>
    <p:notesMasterId xmlns:r="http://schemas.openxmlformats.org/officeDocument/2006/relationships" r:id="R6e781b01a91a4562"/>
  </p:notesMasterIdLst>
  <p:sldIdLst>
    <p:sldId xmlns:r="http://schemas.openxmlformats.org/officeDocument/2006/relationships" id="256" r:id="R6f94a2d86f464ab0"/>
    <p:sldId xmlns:r="http://schemas.openxmlformats.org/officeDocument/2006/relationships" id="257" r:id="R808e38ad060b4489"/>
    <p:sldId xmlns:r="http://schemas.openxmlformats.org/officeDocument/2006/relationships" id="258" r:id="Rf6d85ce6aa66490e"/>
    <p:sldId xmlns:r="http://schemas.openxmlformats.org/officeDocument/2006/relationships" id="259" r:id="R84ceaf372a504d92"/>
    <p:sldId xmlns:r="http://schemas.openxmlformats.org/officeDocument/2006/relationships" id="260" r:id="R387e0d6bbd4b458e"/>
    <p:sldId xmlns:r="http://schemas.openxmlformats.org/officeDocument/2006/relationships" id="261" r:id="R654d06077f4e4ab0"/>
    <p:sldId xmlns:r="http://schemas.openxmlformats.org/officeDocument/2006/relationships" id="262" r:id="Rcba8329acc114b7c"/>
    <p:sldId xmlns:r="http://schemas.openxmlformats.org/officeDocument/2006/relationships" id="263" r:id="Ra8faff1fedd440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5ed926486e402f" /><Relationship Type="http://schemas.openxmlformats.org/officeDocument/2006/relationships/slideMaster" Target="/ppt/slideMasters/slideMaster1.xml" Id="Rab554b51a3de4655" /><Relationship Type="http://schemas.openxmlformats.org/officeDocument/2006/relationships/notesMaster" Target="/ppt/notesMasters/notesMaster1.xml" Id="R6e781b01a91a4562" /><Relationship Type="http://schemas.openxmlformats.org/officeDocument/2006/relationships/presProps" Target="/ppt/presProps.xml" Id="R5f9009caf04d41d9" /><Relationship Type="http://schemas.openxmlformats.org/officeDocument/2006/relationships/tableStyles" Target="/ppt/tableStyles.xml" Id="R2b7244dce38a4182" /><Relationship Type="http://schemas.openxmlformats.org/officeDocument/2006/relationships/slide" Target="/ppt/slides/slide1.xml" Id="R6f94a2d86f464ab0" /><Relationship Type="http://schemas.openxmlformats.org/officeDocument/2006/relationships/slide" Target="/ppt/slides/slide2.xml" Id="R808e38ad060b4489" /><Relationship Type="http://schemas.openxmlformats.org/officeDocument/2006/relationships/slide" Target="/ppt/slides/slide3.xml" Id="Rf6d85ce6aa66490e" /><Relationship Type="http://schemas.openxmlformats.org/officeDocument/2006/relationships/slide" Target="/ppt/slides/slide4.xml" Id="R84ceaf372a504d92" /><Relationship Type="http://schemas.openxmlformats.org/officeDocument/2006/relationships/slide" Target="/ppt/slides/slide5.xml" Id="R387e0d6bbd4b458e" /><Relationship Type="http://schemas.openxmlformats.org/officeDocument/2006/relationships/slide" Target="/ppt/slides/slide6.xml" Id="R654d06077f4e4ab0" /><Relationship Type="http://schemas.openxmlformats.org/officeDocument/2006/relationships/slide" Target="/ppt/slides/slide7.xml" Id="Rcba8329acc114b7c" /><Relationship Type="http://schemas.openxmlformats.org/officeDocument/2006/relationships/slide" Target="/ppt/slides/slide8.xml" Id="Ra8faff1fedd440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054bf8028143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58827b06454e5a" /><Relationship Type="http://schemas.openxmlformats.org/officeDocument/2006/relationships/notesMaster" Target="/ppt/notesMasters/notesMaster1.xml" Id="Rc6c87b1fbcdf49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09485ce2b14314" /><Relationship Type="http://schemas.openxmlformats.org/officeDocument/2006/relationships/notesMaster" Target="/ppt/notesMasters/notesMaster1.xml" Id="R9d3558c1b0ca4b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ac0defd04c445e" /><Relationship Type="http://schemas.openxmlformats.org/officeDocument/2006/relationships/notesMaster" Target="/ppt/notesMasters/notesMaster1.xml" Id="R047b1e49627f40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c11eae483e4aa9" /><Relationship Type="http://schemas.openxmlformats.org/officeDocument/2006/relationships/notesMaster" Target="/ppt/notesMasters/notesMaster1.xml" Id="Rd373aa240e3c43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741d24426e48f8" /><Relationship Type="http://schemas.openxmlformats.org/officeDocument/2006/relationships/notesMaster" Target="/ppt/notesMasters/notesMaster1.xml" Id="R8061ef732b3944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0869b94d83405e" /><Relationship Type="http://schemas.openxmlformats.org/officeDocument/2006/relationships/notesMaster" Target="/ppt/notesMasters/notesMaster1.xml" Id="R2b4e57303aa246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c25aeb426d4846" /><Relationship Type="http://schemas.openxmlformats.org/officeDocument/2006/relationships/notesMaster" Target="/ppt/notesMasters/notesMaster1.xml" Id="R43bb410abb354c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db94d4d6fa4cd4" /><Relationship Type="http://schemas.openxmlformats.org/officeDocument/2006/relationships/notesMaster" Target="/ppt/notesMasters/notesMaster1.xml" Id="R79d4c9b5075c4e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Module 11 and ask the retrieval prompt before showing the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SRC-NESA-SYL-2013: Year 11 Preliminary Textiles and Design syllabus.</a:t>
            </a:r>
          </a:p>
          <a:p xmlns:a="http://schemas.openxmlformats.org/drawingml/2006/main">
            <a:r>
              <a:t>- THEORY-QUESTION-MANIFEST-v1: Module 11 named sections.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ideas as a cumulative learning pathway rather than an agenda.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Theory files m11-s01 to s03.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m11-s01.json.</a:t>
            </a:r>
          </a:p>
          <a:p xmlns:a="http://schemas.openxmlformats.org/drawingml/2006/main">
            <a:r>
              <a:t>- Generated course diagram: m11-s01.png; source-bound visual brief: Create a criteria-ranking diagram grouping aesthetic, durability, comfort, stability and care properties around a central user-and-end-use requirement, with arrows showing prioritisation and possible trade-offs between competing properties.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m11-s02.json.</a:t>
            </a:r>
          </a:p>
          <a:p xmlns:a="http://schemas.openxmlformats.org/drawingml/2006/main">
            <a:r>
              <a:t>- Generated course diagram: m11-s02.png; source-bound visual brief: Create a fair-test planning diagram linking a testable aim to independent, dependent and controlled variables, then to representative samples, consistent handling, repeats, measurement with units, validity, reliability and a clearly repeatable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m11-s03.json.</a:t>
            </a:r>
          </a:p>
          <a:p xmlns:a="http://schemas.openxmlformats.org/drawingml/2006/main">
            <a:r>
              <a:t>- Generated course diagram: m11-s03.png; source-bound visual brief: Create an evidence-interpretation flow diagram showing raw repeated results moving into a labelled table, optional mean and suitable graph, then pattern, anomaly and limitation identification before a conclusion that directly answers the original 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as formative retrieval prompts. Each is answerable from slides 3–5.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11 theory and knowledge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student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11 written-response scaffold.</a:t>
            </a:r>
          </a:p>
          <a:p xmlns:a="http://schemas.openxmlformats.org/drawingml/2006/main">
            <a:r>
              <a:t>- Read → Select → Explain → Check course routine.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students to the Module 11 activity and My folio. No formal submission condition is asserted.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route busy-work/activity-11.html.</a:t>
            </a:r>
          </a:p>
          <a:p xmlns:a="http://schemas.openxmlformats.org/drawingml/2006/main">
            <a:r>
              <a:t>- Course route folio.html.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e4103863b249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96a612d1994024" /><Relationship Type="http://schemas.openxmlformats.org/officeDocument/2006/relationships/slideLayout" Target="/ppt/slideLayouts/slideLayout1.xml" Id="R6c162e7e010341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162e7e010341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e1198459c4060" /><Relationship Type="http://schemas.openxmlformats.org/officeDocument/2006/relationships/image" Target="/ppt/media/image.png" Id="Rd3f63ad1556c4411" /><Relationship Type="http://schemas.openxmlformats.org/officeDocument/2006/relationships/notesSlide" Target="/ppt/notesSlides/notesSlide1.xml" Id="Rc85c320ae7a246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ee59bb52f4752" /><Relationship Type="http://schemas.openxmlformats.org/officeDocument/2006/relationships/notesSlide" Target="/ppt/notesSlides/notesSlide2.xml" Id="R7cab7b832ff441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db6c154514566" /><Relationship Type="http://schemas.openxmlformats.org/officeDocument/2006/relationships/image" Target="/ppt/media/image2.png" Id="Rf361886531fc4d4d" /><Relationship Type="http://schemas.openxmlformats.org/officeDocument/2006/relationships/notesSlide" Target="/ppt/notesSlides/notesSlide3.xml" Id="R740c1a7939a74b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3acf975094edd" /><Relationship Type="http://schemas.openxmlformats.org/officeDocument/2006/relationships/image" Target="/ppt/media/image3.png" Id="R38988eb4430f44ac" /><Relationship Type="http://schemas.openxmlformats.org/officeDocument/2006/relationships/notesSlide" Target="/ppt/notesSlides/notesSlide4.xml" Id="R2941da7276144d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a18eb9ff54d57" /><Relationship Type="http://schemas.openxmlformats.org/officeDocument/2006/relationships/image" Target="/ppt/media/image4.png" Id="R45bd2566f1554f6a" /><Relationship Type="http://schemas.openxmlformats.org/officeDocument/2006/relationships/notesSlide" Target="/ppt/notesSlides/notesSlide5.xml" Id="R510124ea1f3346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f0c0eb7f349d9" /><Relationship Type="http://schemas.openxmlformats.org/officeDocument/2006/relationships/notesSlide" Target="/ppt/notesSlides/notesSlide6.xml" Id="R7bee93519b7d47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ccd3de4f54b66" /><Relationship Type="http://schemas.openxmlformats.org/officeDocument/2006/relationships/notesSlide" Target="/ppt/notesSlides/notesSlide7.xml" Id="R3a0cb0bb62b545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5153c58824f44" /><Relationship Type="http://schemas.openxmlformats.org/officeDocument/2006/relationships/image" Target="/ppt/media/image5.png" Id="R4b0c32274c27406e" /><Relationship Type="http://schemas.openxmlformats.org/officeDocument/2006/relationships/notesSlide" Target="/ppt/notesSlides/notesSlide8.xml" Id="R4684c3fbf6a24c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77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Textile properties and testing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Use three connected ideas to explain, apply and justify the learning in Module 11.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11 TEXTILES AND DESIGN · MODULE 11 · WEEKS 21–22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63ad1556c44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 about textile properties and testing, and what evidence would show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Module 11: three connected ideas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Properties and end use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Textile properties can be grouped into aesthetic, durability, comfort, stability and care characteristics.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Planning a fair textile test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 fair textile investigation begins by turning a property question into a testable aim 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Recording and interpreting results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Textile test results should be recorded in a clear and organised way.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Connect the three ideas, then justify one decision with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Properties and end use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89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Textile properties can be grouped into aesthetic, durability, comfort, stability and care characteristics.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Aesthetic properties include features such as lustre, handle and drape.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Durability includes properties such as strength and resistance to abrasion, while comfort can involve absorbency and thermal behaviour.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Rank the textile properties that would be most important for one unfamiliar end use and justify your ranking using clear criteria.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1886531fc4d4d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criteria-ranking diagram grouping aesthetic, durability, comfort, stability and care properties around a central user-and-end-use requirement, with arrows…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Planning a fair textile test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 fair textile investigation begins by turning a property question into a testable aim 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The aim should identify what is being changed and what will be measured.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5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The independent variable is the factor deliberately changed between samples, the dependent variable is the measured response, and…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88eb4430f44ac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Design a fair comparative textile test plan at the conceptual level for investigating one property in two textile samples.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Recording and interpreting results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Textile test results should be recorded in a clear and organised way.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Tables should use descriptive headings and include units where measurements require them.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Repeated results can show variation between trials, while a summary measure such as the mean may be useful when it fairly represents…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Interpret a simple set of textile test results and write a defensible conclusion that includes one identified pattern, one anomaly and one limitation.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d2566f1554f6a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an evidence-interpretation flow diagram showing raw repeated results moving into a labelled table, optional mean and suitable graph, then pattern, anomaly…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6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relationships—not isolated definitions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PROPERTIES AND END USE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should guide the selection of textile properties for an unfamiliar end use?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PLANNING A FAIR TEXTILE TEST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best supports reliability?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RECORDING AND INTERPRETING RESULTS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Why should limitations be included when interpreting results?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sentence for each prompt.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uses evidence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main pattern or comparison shown by the results.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7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one anomaly and explain why it stands out.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State one limitation that may affect confidence in the interpretation.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Write a conclusion that answers the aim and stays within the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5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Interpret a simple set of textile test results and write a defensible conclusion that includes one…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06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main pattern in the results is ___. One anomalous result is ___ because ___. A possible limitation is ___, which…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Module 11 evidence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3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from Module 11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Save one supported response in My folio.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Complete the Module 11 applied-practice activity.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c32274c2740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2026-08-18T17:28:55.5000000Z</dcterms:created>
  <dcterms:modified xsi:type="dcterms:W3CDTF">2026-08-18T17:28:55.5000000Z</dcterms:modified>
</coreProperties>
</file>
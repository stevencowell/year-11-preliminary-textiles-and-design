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b027a2b9f48dd" /><Relationship Type="http://schemas.openxmlformats.org/officeDocument/2006/relationships/extended-properties" Target="/docProps/app.xml" Id="R420500eeac174ec0" /><Relationship Type="http://schemas.openxmlformats.org/officeDocument/2006/relationships/officeDocument" Target="/ppt/presentation.xml" Id="Rfd5eca3bc39d4a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225ad4f1e44bc0"/>
  </p:sldMasterIdLst>
  <p:notesMasterIdLst>
    <p:notesMasterId xmlns:r="http://schemas.openxmlformats.org/officeDocument/2006/relationships" r:id="Rb1630cf35a814e5e"/>
  </p:notesMasterIdLst>
  <p:sldIdLst>
    <p:sldId xmlns:r="http://schemas.openxmlformats.org/officeDocument/2006/relationships" id="256" r:id="R7366d878e13341c3"/>
    <p:sldId xmlns:r="http://schemas.openxmlformats.org/officeDocument/2006/relationships" id="257" r:id="Re91101811d2d4629"/>
    <p:sldId xmlns:r="http://schemas.openxmlformats.org/officeDocument/2006/relationships" id="258" r:id="Rffb9d11779f2462c"/>
    <p:sldId xmlns:r="http://schemas.openxmlformats.org/officeDocument/2006/relationships" id="259" r:id="R0e1f06e98e214ab9"/>
    <p:sldId xmlns:r="http://schemas.openxmlformats.org/officeDocument/2006/relationships" id="260" r:id="R15bf92c09c474106"/>
    <p:sldId xmlns:r="http://schemas.openxmlformats.org/officeDocument/2006/relationships" id="261" r:id="R56a8ec8001d34ed2"/>
    <p:sldId xmlns:r="http://schemas.openxmlformats.org/officeDocument/2006/relationships" id="262" r:id="R0f72bc3057714017"/>
    <p:sldId xmlns:r="http://schemas.openxmlformats.org/officeDocument/2006/relationships" id="263" r:id="R1607f3077aad4d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c4070cab2c4e2a" /><Relationship Type="http://schemas.openxmlformats.org/officeDocument/2006/relationships/slideMaster" Target="/ppt/slideMasters/slideMaster1.xml" Id="Rb2225ad4f1e44bc0" /><Relationship Type="http://schemas.openxmlformats.org/officeDocument/2006/relationships/notesMaster" Target="/ppt/notesMasters/notesMaster1.xml" Id="Rb1630cf35a814e5e" /><Relationship Type="http://schemas.openxmlformats.org/officeDocument/2006/relationships/presProps" Target="/ppt/presProps.xml" Id="Rb6db6b960e74425a" /><Relationship Type="http://schemas.openxmlformats.org/officeDocument/2006/relationships/tableStyles" Target="/ppt/tableStyles.xml" Id="Rce409a40df974d52" /><Relationship Type="http://schemas.openxmlformats.org/officeDocument/2006/relationships/slide" Target="/ppt/slides/slide1.xml" Id="R7366d878e13341c3" /><Relationship Type="http://schemas.openxmlformats.org/officeDocument/2006/relationships/slide" Target="/ppt/slides/slide2.xml" Id="Re91101811d2d4629" /><Relationship Type="http://schemas.openxmlformats.org/officeDocument/2006/relationships/slide" Target="/ppt/slides/slide3.xml" Id="Rffb9d11779f2462c" /><Relationship Type="http://schemas.openxmlformats.org/officeDocument/2006/relationships/slide" Target="/ppt/slides/slide4.xml" Id="R0e1f06e98e214ab9" /><Relationship Type="http://schemas.openxmlformats.org/officeDocument/2006/relationships/slide" Target="/ppt/slides/slide5.xml" Id="R15bf92c09c474106" /><Relationship Type="http://schemas.openxmlformats.org/officeDocument/2006/relationships/slide" Target="/ppt/slides/slide6.xml" Id="R56a8ec8001d34ed2" /><Relationship Type="http://schemas.openxmlformats.org/officeDocument/2006/relationships/slide" Target="/ppt/slides/slide7.xml" Id="R0f72bc3057714017" /><Relationship Type="http://schemas.openxmlformats.org/officeDocument/2006/relationships/slide" Target="/ppt/slides/slide8.xml" Id="R1607f3077aad4d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9fca9a4e1d4d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62bf0d19f1440e" /><Relationship Type="http://schemas.openxmlformats.org/officeDocument/2006/relationships/notesMaster" Target="/ppt/notesMasters/notesMaster1.xml" Id="Re655ee6631f542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eb564dc2034bf1" /><Relationship Type="http://schemas.openxmlformats.org/officeDocument/2006/relationships/notesMaster" Target="/ppt/notesMasters/notesMaster1.xml" Id="Rca0d2a54c320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45c887efa24843" /><Relationship Type="http://schemas.openxmlformats.org/officeDocument/2006/relationships/notesMaster" Target="/ppt/notesMasters/notesMaster1.xml" Id="R1e8dc704c0a246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b5aae8c96b4812" /><Relationship Type="http://schemas.openxmlformats.org/officeDocument/2006/relationships/notesMaster" Target="/ppt/notesMasters/notesMaster1.xml" Id="Rfded02d4c8ee4f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a9c5c8298b415a" /><Relationship Type="http://schemas.openxmlformats.org/officeDocument/2006/relationships/notesMaster" Target="/ppt/notesMasters/notesMaster1.xml" Id="Rc7e389a467cf4c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e15c6007c143b2" /><Relationship Type="http://schemas.openxmlformats.org/officeDocument/2006/relationships/notesMaster" Target="/ppt/notesMasters/notesMaster1.xml" Id="Reeaa230fdafa40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f91532ed104cfb" /><Relationship Type="http://schemas.openxmlformats.org/officeDocument/2006/relationships/notesMaster" Target="/ppt/notesMasters/notesMaster1.xml" Id="R348f2f7e1b7147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ef3fb716544d7" /><Relationship Type="http://schemas.openxmlformats.org/officeDocument/2006/relationships/notesMaster" Target="/ppt/notesMasters/notesMaster1.xml" Id="R62fb309d8239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7 and ask the retrieval prompt before showing the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SRC-NESA-SYL-2013: Year 11 Preliminary Textiles and Design syllabus.</a:t>
            </a:r>
          </a:p>
          <a:p xmlns:a="http://schemas.openxmlformats.org/drawingml/2006/main">
            <a:r>
              <a:t>- THEORY-QUESTION-MANIFEST-v1: Module 7 named sections.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ideas as a cumulative learning pathway rather than an agenda.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Theory files m07-s01 to s03.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m07-s01.json.</a:t>
            </a:r>
          </a:p>
          <a:p xmlns:a="http://schemas.openxmlformats.org/drawingml/2006/main">
            <a:r>
              <a:t>- Generated course diagram: m07-s01.png; source-bound visual brief: Create a comparison diagram showing cotton as a seed-based cellulosic fibre and linen as a flax-stem cellulosic fibre, linking differences in morphology to typical absorbency, comfort, strength and creasing tendencies, with a final end-use selection decision based 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m07-s02.json.</a:t>
            </a:r>
          </a:p>
          <a:p xmlns:a="http://schemas.openxmlformats.org/drawingml/2006/main">
            <a:r>
              <a:t>- Generated course diagram: m07-s02.png; source-bound visual brief: Create a comparison diagram showing wool as a crimped, scaly staple protein fibre and silk as a smooth continuous protein filament, linking their structural differences to typical warmth, resilience, lustre, drape, absorbency and care considerations.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named section, then ask students to point to evidence in the diagram before attempting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SRC-NESA-SYL-2013.</a:t>
            </a:r>
          </a:p>
          <a:p xmlns:a="http://schemas.openxmlformats.org/drawingml/2006/main">
            <a:r>
              <a:t>- m07-s03.json.</a:t>
            </a:r>
          </a:p>
          <a:p xmlns:a="http://schemas.openxmlformats.org/drawingml/2006/main">
            <a:r>
              <a:t>- Generated course diagram: m07-s03.png; source-bound visual brief: Create a comparison diagram separating regenerated cellulosic fibres from synthetic fibres, linking viscose and lyocell to cellulose and polyester and nylon to manufactured polymers, then showing blends as proportion-dependent combinations and lifecycle evidence as a separate requirement for environmental judgement.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formative retrieval prompts. Each is answerable from slides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7 theory and knowledge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student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 7 written-response scaffold.</a:t>
            </a:r>
          </a:p>
          <a:p xmlns:a="http://schemas.openxmlformats.org/drawingml/2006/main">
            <a:r>
              <a:t>- Read → Select → Explain → Check course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students to the Module 7 activity and My folio. No formal submission condition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route busy-work/activity-07.html.</a:t>
            </a:r>
          </a:p>
          <a:p xmlns:a="http://schemas.openxmlformats.org/drawingml/2006/main">
            <a:r>
              <a:t>- Course route folio.html.</a:t>
            </a:r>
          </a:p>
          <a:p xmlns:a="http://schemas.openxmlformats.org/drawingml/2006/main">
            <a:r>
              <a:t>- Course-owned image: textiles-design-workspace.png.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04e42146241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fb2266b6540f4" /><Relationship Type="http://schemas.openxmlformats.org/officeDocument/2006/relationships/slideLayout" Target="/ppt/slideLayouts/slideLayout1.xml" Id="Rec9b9e3e699f46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9b9e3e699f46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f1305de1649b1" /><Relationship Type="http://schemas.openxmlformats.org/officeDocument/2006/relationships/image" Target="/ppt/media/image.png" Id="R3ec746f1e113454e" /><Relationship Type="http://schemas.openxmlformats.org/officeDocument/2006/relationships/notesSlide" Target="/ppt/notesSlides/notesSlide1.xml" Id="R2928e152dce64f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750d32a504396" /><Relationship Type="http://schemas.openxmlformats.org/officeDocument/2006/relationships/notesSlide" Target="/ppt/notesSlides/notesSlide2.xml" Id="R42054d1b5d16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ca0edabf64fef" /><Relationship Type="http://schemas.openxmlformats.org/officeDocument/2006/relationships/image" Target="/ppt/media/image2.png" Id="R01cb7d74b6454b97" /><Relationship Type="http://schemas.openxmlformats.org/officeDocument/2006/relationships/notesSlide" Target="/ppt/notesSlides/notesSlide3.xml" Id="Rf2e0c70c9e8c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624c8e8174044" /><Relationship Type="http://schemas.openxmlformats.org/officeDocument/2006/relationships/image" Target="/ppt/media/image3.png" Id="R6ab40c3d08a547a0" /><Relationship Type="http://schemas.openxmlformats.org/officeDocument/2006/relationships/notesSlide" Target="/ppt/notesSlides/notesSlide4.xml" Id="Rc09e8f048d1542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f6184a31e4760" /><Relationship Type="http://schemas.openxmlformats.org/officeDocument/2006/relationships/image" Target="/ppt/media/image4.png" Id="R643191d313d2454f" /><Relationship Type="http://schemas.openxmlformats.org/officeDocument/2006/relationships/notesSlide" Target="/ppt/notesSlides/notesSlide5.xml" Id="R6accf2e56f2d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9f4f7f29547c1" /><Relationship Type="http://schemas.openxmlformats.org/officeDocument/2006/relationships/notesSlide" Target="/ppt/notesSlides/notesSlide6.xml" Id="R2bf92aff559540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5ad132bb54fc0" /><Relationship Type="http://schemas.openxmlformats.org/officeDocument/2006/relationships/notesSlide" Target="/ppt/notesSlides/notesSlide7.xml" Id="Rc62b7689ddbd48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36e78125c443f" /><Relationship Type="http://schemas.openxmlformats.org/officeDocument/2006/relationships/image" Target="/ppt/media/image5.png" Id="R96d6f78475794506" /><Relationship Type="http://schemas.openxmlformats.org/officeDocument/2006/relationships/notesSlide" Target="/ppt/notesSlides/notesSlide8.xml" Id="Re9c742c9a7fa49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Natural and manufactured fibres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three connected ideas to explain, apply and justify the learning in Module 7.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11 TEXTILES AND DESIGN · MODULE 7 · WEEKS 13–14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746f1e11345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85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 about natural and manufactured fibres, and what evidence would show it?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Module 7: three connected ideas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Natural cellulosic fibres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Cotton and linen are natural cellulosic fibres because their main structural material is cellulose.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Natural protein fibres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Wool and silk are natural protein fibres obtained from animal sources.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3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Regenerated, synthetic and blended fibres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Regenerated and synthetic fibres are both manufactured fibres, but they are produced from different types of raw…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Connect the three ideas, then justify one decision with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Natural cellulosic fibres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Cotton and linen are natural cellulosic fibres because their main structural material is cellulose.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44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Cotton fibres develop around the seeds of the cotton plant, while linen fibres are obtained from the stem of the flax plant.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7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Cotton fibres are relatively short and commonly show natural twists, while flax fibres are longer, straighter and have a more rigid…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Compare cotton and linen for a stated textile end-use requirement and justify which fibre would be more suitable.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b7d74b6454b97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comparison diagram showing cotton as a seed-based cellulosic fibre and linen as a flax-stem cellulosic fibre, linking differences in morphology to typical…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Natural protein fibres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Wool and silk are natural protein fibres obtained from animal sources.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Wool is typically produced as a staple fibre, meaning the fibres are relatively short, while silk is naturally produced as a…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Wool fibres generally have a scaly surface and natural crimp, while silk filaments are typically smoother and straighter.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40c3d08a547a0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Choose between wool and silk for a specified textile context that has both a performance requirement and an appearance requirement, and justify your…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Regenerated, synthetic and blended fibres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05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Regenerated and synthetic fibres are both manufactured fibres, but they are produced from different types of raw material.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20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Regenerated cellulosic fibres such as viscose and lyocell are made by processing cellulose and forming it into new fibres.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Synthetic fibres such as polyester and nylon are made from manufactured polymers.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Compare two manufactured fibre choices, or one manufactured fibre with a blend, for a stated textile end-use requirement using both property…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191d313d2454f"/>
          <a:stretch xmlns:a="http://schemas.openxmlformats.org/drawingml/2006/main"/>
        </p:blipFill>
        <p:spPr>
          <a:xfrm xmlns:a="http://schemas.openxmlformats.org/drawingml/2006/main" flipH="0" flipV="0">
            <a:off x="6200775" y="1210270"/>
            <a:ext cx="5314950" cy="2989659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Create a comparison diagram separating regenerated cellulosic fibres from synthetic fibres, linking viscose and lyocell to cellulose and polyester and nylon to…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6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relationships—not isolated definitions</a:t>
            </a:r>
          </a:p>
        </p:txBody>
      </p:sp>
      <p:cxnSp>
        <p:nvCxnSpPr>
          <p:cNvPr id="34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NATURAL CELLULOSIC FIBRES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How can a finish affect a natural cellulosic textile?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NATURAL PROTEIN FIBRES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Why might two wool fabrics have different properties?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REGENERATED, SYNTHETIC AND BLENDED FIBRES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best basis for an environmental comparison between fibres?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sentence for each prompt.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uses evidence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end-use requirements and the two fibre options being…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Compare relevant property evidence for each option.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Consider how proportions, textile structure, finish or lifecycle…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Justify the preferred option while acknowledging any limitation or…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21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Compare two manufactured fibre choices, or one manufactured fibre with a blend, for a stated textile…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5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For an end use requiring ___, I would compare ___ and ___. The first option typically ___, while the second…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Module 7 evidence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73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from Module 7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Save one supported response in My folio.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Complete the Module 7 applied-practice activity.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6f784757945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2026-08-18T17:28:44.0090000Z</dcterms:created>
  <dcterms:modified xsi:type="dcterms:W3CDTF">2026-08-18T17:28:44.0090000Z</dcterms:modified>
</coreProperties>
</file>
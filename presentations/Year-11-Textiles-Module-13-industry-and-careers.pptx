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952e252ceb468f" /><Relationship Type="http://schemas.openxmlformats.org/officeDocument/2006/relationships/extended-properties" Target="/docProps/app.xml" Id="Re9988c40a4664da7" /><Relationship Type="http://schemas.openxmlformats.org/officeDocument/2006/relationships/officeDocument" Target="/ppt/presentation.xml" Id="Ref33a5686d9d48ff" /></Relationships>
</file>

<file path=ppt/presentation.xml><?xml version="1.0" encoding="utf-8"?>
<p:presentation xmlns:p="http://schemas.openxmlformats.org/presentationml/2006/main">
  <p:sldMasterIdLst>
    <p:sldMasterId xmlns:r="http://schemas.openxmlformats.org/officeDocument/2006/relationships" id="2147483648" r:id="Re42b62435b4942fa"/>
  </p:sldMasterIdLst>
  <p:notesMasterIdLst>
    <p:notesMasterId xmlns:r="http://schemas.openxmlformats.org/officeDocument/2006/relationships" r:id="R0dc853d281a8444e"/>
  </p:notesMasterIdLst>
  <p:sldIdLst>
    <p:sldId xmlns:r="http://schemas.openxmlformats.org/officeDocument/2006/relationships" id="256" r:id="R64083b0b7ede404d"/>
    <p:sldId xmlns:r="http://schemas.openxmlformats.org/officeDocument/2006/relationships" id="257" r:id="R6c405d3d386f47e4"/>
    <p:sldId xmlns:r="http://schemas.openxmlformats.org/officeDocument/2006/relationships" id="258" r:id="R42d85e47f1df4300"/>
    <p:sldId xmlns:r="http://schemas.openxmlformats.org/officeDocument/2006/relationships" id="259" r:id="Rb699d8a18f2b42bc"/>
    <p:sldId xmlns:r="http://schemas.openxmlformats.org/officeDocument/2006/relationships" id="260" r:id="R20c3c4fbfe7d4e56"/>
    <p:sldId xmlns:r="http://schemas.openxmlformats.org/officeDocument/2006/relationships" id="261" r:id="R015c5e7c15d149af"/>
    <p:sldId xmlns:r="http://schemas.openxmlformats.org/officeDocument/2006/relationships" id="262" r:id="R436e1644b22841e8"/>
    <p:sldId xmlns:r="http://schemas.openxmlformats.org/officeDocument/2006/relationships" id="263" r:id="R5c2148d97d9e4e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e59e631ca1462f" /><Relationship Type="http://schemas.openxmlformats.org/officeDocument/2006/relationships/slideMaster" Target="/ppt/slideMasters/slideMaster1.xml" Id="Re42b62435b4942fa" /><Relationship Type="http://schemas.openxmlformats.org/officeDocument/2006/relationships/notesMaster" Target="/ppt/notesMasters/notesMaster1.xml" Id="R0dc853d281a8444e" /><Relationship Type="http://schemas.openxmlformats.org/officeDocument/2006/relationships/presProps" Target="/ppt/presProps.xml" Id="R38f61c4543014f36" /><Relationship Type="http://schemas.openxmlformats.org/officeDocument/2006/relationships/tableStyles" Target="/ppt/tableStyles.xml" Id="R08732d5577254a22" /><Relationship Type="http://schemas.openxmlformats.org/officeDocument/2006/relationships/slide" Target="/ppt/slides/slide1.xml" Id="R64083b0b7ede404d" /><Relationship Type="http://schemas.openxmlformats.org/officeDocument/2006/relationships/slide" Target="/ppt/slides/slide2.xml" Id="R6c405d3d386f47e4" /><Relationship Type="http://schemas.openxmlformats.org/officeDocument/2006/relationships/slide" Target="/ppt/slides/slide3.xml" Id="R42d85e47f1df4300" /><Relationship Type="http://schemas.openxmlformats.org/officeDocument/2006/relationships/slide" Target="/ppt/slides/slide4.xml" Id="Rb699d8a18f2b42bc" /><Relationship Type="http://schemas.openxmlformats.org/officeDocument/2006/relationships/slide" Target="/ppt/slides/slide5.xml" Id="R20c3c4fbfe7d4e56" /><Relationship Type="http://schemas.openxmlformats.org/officeDocument/2006/relationships/slide" Target="/ppt/slides/slide6.xml" Id="R015c5e7c15d149af" /><Relationship Type="http://schemas.openxmlformats.org/officeDocument/2006/relationships/slide" Target="/ppt/slides/slide7.xml" Id="R436e1644b22841e8" /><Relationship Type="http://schemas.openxmlformats.org/officeDocument/2006/relationships/slide" Target="/ppt/slides/slide8.xml" Id="R5c2148d97d9e4e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6262c2bac444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0c5b23ebec4cf6" /><Relationship Type="http://schemas.openxmlformats.org/officeDocument/2006/relationships/notesMaster" Target="/ppt/notesMasters/notesMaster1.xml" Id="R571f755680fa45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61b7efaeca4f16" /><Relationship Type="http://schemas.openxmlformats.org/officeDocument/2006/relationships/notesMaster" Target="/ppt/notesMasters/notesMaster1.xml" Id="Rd70120ee3db442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2e0a6d45494b24" /><Relationship Type="http://schemas.openxmlformats.org/officeDocument/2006/relationships/notesMaster" Target="/ppt/notesMasters/notesMaster1.xml" Id="R502f6a2813ba4a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2412ee54644429" /><Relationship Type="http://schemas.openxmlformats.org/officeDocument/2006/relationships/notesMaster" Target="/ppt/notesMasters/notesMaster1.xml" Id="R6236fdd291ae42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6280dfe3f74178" /><Relationship Type="http://schemas.openxmlformats.org/officeDocument/2006/relationships/notesMaster" Target="/ppt/notesMasters/notesMaster1.xml" Id="Rdfd133012e014b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5e8390151e4db3" /><Relationship Type="http://schemas.openxmlformats.org/officeDocument/2006/relationships/notesMaster" Target="/ppt/notesMasters/notesMaster1.xml" Id="R22dacde1669c4b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7ec9f62df74c14" /><Relationship Type="http://schemas.openxmlformats.org/officeDocument/2006/relationships/notesMaster" Target="/ppt/notesMasters/notesMaster1.xml" Id="Rd617c3ab4ca543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e112a628c64405" /><Relationship Type="http://schemas.openxmlformats.org/officeDocument/2006/relationships/notesMaster" Target="/ppt/notesMasters/notesMaster1.xml" Id="R7490b88fcde241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Module 13 and ask the retrieval prompt before showing the learning map.</a:t>
            </a:r>
          </a:p>
          <a:p xmlns:a="http://schemas.openxmlformats.org/drawingml/2006/main">
            <a:r>
              <a:t/>
            </a:r>
          </a:p>
          <a:p xmlns:a="http://schemas.openxmlformats.org/drawingml/2006/main">
            <a:r>
              <a:t>[Sources]</a:t>
            </a:r>
          </a:p>
          <a:p xmlns:a="http://schemas.openxmlformats.org/drawingml/2006/main">
            <a:r>
              <a:t>- SRC-NESA-SYL-2013: Year 11 Preliminary Textiles and Design syllabus.</a:t>
            </a:r>
          </a:p>
          <a:p xmlns:a="http://schemas.openxmlformats.org/drawingml/2006/main">
            <a:r>
              <a:t>- THEORY-QUESTION-MANIFEST-v1: Module 13 named sections.</a:t>
            </a:r>
          </a:p>
          <a:p xmlns:a="http://schemas.openxmlformats.org/drawingml/2006/main">
            <a:r>
              <a:t>- Course-owned image: textiles-design-workspace.png.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 ideas as a cumulative learning pathway rather than an agenda.</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Theory files m13-s01 to 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m13-s01.json.</a:t>
            </a:r>
          </a:p>
          <a:p xmlns:a="http://schemas.openxmlformats.org/drawingml/2006/main">
            <a:r>
              <a:t>- Generated course diagram: m13-s01.png; source-bound visual brief: Create an interconnected textile-industry value-chain diagram linking design, material supply, textile production, manufacture, sourcing, retail and service, quality and testing, and recycling or circular activity, with technology, global trade, consumer expectations and sustainability shown as forces that can influence multiple sectors.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m13-s02.json.</a:t>
            </a:r>
          </a:p>
          <a:p xmlns:a="http://schemas.openxmlformats.org/drawingml/2006/main">
            <a:r>
              <a:t>- Generated course diagram: m13-s02.png; source-bound visual brief: Create a supply-network comparison diagram tracing raw materials through processing, manufacture, logistics, retail or use and end-of-life, with local and global sourcing pathways compared against cost, lead time, quality, labour, environmental impact, resilience and transparency.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m13-s03.json.</a:t>
            </a:r>
          </a:p>
          <a:p xmlns:a="http://schemas.openxmlformats.org/drawingml/2006/main">
            <a:r>
              <a:t>- Generated course diagram: m13-s03.png; source-bound visual brief: Create a career-pathway map linking textile industry role areas to relevant skills, evidence of developing capability and flexible pathways through school, VET, diploma or advanced diploma study, university and workplace experience, ending with a checkpoint to verify current provider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as formative retrieval prompts. Each is answerable from slides 3–5.</a:t>
            </a:r>
          </a:p>
          <a:p xmlns:a="http://schemas.openxmlformats.org/drawingml/2006/main">
            <a:r>
              <a:t/>
            </a:r>
          </a:p>
          <a:p xmlns:a="http://schemas.openxmlformats.org/drawingml/2006/main">
            <a:r>
              <a:t>[Sources]</a:t>
            </a:r>
          </a:p>
          <a:p xmlns:a="http://schemas.openxmlformats.org/drawingml/2006/main">
            <a:r>
              <a:t>- Module 13 theory and knowledge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response process without supplying a finished student submission.</a:t>
            </a:r>
          </a:p>
          <a:p xmlns:a="http://schemas.openxmlformats.org/drawingml/2006/main">
            <a:r>
              <a:t/>
            </a:r>
          </a:p>
          <a:p xmlns:a="http://schemas.openxmlformats.org/drawingml/2006/main">
            <a:r>
              <a:t>[Sources]</a:t>
            </a:r>
          </a:p>
          <a:p xmlns:a="http://schemas.openxmlformats.org/drawingml/2006/main">
            <a:r>
              <a:t>- Module 13 written-response scaffold.</a:t>
            </a:r>
          </a:p>
          <a:p xmlns:a="http://schemas.openxmlformats.org/drawingml/2006/main">
            <a:r>
              <a:t>- Read → Select → Explain → Check course routine.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students to the Module 13 activity and My folio. No formal submission condition is asserted.</a:t>
            </a:r>
          </a:p>
          <a:p xmlns:a="http://schemas.openxmlformats.org/drawingml/2006/main">
            <a:r>
              <a:t/>
            </a:r>
          </a:p>
          <a:p xmlns:a="http://schemas.openxmlformats.org/drawingml/2006/main">
            <a:r>
              <a:t>[Sources]</a:t>
            </a:r>
          </a:p>
          <a:p xmlns:a="http://schemas.openxmlformats.org/drawingml/2006/main">
            <a:r>
              <a:t>- Course route busy-work/activity-13.html.</a:t>
            </a:r>
          </a:p>
          <a:p xmlns:a="http://schemas.openxmlformats.org/drawingml/2006/main">
            <a:r>
              <a:t>- Course route folio.html.</a:t>
            </a:r>
          </a:p>
          <a:p xmlns:a="http://schemas.openxmlformats.org/drawingml/2006/main">
            <a:r>
              <a:t>- Course-owned image: textiles-design-workspace.png.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591c7f5e8c49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770eadf5374bc7" /><Relationship Type="http://schemas.openxmlformats.org/officeDocument/2006/relationships/slideLayout" Target="/ppt/slideLayouts/slideLayout1.xml" Id="R06de62592eab4e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de62592eab4e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d5323ff78b4968" /><Relationship Type="http://schemas.openxmlformats.org/officeDocument/2006/relationships/image" Target="/ppt/media/image.png" Id="R2553584559f14533" /><Relationship Type="http://schemas.openxmlformats.org/officeDocument/2006/relationships/notesSlide" Target="/ppt/notesSlides/notesSlide1.xml" Id="Rff38bb9acc7046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d9dddf8143404a" /><Relationship Type="http://schemas.openxmlformats.org/officeDocument/2006/relationships/notesSlide" Target="/ppt/notesSlides/notesSlide2.xml" Id="Reefb7eb95a5046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756f26b3f34f9e" /><Relationship Type="http://schemas.openxmlformats.org/officeDocument/2006/relationships/image" Target="/ppt/media/image2.png" Id="Rf35e9de38fdb4807" /><Relationship Type="http://schemas.openxmlformats.org/officeDocument/2006/relationships/notesSlide" Target="/ppt/notesSlides/notesSlide3.xml" Id="R875c768dc24c42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d4f31b5a284219" /><Relationship Type="http://schemas.openxmlformats.org/officeDocument/2006/relationships/image" Target="/ppt/media/image3.png" Id="R7907f3d9f8d649b3" /><Relationship Type="http://schemas.openxmlformats.org/officeDocument/2006/relationships/notesSlide" Target="/ppt/notesSlides/notesSlide4.xml" Id="R9837eacecee145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92834f392745db" /><Relationship Type="http://schemas.openxmlformats.org/officeDocument/2006/relationships/image" Target="/ppt/media/image4.png" Id="Ree3a607d38194673" /><Relationship Type="http://schemas.openxmlformats.org/officeDocument/2006/relationships/notesSlide" Target="/ppt/notesSlides/notesSlide5.xml" Id="R2af2a782dd7e48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9e6a23e56a4818" /><Relationship Type="http://schemas.openxmlformats.org/officeDocument/2006/relationships/notesSlide" Target="/ppt/notesSlides/notesSlide6.xml" Id="R4c47fd653cf543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6d4e4a782640c1" /><Relationship Type="http://schemas.openxmlformats.org/officeDocument/2006/relationships/notesSlide" Target="/ppt/notesSlides/notesSlide7.xml" Id="Re2e42b3aedc246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b0283df4471403d" /><Relationship Type="http://schemas.openxmlformats.org/officeDocument/2006/relationships/image" Target="/ppt/media/image5.png" Id="Rbe56c97e5dad4046" /><Relationship Type="http://schemas.openxmlformats.org/officeDocument/2006/relationships/notesSlide" Target="/ppt/notesSlides/notesSlide8.xml" Id="R806bd509cbcf4892" /></Relationships>
</file>

<file path=ppt/slides/slide1.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B4AE411-F9B7-40C1-95A6-EFB5A398EE0B}"/>
              </a:ext>
            </a:extLst>
          </p:cNvPr>
          <p:cNvSpPr>
            <a:spLocks xmlns:a="http://schemas.openxmlformats.org/drawingml/2006/main" noGrp="1"/>
          </p:cNvSpPr>
          <p:nvPr/>
        </p:nvSpPr>
        <p:spPr>
          <a:xfrm xmlns:a="http://schemas.openxmlformats.org/drawingml/2006/main">
            <a:off x="590550" y="1238250"/>
            <a:ext cx="4953000" cy="21907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5000" b="1">
                <a:solidFill>
                  <a:srgbClr val="173126"/>
                </a:solidFill>
                <a:latin typeface="Aptos"/>
                <a:ea typeface="Aptos"/>
                <a:cs typeface="Aptos"/>
              </a:defRPr>
            </a:pPr>
            <a:r>
              <a:rPr sz="5000" b="1">
                <a:solidFill>
                  <a:srgbClr val="173126"/>
                </a:solidFill>
                <a:latin typeface="Aptos"/>
                <a:ea typeface="Aptos"/>
                <a:cs typeface="Aptos"/>
              </a:rPr>
              <a:t>Industry and careers</a:t>
            </a:r>
          </a:p>
        </p:txBody>
      </p:sp>
      <p:sp>
        <p:nvSpPr>
          <p:cNvPr id="2" name="Subtitle-4-2">
            <a:extLst xmlns:a="http://schemas.openxmlformats.org/drawingml/2006/main">
              <a:ext uri="{FF2B5EF4-FFF2-40B4-BE49-F238E27FC236}">
                <a16:creationId xmlns:a16="http://schemas.microsoft.com/office/drawing/2014/main" id="{5DF9AAC8-8087-4CFE-AAFA-BF4462107E30}"/>
              </a:ext>
            </a:extLst>
          </p:cNvPr>
          <p:cNvSpPr>
            <a:spLocks xmlns:a="http://schemas.openxmlformats.org/drawingml/2006/main" noGrp="1"/>
          </p:cNvSpPr>
          <p:nvPr/>
        </p:nvSpPr>
        <p:spPr>
          <a:xfrm xmlns:a="http://schemas.openxmlformats.org/drawingml/2006/main">
            <a:off x="628650" y="3571875"/>
            <a:ext cx="4762500" cy="10668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5000"/>
              </a:lnSpc>
              <a:buNone/>
              <a:defRPr sz="2000" b="0">
                <a:solidFill>
                  <a:srgbClr val="5A665F"/>
                </a:solidFill>
                <a:latin typeface="Aptos"/>
                <a:ea typeface="Aptos"/>
                <a:cs typeface="Aptos"/>
              </a:defRPr>
            </a:pPr>
            <a:r>
              <a:rPr sz="2000" b="0">
                <a:solidFill>
                  <a:srgbClr val="5A665F"/>
                </a:solidFill>
                <a:latin typeface="Aptos"/>
                <a:ea typeface="Aptos"/>
                <a:cs typeface="Aptos"/>
              </a:rPr>
              <a:t>Use three connected ideas to explain, apply and justify the learning in Module 13.</a:t>
            </a:r>
          </a:p>
        </p:txBody>
      </p:sp>
      <p:sp>
        <p:nvSpPr>
          <p:cNvPr id="3" name="Subtitle-4-3">
            <a:extLst xmlns:a="http://schemas.openxmlformats.org/drawingml/2006/main">
              <a:ext uri="{FF2B5EF4-FFF2-40B4-BE49-F238E27FC236}">
                <a16:creationId xmlns:a16="http://schemas.microsoft.com/office/drawing/2014/main" id="{9B62F67D-37CE-4D67-A50E-91C62081C5BE}"/>
              </a:ext>
            </a:extLst>
          </p:cNvPr>
          <p:cNvSpPr>
            <a:spLocks xmlns:a="http://schemas.openxmlformats.org/drawingml/2006/main" noGrp="1"/>
          </p:cNvSpPr>
          <p:nvPr/>
        </p:nvSpPr>
        <p:spPr>
          <a:xfrm xmlns:a="http://schemas.openxmlformats.org/drawingml/2006/main">
            <a:off x="628650" y="781050"/>
            <a:ext cx="4381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YEAR 11 TEXTILES AND DESIGN · MODULE 13 · WEEKS 25–26</a:t>
            </a:r>
          </a:p>
        </p:txBody>
      </p:sp>
      <p:sp>
        <p:nvSpPr>
          <p:cNvPr id="5" name="">
            <a:extLst xmlns:a="http://schemas.openxmlformats.org/drawingml/2006/main">
              <a:ext uri="{FF2B5EF4-FFF2-40B4-BE49-F238E27FC236}">
                <a16:creationId xmlns:a16="http://schemas.microsoft.com/office/drawing/2014/main" id="{D7CC5B55-F07E-4B51-A25F-F034696FA0CB}"/>
              </a:ext>
            </a:extLst>
          </p:cNvPr>
          <p:cNvSpPr>
            <a:spLocks xmlns:a="http://schemas.openxmlformats.org/drawingml/2006/main" noGrp="1"/>
          </p:cNvSpPr>
          <p:nvPr/>
        </p:nvSpPr>
        <p:spPr>
          <a:xfrm xmlns:a="http://schemas.openxmlformats.org/drawingml/2006/main">
            <a:off x="5857875" y="438150"/>
            <a:ext cx="5810250" cy="5676900"/>
          </a:xfrm>
          <a:prstGeom xmlns:a="http://schemas.openxmlformats.org/drawingml/2006/main" prst="roundRect">
            <a:avLst>
              <a:gd name="adj" fmla="val 2013"/>
            </a:avLst>
          </a:prstGeom>
          <a:noFill xmlns:a="http://schemas.openxmlformats.org/drawingml/2006/main"/>
          <a:ln xmlns:a="http://schemas.openxmlformats.org/drawingml/2006/main" w="9525">
            <a:solidFill>
              <a:srgbClr val="D8941C"/>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553584559f14533"/>
          <a:srcRect xmlns:a="http://schemas.openxmlformats.org/drawingml/2006/main" l="0" t="0" r="0" b="0"/>
          <a:stretch xmlns:a="http://schemas.openxmlformats.org/drawingml/2006/main">
            <a:fillRect l="0" t="0" r="0" b="0"/>
          </a:stretch>
        </p:blipFill>
        <p:spPr>
          <a:xfrm xmlns:a="http://schemas.openxmlformats.org/drawingml/2006/main" flipH="0" flipV="0">
            <a:off x="6048375" y="628650"/>
            <a:ext cx="5429250" cy="5295900"/>
          </a:xfrm>
          <a:prstGeom xmlns:a="http://schemas.openxmlformats.org/drawingml/2006/main" prst="roundRect">
            <a:avLst/>
          </a:prstGeom>
        </p:spPr>
      </p:pic>
      <p:sp>
        <p:nvSpPr>
          <p:cNvPr id="7" name="">
            <a:extLst xmlns:a="http://schemas.openxmlformats.org/drawingml/2006/main">
              <a:ext uri="{FF2B5EF4-FFF2-40B4-BE49-F238E27FC236}">
                <a16:creationId xmlns:a16="http://schemas.microsoft.com/office/drawing/2014/main" id="{6D1F5FE7-ECD3-4151-887C-C288444A3915}"/>
              </a:ext>
            </a:extLst>
          </p:cNvPr>
          <p:cNvSpPr>
            <a:spLocks xmlns:a="http://schemas.openxmlformats.org/drawingml/2006/main" noGrp="1"/>
          </p:cNvSpPr>
          <p:nvPr/>
        </p:nvSpPr>
        <p:spPr>
          <a:xfrm xmlns:a="http://schemas.openxmlformats.org/drawingml/2006/main">
            <a:off x="628650" y="49530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ctr">
            <a:normAutofit fontScale="92593"/>
          </a:bodyPr>
          <a:lstStyle xmlns:a="http://schemas.openxmlformats.org/drawingml/2006/main"/>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BEFORE YOU BEGIN</a:t>
            </a:r>
          </a:p>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What do you already know about industry and careers, and what evidence would show it?</a:t>
            </a:r>
          </a:p>
        </p:txBody>
      </p:sp>
    </p:spTree>
    <p:extLst>
      <p:ext uri="{BB962C8B-B14F-4D97-AF65-F5344CB8AC3E}">
        <p14:creationId xmlns:p14="http://schemas.microsoft.com/office/powerpoint/2010/main" val="1728781570"/>
      </p:ext>
    </p:extLst>
  </p:cSld>
</p:sld>
</file>

<file path=ppt/slides/slide2.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16595B7-F5B3-45CC-A1D0-60A5F8F46B0A}"/>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2</a:t>
            </a:r>
          </a:p>
        </p:txBody>
      </p:sp>
      <p:sp>
        <p:nvSpPr>
          <p:cNvPr id="2" name="Title-10-3">
            <a:extLst xmlns:a="http://schemas.openxmlformats.org/drawingml/2006/main">
              <a:ext uri="{FF2B5EF4-FFF2-40B4-BE49-F238E27FC236}">
                <a16:creationId xmlns:a16="http://schemas.microsoft.com/office/drawing/2014/main" id="{A5C0B864-CE5F-40EB-BFB1-124C7F8209DC}"/>
              </a:ext>
            </a:extLst>
          </p:cNvPr>
          <p:cNvSpPr>
            <a:spLocks xmlns:a="http://schemas.openxmlformats.org/drawingml/2006/main" noGrp="1"/>
          </p:cNvSpPr>
          <p:nvPr/>
        </p:nvSpPr>
        <p:spPr>
          <a:xfrm xmlns:a="http://schemas.openxmlformats.org/drawingml/2006/main">
            <a:off x="571500" y="514350"/>
            <a:ext cx="104775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Module 13: three connected ideas</a:t>
            </a:r>
          </a:p>
        </p:txBody>
      </p:sp>
      <p:cxnSp>
        <p:nvCxnSpPr>
          <p:cNvPr id="34"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80EBB6E6-D29B-4511-A6D6-6E24B45A62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77EECBE0-D327-4135-9672-CA69C10CF3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AC21CEC6-5855-4BE0-ABD8-07F8466936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55F5CC1A-B730-48DE-B337-081BD18AF1D1}"/>
              </a:ext>
            </a:extLst>
          </p:cNvPr>
          <p:cNvSpPr>
            <a:spLocks xmlns:a="http://schemas.openxmlformats.org/drawingml/2006/main" noGrp="1"/>
          </p:cNvSpPr>
          <p:nvPr/>
        </p:nvSpPr>
        <p:spPr>
          <a:xfrm xmlns:a="http://schemas.openxmlformats.org/drawingml/2006/main">
            <a:off x="9334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CC4FDA11-53DB-407A-BDEC-FBE50DB65E61}"/>
              </a:ext>
            </a:extLst>
          </p:cNvPr>
          <p:cNvSpPr>
            <a:spLocks xmlns:a="http://schemas.openxmlformats.org/drawingml/2006/main" noGrp="1"/>
          </p:cNvSpPr>
          <p:nvPr/>
        </p:nvSpPr>
        <p:spPr>
          <a:xfrm xmlns:a="http://schemas.openxmlformats.org/drawingml/2006/main">
            <a:off x="45529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740F3AC6-594B-429C-81EE-E57F9069D6D9}"/>
              </a:ext>
            </a:extLst>
          </p:cNvPr>
          <p:cNvSpPr>
            <a:spLocks xmlns:a="http://schemas.openxmlformats.org/drawingml/2006/main" noGrp="1"/>
          </p:cNvSpPr>
          <p:nvPr/>
        </p:nvSpPr>
        <p:spPr>
          <a:xfrm xmlns:a="http://schemas.openxmlformats.org/drawingml/2006/main">
            <a:off x="81724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2DCFFC81-D22B-4BC1-B1F8-6DFA762662D6}"/>
              </a:ext>
            </a:extLst>
          </p:cNvPr>
          <p:cNvSpPr>
            <a:spLocks xmlns:a="http://schemas.openxmlformats.org/drawingml/2006/main" noGrp="1"/>
          </p:cNvSpPr>
          <p:nvPr/>
        </p:nvSpPr>
        <p:spPr>
          <a:xfrm xmlns:a="http://schemas.openxmlformats.org/drawingml/2006/main">
            <a:off x="933450" y="2781300"/>
            <a:ext cx="2419350" cy="2133600"/>
          </a:xfrm>
          <a:prstGeom xmlns:a="http://schemas.openxmlformats.org/drawingml/2006/main" prst="rect">
            <a:avLst/>
          </a:prstGeom>
        </p:spPr>
        <p:txBody>
          <a:bodyPr xmlns:a="http://schemas.openxmlformats.org/drawingml/2006/main" lIns="38100" tIns="38100" rIns="38100" bIns="38100" anchor="t">
            <a:normAutofit fontScale="93129"/>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Industry development and sectors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The Australian textile, clothing, footwear and related products industry can be understood as an interconnected value…</a:t>
            </a:r>
          </a:p>
        </p:txBody>
      </p:sp>
      <p:sp>
        <p:nvSpPr>
          <p:cNvPr id="11" name="Text-Placeholder-16-12">
            <a:extLst xmlns:a="http://schemas.openxmlformats.org/drawingml/2006/main">
              <a:ext uri="{FF2B5EF4-FFF2-40B4-BE49-F238E27FC236}">
                <a16:creationId xmlns:a16="http://schemas.microsoft.com/office/drawing/2014/main" id="{B6ACFAD4-DA68-47CD-BF12-9531E07EEC1D}"/>
              </a:ext>
            </a:extLst>
          </p:cNvPr>
          <p:cNvSpPr>
            <a:spLocks xmlns:a="http://schemas.openxmlformats.org/drawingml/2006/main" noGrp="1"/>
          </p:cNvSpPr>
          <p:nvPr/>
        </p:nvSpPr>
        <p:spPr>
          <a:xfrm xmlns:a="http://schemas.openxmlformats.org/drawingml/2006/main">
            <a:off x="45529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Local and global context</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Textile products can move through global supply networks that connect raw materials, processing, manufacture,…</a:t>
            </a:r>
          </a:p>
        </p:txBody>
      </p:sp>
      <p:sp>
        <p:nvSpPr>
          <p:cNvPr id="12" name="Text-Placeholder-16-13">
            <a:extLst xmlns:a="http://schemas.openxmlformats.org/drawingml/2006/main">
              <a:ext uri="{FF2B5EF4-FFF2-40B4-BE49-F238E27FC236}">
                <a16:creationId xmlns:a16="http://schemas.microsoft.com/office/drawing/2014/main" id="{78B5E93A-F297-48EF-AAD3-C5B7DD87F0E4}"/>
              </a:ext>
            </a:extLst>
          </p:cNvPr>
          <p:cNvSpPr>
            <a:spLocks xmlns:a="http://schemas.openxmlformats.org/drawingml/2006/main" noGrp="1"/>
          </p:cNvSpPr>
          <p:nvPr/>
        </p:nvSpPr>
        <p:spPr>
          <a:xfrm xmlns:a="http://schemas.openxmlformats.org/drawingml/2006/main">
            <a:off x="8172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Careers and training</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The textiles, clothing, footwear and related products industry includes many different roles across design, pattern…</a:t>
            </a:r>
          </a:p>
        </p:txBody>
      </p:sp>
      <p:sp>
        <p:nvSpPr>
          <p:cNvPr id="19" name="">
            <a:extLst xmlns:a="http://schemas.openxmlformats.org/drawingml/2006/main">
              <a:ext uri="{FF2B5EF4-FFF2-40B4-BE49-F238E27FC236}">
                <a16:creationId xmlns:a16="http://schemas.microsoft.com/office/drawing/2014/main" id="{BB159F23-A0CC-49B4-83D4-61338CCA10C6}"/>
              </a:ext>
            </a:extLst>
          </p:cNvPr>
          <p:cNvSpPr>
            <a:spLocks xmlns:a="http://schemas.openxmlformats.org/drawingml/2006/main" noGrp="1"/>
          </p:cNvSpPr>
          <p:nvPr/>
        </p:nvSpPr>
        <p:spPr>
          <a:xfrm xmlns:a="http://schemas.openxmlformats.org/drawingml/2006/main">
            <a:off x="590550" y="1190625"/>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5238"/>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Connect the three ideas, then justify one decision with evidence.</a:t>
            </a:r>
          </a:p>
        </p:txBody>
      </p:sp>
      <p:sp>
        <p:nvSpPr>
          <p:cNvPr id="20" name="">
            <a:extLst xmlns:a="http://schemas.openxmlformats.org/drawingml/2006/main">
              <a:ext uri="{FF2B5EF4-FFF2-40B4-BE49-F238E27FC236}">
                <a16:creationId xmlns:a16="http://schemas.microsoft.com/office/drawing/2014/main" id="{F8941D7B-C927-40EF-AD75-001986D69FE8}"/>
              </a:ext>
            </a:extLst>
          </p:cNvPr>
          <p:cNvSpPr>
            <a:spLocks xmlns:a="http://schemas.openxmlformats.org/drawingml/2006/main" noGrp="1"/>
          </p:cNvSpPr>
          <p:nvPr/>
        </p:nvSpPr>
        <p:spPr>
          <a:xfrm xmlns:a="http://schemas.openxmlformats.org/drawingml/2006/main">
            <a:off x="666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
        <p:nvSpPr>
          <p:cNvPr id="21" name="">
            <a:extLst xmlns:a="http://schemas.openxmlformats.org/drawingml/2006/main">
              <a:ext uri="{FF2B5EF4-FFF2-40B4-BE49-F238E27FC236}">
                <a16:creationId xmlns:a16="http://schemas.microsoft.com/office/drawing/2014/main" id="{96418902-0D60-4955-BF78-64D12E5311DA}"/>
              </a:ext>
            </a:extLst>
          </p:cNvPr>
          <p:cNvSpPr>
            <a:spLocks xmlns:a="http://schemas.openxmlformats.org/drawingml/2006/main" noGrp="1"/>
          </p:cNvSpPr>
          <p:nvPr/>
        </p:nvSpPr>
        <p:spPr>
          <a:xfrm xmlns:a="http://schemas.openxmlformats.org/drawingml/2006/main">
            <a:off x="42862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D8941C"/>
            </a:solidFill>
            <a:prstDash val="solid"/>
          </a:ln>
        </p:spPr>
      </p:sp>
      <p:sp>
        <p:nvSpPr>
          <p:cNvPr id="22" name="">
            <a:extLst xmlns:a="http://schemas.openxmlformats.org/drawingml/2006/main">
              <a:ext uri="{FF2B5EF4-FFF2-40B4-BE49-F238E27FC236}">
                <a16:creationId xmlns:a16="http://schemas.microsoft.com/office/drawing/2014/main" id="{6E844523-F8E9-4C62-A984-9A5A63D55C8A}"/>
              </a:ext>
            </a:extLst>
          </p:cNvPr>
          <p:cNvSpPr>
            <a:spLocks xmlns:a="http://schemas.openxmlformats.org/drawingml/2006/main" noGrp="1"/>
          </p:cNvSpPr>
          <p:nvPr/>
        </p:nvSpPr>
        <p:spPr>
          <a:xfrm xmlns:a="http://schemas.openxmlformats.org/drawingml/2006/main">
            <a:off x="7905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593234553"/>
      </p:ext>
    </p:extLst>
  </p:cSld>
</p:sld>
</file>

<file path=ppt/slides/slide3.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B2A920B-A121-4C29-8AD9-4B493140AF81}"/>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3</a:t>
            </a:r>
          </a:p>
        </p:txBody>
      </p:sp>
      <p:sp>
        <p:nvSpPr>
          <p:cNvPr id="2" name="Title-2-3">
            <a:extLst xmlns:a="http://schemas.openxmlformats.org/drawingml/2006/main">
              <a:ext uri="{FF2B5EF4-FFF2-40B4-BE49-F238E27FC236}">
                <a16:creationId xmlns:a16="http://schemas.microsoft.com/office/drawing/2014/main" id="{252F3A05-9EBE-45C1-B219-F9A8DDB8481F}"/>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Industry development and sectors</a:t>
            </a:r>
          </a:p>
        </p:txBody>
      </p:sp>
      <p:sp>
        <p:nvSpPr>
          <p:cNvPr id="3" name="Content-Placeholder-9-4">
            <a:extLst xmlns:a="http://schemas.openxmlformats.org/drawingml/2006/main">
              <a:ext uri="{FF2B5EF4-FFF2-40B4-BE49-F238E27FC236}">
                <a16:creationId xmlns:a16="http://schemas.microsoft.com/office/drawing/2014/main" id="{B3B5522B-4811-4958-BA5B-70E2FFB73BD3}"/>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8082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The Australian textile, clothing, footwear and related products industry can be understood as an interconnected value chain .</a:t>
            </a:r>
          </a:p>
        </p:txBody>
      </p:sp>
      <p:sp>
        <p:nvSpPr>
          <p:cNvPr id="4" name="Content-Placeholder-10-5">
            <a:extLst xmlns:a="http://schemas.openxmlformats.org/drawingml/2006/main">
              <a:ext uri="{FF2B5EF4-FFF2-40B4-BE49-F238E27FC236}">
                <a16:creationId xmlns:a16="http://schemas.microsoft.com/office/drawing/2014/main" id="{5A010513-2588-46B2-9A08-569104F0558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83715"/>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Different sectors contribute at different stages, including design, fibre and material supply, textile production, product…</a:t>
            </a:r>
          </a:p>
        </p:txBody>
      </p:sp>
      <p:sp>
        <p:nvSpPr>
          <p:cNvPr id="5" name="Content-Placeholder-9-6">
            <a:extLst xmlns:a="http://schemas.openxmlformats.org/drawingml/2006/main">
              <a:ext uri="{FF2B5EF4-FFF2-40B4-BE49-F238E27FC236}">
                <a16:creationId xmlns:a16="http://schemas.microsoft.com/office/drawing/2014/main" id="{081A3EC2-FEC1-461B-AE89-5FDACA8FF123}"/>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84015"/>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Decisions made in one part of the chain can affect requirements, costs, materials, timing and work in other parts.</a:t>
            </a:r>
          </a:p>
        </p:txBody>
      </p:sp>
      <p:sp>
        <p:nvSpPr>
          <p:cNvPr id="6" name="Content-Placeholder-10-7">
            <a:extLst xmlns:a="http://schemas.openxmlformats.org/drawingml/2006/main">
              <a:ext uri="{FF2B5EF4-FFF2-40B4-BE49-F238E27FC236}">
                <a16:creationId xmlns:a16="http://schemas.microsoft.com/office/drawing/2014/main" id="{E3D79959-7930-4CBE-A084-FA4E4180CB2A}"/>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85662"/>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Analyse how one change in the textile industry could affect at least three connected parts of the value chain.</a:t>
            </a:r>
          </a:p>
        </p:txBody>
      </p:sp>
      <p:sp>
        <p:nvSpPr>
          <p:cNvPr id="8" name="">
            <a:extLst xmlns:a="http://schemas.openxmlformats.org/drawingml/2006/main">
              <a:ext uri="{FF2B5EF4-FFF2-40B4-BE49-F238E27FC236}">
                <a16:creationId xmlns:a16="http://schemas.microsoft.com/office/drawing/2014/main" id="{741B4463-5DC9-4BB4-9AEB-C31EFFE5BD83}"/>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1 OF 3</a:t>
            </a:r>
          </a:p>
        </p:txBody>
      </p:sp>
      <p:sp>
        <p:nvSpPr>
          <p:cNvPr id="9" name="">
            <a:extLst xmlns:a="http://schemas.openxmlformats.org/drawingml/2006/main">
              <a:ext uri="{FF2B5EF4-FFF2-40B4-BE49-F238E27FC236}">
                <a16:creationId xmlns:a16="http://schemas.microsoft.com/office/drawing/2014/main" id="{01D285C7-4067-4681-8840-E1A99A134558}"/>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35e9de38fdb4807"/>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A20C32CF-C64C-40B2-BBC3-02D81A16F72F}"/>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Create an interconnected textile-industry value-chain diagram linking design, material supply, textile production, manufacture, sourcing, retail and service,…</a:t>
            </a:r>
          </a:p>
        </p:txBody>
      </p:sp>
    </p:spTree>
    <p:extLst>
      <p:ext uri="{BB962C8B-B14F-4D97-AF65-F5344CB8AC3E}">
        <p14:creationId xmlns:p14="http://schemas.microsoft.com/office/powerpoint/2010/main" val="803449303"/>
      </p:ext>
    </p:extLst>
  </p:cSld>
</p:sld>
</file>

<file path=ppt/slides/slide4.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B078C44-14AA-48A4-A5F1-EC8BBB169E45}"/>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4</a:t>
            </a:r>
          </a:p>
        </p:txBody>
      </p:sp>
      <p:sp>
        <p:nvSpPr>
          <p:cNvPr id="2" name="Title-10-3">
            <a:extLst xmlns:a="http://schemas.openxmlformats.org/drawingml/2006/main">
              <a:ext uri="{FF2B5EF4-FFF2-40B4-BE49-F238E27FC236}">
                <a16:creationId xmlns:a16="http://schemas.microsoft.com/office/drawing/2014/main" id="{DDA065D4-4C79-4E5B-96CF-0A428EF120DA}"/>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Local and global context</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CB8329C4-AC4D-48CF-B627-84A37532678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2BC3E00B-0457-4BA3-B55D-A589DCDA33E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6E9ACF0A-CE3E-42C3-B7C9-B61142D78C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6E71B14A-A610-486F-B74D-69334CE0B461}"/>
              </a:ext>
            </a:extLst>
          </p:cNvPr>
          <p:cNvSpPr>
            <a:spLocks xmlns:a="http://schemas.openxmlformats.org/drawingml/2006/main" noGrp="1"/>
          </p:cNvSpPr>
          <p:nvPr/>
        </p:nvSpPr>
        <p:spPr>
          <a:xfrm xmlns:a="http://schemas.openxmlformats.org/drawingml/2006/main">
            <a:off x="647700" y="2209800"/>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44E73360-ED41-4AE3-9474-1BE306AE7858}"/>
              </a:ext>
            </a:extLst>
          </p:cNvPr>
          <p:cNvSpPr>
            <a:spLocks xmlns:a="http://schemas.openxmlformats.org/drawingml/2006/main" noGrp="1"/>
          </p:cNvSpPr>
          <p:nvPr/>
        </p:nvSpPr>
        <p:spPr>
          <a:xfrm xmlns:a="http://schemas.openxmlformats.org/drawingml/2006/main">
            <a:off x="647700" y="3209925"/>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6E21EB1A-F8DD-4B0D-A6A7-032E794FE7DF}"/>
              </a:ext>
            </a:extLst>
          </p:cNvPr>
          <p:cNvSpPr>
            <a:spLocks xmlns:a="http://schemas.openxmlformats.org/drawingml/2006/main" noGrp="1"/>
          </p:cNvSpPr>
          <p:nvPr/>
        </p:nvSpPr>
        <p:spPr>
          <a:xfrm xmlns:a="http://schemas.openxmlformats.org/drawingml/2006/main">
            <a:off x="647700" y="4210050"/>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64F29560-52C2-4511-8FC1-AAABF9570180}"/>
              </a:ext>
            </a:extLst>
          </p:cNvPr>
          <p:cNvSpPr>
            <a:spLocks xmlns:a="http://schemas.openxmlformats.org/drawingml/2006/main" noGrp="1"/>
          </p:cNvSpPr>
          <p:nvPr/>
        </p:nvSpPr>
        <p:spPr>
          <a:xfrm xmlns:a="http://schemas.openxmlformats.org/drawingml/2006/main">
            <a:off x="1200150" y="2114550"/>
            <a:ext cx="4429125" cy="857250"/>
          </a:xfrm>
          <a:prstGeom xmlns:a="http://schemas.openxmlformats.org/drawingml/2006/main" prst="rect">
            <a:avLst/>
          </a:prstGeom>
        </p:spPr>
        <p:txBody>
          <a:bodyPr xmlns:a="http://schemas.openxmlformats.org/drawingml/2006/main" lIns="38100" tIns="38100" rIns="38100" bIns="38100" anchor="ctr">
            <a:normAutofit fontScale="9304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Textile products can move through global supply networks that connect raw materials, processing, manufacture, logistics, retail or…</a:t>
            </a:r>
          </a:p>
        </p:txBody>
      </p:sp>
      <p:sp>
        <p:nvSpPr>
          <p:cNvPr id="11" name="Text-Placeholder-16-12">
            <a:extLst xmlns:a="http://schemas.openxmlformats.org/drawingml/2006/main">
              <a:ext uri="{FF2B5EF4-FFF2-40B4-BE49-F238E27FC236}">
                <a16:creationId xmlns:a16="http://schemas.microsoft.com/office/drawing/2014/main" id="{3CAB6260-4966-4846-A976-124725E23EC6}"/>
              </a:ext>
            </a:extLst>
          </p:cNvPr>
          <p:cNvSpPr>
            <a:spLocks xmlns:a="http://schemas.openxmlformats.org/drawingml/2006/main" noGrp="1"/>
          </p:cNvSpPr>
          <p:nvPr/>
        </p:nvSpPr>
        <p:spPr>
          <a:xfrm xmlns:a="http://schemas.openxmlformats.org/drawingml/2006/main">
            <a:off x="1200150" y="3114675"/>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These stages may occur in different locations and involve several organisations.</a:t>
            </a:r>
          </a:p>
        </p:txBody>
      </p:sp>
      <p:sp>
        <p:nvSpPr>
          <p:cNvPr id="12" name="Text-Placeholder-16-13">
            <a:extLst xmlns:a="http://schemas.openxmlformats.org/drawingml/2006/main">
              <a:ext uri="{FF2B5EF4-FFF2-40B4-BE49-F238E27FC236}">
                <a16:creationId xmlns:a16="http://schemas.microsoft.com/office/drawing/2014/main" id="{25A797A7-58D5-4050-BDF5-3121335E898E}"/>
              </a:ext>
            </a:extLst>
          </p:cNvPr>
          <p:cNvSpPr>
            <a:spLocks xmlns:a="http://schemas.openxmlformats.org/drawingml/2006/main" noGrp="1"/>
          </p:cNvSpPr>
          <p:nvPr/>
        </p:nvSpPr>
        <p:spPr>
          <a:xfrm xmlns:a="http://schemas.openxmlformats.org/drawingml/2006/main">
            <a:off x="1200150" y="4114800"/>
            <a:ext cx="4429125" cy="857250"/>
          </a:xfrm>
          <a:prstGeom xmlns:a="http://schemas.openxmlformats.org/drawingml/2006/main" prst="rect">
            <a:avLst/>
          </a:prstGeom>
        </p:spPr>
        <p:txBody>
          <a:bodyPr xmlns:a="http://schemas.openxmlformats.org/drawingml/2006/main" lIns="38100" tIns="38100" rIns="38100" bIns="38100" anchor="ctr">
            <a:normAutofit fontScale="92199"/>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Understanding the supply network helps explain where materials come from, how products move between stages and where decisions about…</a:t>
            </a:r>
          </a:p>
        </p:txBody>
      </p:sp>
      <p:sp>
        <p:nvSpPr>
          <p:cNvPr id="19" name="">
            <a:extLst xmlns:a="http://schemas.openxmlformats.org/drawingml/2006/main">
              <a:ext uri="{FF2B5EF4-FFF2-40B4-BE49-F238E27FC236}">
                <a16:creationId xmlns:a16="http://schemas.microsoft.com/office/drawing/2014/main" id="{50F14AF4-30E2-4AAF-9DB0-9EE8998D9CD0}"/>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2 OF 3</a:t>
            </a:r>
          </a:p>
        </p:txBody>
      </p:sp>
      <p:sp>
        <p:nvSpPr>
          <p:cNvPr id="20" name="">
            <a:extLst xmlns:a="http://schemas.openxmlformats.org/drawingml/2006/main">
              <a:ext uri="{FF2B5EF4-FFF2-40B4-BE49-F238E27FC236}">
                <a16:creationId xmlns:a16="http://schemas.microsoft.com/office/drawing/2014/main" id="{272D4C34-16B4-4863-9EB2-19E75DBAD3D2}"/>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7907f3d9f8d649b3"/>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22" name="">
            <a:extLst xmlns:a="http://schemas.openxmlformats.org/drawingml/2006/main">
              <a:ext uri="{FF2B5EF4-FFF2-40B4-BE49-F238E27FC236}">
                <a16:creationId xmlns:a16="http://schemas.microsoft.com/office/drawing/2014/main" id="{7EDDDA1C-B9EE-4BC9-B3C5-1D15F9C65AD3}"/>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EVIDENCE Compare two sourcing approaches for a textile product and make a supported judgement about which would be more suitable.</a:t>
            </a:r>
          </a:p>
        </p:txBody>
      </p:sp>
    </p:spTree>
    <p:extLst>
      <p:ext uri="{BB962C8B-B14F-4D97-AF65-F5344CB8AC3E}">
        <p14:creationId xmlns:p14="http://schemas.microsoft.com/office/powerpoint/2010/main" val="791432774"/>
      </p:ext>
    </p:extLst>
  </p:cSld>
</p:sld>
</file>

<file path=ppt/slides/slide5.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4438865-7489-48C2-8699-B582E4817FF7}"/>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5</a:t>
            </a:r>
          </a:p>
        </p:txBody>
      </p:sp>
      <p:sp>
        <p:nvSpPr>
          <p:cNvPr id="2" name="Title-2-3">
            <a:extLst xmlns:a="http://schemas.openxmlformats.org/drawingml/2006/main">
              <a:ext uri="{FF2B5EF4-FFF2-40B4-BE49-F238E27FC236}">
                <a16:creationId xmlns:a16="http://schemas.microsoft.com/office/drawing/2014/main" id="{65E6E568-2A5A-4AC2-A37E-A11C9C083959}"/>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Careers and training</a:t>
            </a:r>
          </a:p>
        </p:txBody>
      </p:sp>
      <p:sp>
        <p:nvSpPr>
          <p:cNvPr id="3" name="Content-Placeholder-9-4">
            <a:extLst xmlns:a="http://schemas.openxmlformats.org/drawingml/2006/main">
              <a:ext uri="{FF2B5EF4-FFF2-40B4-BE49-F238E27FC236}">
                <a16:creationId xmlns:a16="http://schemas.microsoft.com/office/drawing/2014/main" id="{1F3651F5-E7CE-4B5A-BABC-64F9FB61699A}"/>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7832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The textiles, clothing, footwear and related products industry includes many different roles across design, pattern and product…</a:t>
            </a:r>
          </a:p>
        </p:txBody>
      </p:sp>
      <p:sp>
        <p:nvSpPr>
          <p:cNvPr id="4" name="Content-Placeholder-10-5">
            <a:extLst xmlns:a="http://schemas.openxmlformats.org/drawingml/2006/main">
              <a:ext uri="{FF2B5EF4-FFF2-40B4-BE49-F238E27FC236}">
                <a16:creationId xmlns:a16="http://schemas.microsoft.com/office/drawing/2014/main" id="{0B69F6AD-12EB-4C3E-91C6-0362468EE485}"/>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7716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These roles can require different combinations of creative, technical, communication, problem-solving and organisational skills.</a:t>
            </a:r>
          </a:p>
        </p:txBody>
      </p:sp>
      <p:sp>
        <p:nvSpPr>
          <p:cNvPr id="5" name="Content-Placeholder-9-6">
            <a:extLst xmlns:a="http://schemas.openxmlformats.org/drawingml/2006/main">
              <a:ext uri="{FF2B5EF4-FFF2-40B4-BE49-F238E27FC236}">
                <a16:creationId xmlns:a16="http://schemas.microsoft.com/office/drawing/2014/main" id="{894D7850-A6B2-4408-8BD6-376BFCA8BD5F}"/>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7716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Career planning therefore begins by understanding what a role involves and identifying the skills and knowledge that support that work.</a:t>
            </a:r>
          </a:p>
        </p:txBody>
      </p:sp>
      <p:sp>
        <p:nvSpPr>
          <p:cNvPr id="6" name="Content-Placeholder-10-7">
            <a:extLst xmlns:a="http://schemas.openxmlformats.org/drawingml/2006/main">
              <a:ext uri="{FF2B5EF4-FFF2-40B4-BE49-F238E27FC236}">
                <a16:creationId xmlns:a16="http://schemas.microsoft.com/office/drawing/2014/main" id="{311B82AE-5CBD-4093-AE6F-D5E6E5840FF5}"/>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81983"/>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Create a realistic pathway map for one textile industry role, linking the role to relevant skills, evidence of developing capability and current…</a:t>
            </a:r>
          </a:p>
        </p:txBody>
      </p:sp>
      <p:sp>
        <p:nvSpPr>
          <p:cNvPr id="8" name="">
            <a:extLst xmlns:a="http://schemas.openxmlformats.org/drawingml/2006/main">
              <a:ext uri="{FF2B5EF4-FFF2-40B4-BE49-F238E27FC236}">
                <a16:creationId xmlns:a16="http://schemas.microsoft.com/office/drawing/2014/main" id="{E22B54A6-2AD6-4294-B051-E413DFD7E765}"/>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3 OF 3</a:t>
            </a:r>
          </a:p>
        </p:txBody>
      </p:sp>
      <p:sp>
        <p:nvSpPr>
          <p:cNvPr id="9" name="">
            <a:extLst xmlns:a="http://schemas.openxmlformats.org/drawingml/2006/main">
              <a:ext uri="{FF2B5EF4-FFF2-40B4-BE49-F238E27FC236}">
                <a16:creationId xmlns:a16="http://schemas.microsoft.com/office/drawing/2014/main" id="{D9658BBD-B043-4046-9981-CD4088088BF6}"/>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e3a607d38194673"/>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EF1AF138-E39A-45A4-98C7-44449B6CE141}"/>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Create a career-pathway map linking textile industry role areas to relevant skills, evidence of developing capability and flexible pathways through school, VET,…</a:t>
            </a:r>
          </a:p>
        </p:txBody>
      </p:sp>
    </p:spTree>
    <p:extLst>
      <p:ext uri="{BB962C8B-B14F-4D97-AF65-F5344CB8AC3E}">
        <p14:creationId xmlns:p14="http://schemas.microsoft.com/office/powerpoint/2010/main" val="234341914"/>
      </p:ext>
    </p:extLst>
  </p:cSld>
</p:sld>
</file>

<file path=ppt/slides/slide6.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0E4CBD-8D62-4D1D-9B20-55EBF6D27A5E}"/>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6</a:t>
            </a:r>
          </a:p>
        </p:txBody>
      </p:sp>
      <p:sp>
        <p:nvSpPr>
          <p:cNvPr id="2" name="Title-10-3">
            <a:extLst xmlns:a="http://schemas.openxmlformats.org/drawingml/2006/main">
              <a:ext uri="{FF2B5EF4-FFF2-40B4-BE49-F238E27FC236}">
                <a16:creationId xmlns:a16="http://schemas.microsoft.com/office/drawing/2014/main" id="{3E6A61C8-FA20-4C18-8A82-D49D9EBFF4CF}"/>
              </a:ext>
            </a:extLst>
          </p:cNvPr>
          <p:cNvSpPr>
            <a:spLocks xmlns:a="http://schemas.openxmlformats.org/drawingml/2006/main" noGrp="1"/>
          </p:cNvSpPr>
          <p:nvPr/>
        </p:nvSpPr>
        <p:spPr>
          <a:xfrm xmlns:a="http://schemas.openxmlformats.org/drawingml/2006/main">
            <a:off x="571500" y="533400"/>
            <a:ext cx="10287000" cy="666750"/>
          </a:xfrm>
          <a:prstGeom xmlns:a="http://schemas.openxmlformats.org/drawingml/2006/main" prst="rect">
            <a:avLst/>
          </a:prstGeom>
        </p:spPr>
        <p:txBody>
          <a:bodyPr xmlns:a="http://schemas.openxmlformats.org/drawingml/2006/main" lIns="38100" tIns="38100" rIns="38100" bIns="38100" anchor="t">
            <a:normAutofit fontScale="96628"/>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Retrieve the relationships—not isolated definitions</a:t>
            </a:r>
          </a:p>
        </p:txBody>
      </p:sp>
      <p:cxnSp>
        <p:nvCxnSpPr>
          <p:cNvPr id="34"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1E74EF7E-884C-41AF-AD97-B8E18A6F6CB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141F0FA2-B455-4F2C-A2ED-34D2A8A4B5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5EAC4B4A-5EB8-4213-97B3-853E48415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AF2E796C-24F4-41C8-877A-B723CF9732C5}"/>
              </a:ext>
            </a:extLst>
          </p:cNvPr>
          <p:cNvSpPr>
            <a:spLocks xmlns:a="http://schemas.openxmlformats.org/drawingml/2006/main" noGrp="1"/>
          </p:cNvSpPr>
          <p:nvPr/>
        </p:nvSpPr>
        <p:spPr>
          <a:xfrm xmlns:a="http://schemas.openxmlformats.org/drawingml/2006/main">
            <a:off x="100012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E497B4AB-F992-4F71-91E8-000BEA874621}"/>
              </a:ext>
            </a:extLst>
          </p:cNvPr>
          <p:cNvSpPr>
            <a:spLocks xmlns:a="http://schemas.openxmlformats.org/drawingml/2006/main" noGrp="1"/>
          </p:cNvSpPr>
          <p:nvPr/>
        </p:nvSpPr>
        <p:spPr>
          <a:xfrm xmlns:a="http://schemas.openxmlformats.org/drawingml/2006/main">
            <a:off x="471487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9880C656-A3E0-4FBA-A3A3-57890DB4A6E2}"/>
              </a:ext>
            </a:extLst>
          </p:cNvPr>
          <p:cNvSpPr>
            <a:spLocks xmlns:a="http://schemas.openxmlformats.org/drawingml/2006/main" noGrp="1"/>
          </p:cNvSpPr>
          <p:nvPr/>
        </p:nvSpPr>
        <p:spPr>
          <a:xfrm xmlns:a="http://schemas.openxmlformats.org/drawingml/2006/main">
            <a:off x="842962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4FD3FD99-AFA0-4A20-B064-75652BCA2C15}"/>
              </a:ext>
            </a:extLst>
          </p:cNvPr>
          <p:cNvSpPr>
            <a:spLocks xmlns:a="http://schemas.openxmlformats.org/drawingml/2006/main" noGrp="1"/>
          </p:cNvSpPr>
          <p:nvPr/>
        </p:nvSpPr>
        <p:spPr>
          <a:xfrm xmlns:a="http://schemas.openxmlformats.org/drawingml/2006/main">
            <a:off x="1000125" y="2914650"/>
            <a:ext cx="2667000" cy="1619250"/>
          </a:xfrm>
          <a:prstGeom xmlns:a="http://schemas.openxmlformats.org/drawingml/2006/main" prst="rect">
            <a:avLst/>
          </a:prstGeom>
        </p:spPr>
        <p:txBody>
          <a:bodyPr xmlns:a="http://schemas.openxmlformats.org/drawingml/2006/main" lIns="38100" tIns="38100" rIns="38100" bIns="38100" anchor="t">
            <a:normAutofit fontScale="89129"/>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INDUSTRY DEVELOPMENT AND SECTORS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Why can a change in one industry sector affect several others?</a:t>
            </a:r>
          </a:p>
        </p:txBody>
      </p:sp>
      <p:sp>
        <p:nvSpPr>
          <p:cNvPr id="11" name="Text-Placeholder-16-12">
            <a:extLst xmlns:a="http://schemas.openxmlformats.org/drawingml/2006/main">
              <a:ext uri="{FF2B5EF4-FFF2-40B4-BE49-F238E27FC236}">
                <a16:creationId xmlns:a16="http://schemas.microsoft.com/office/drawing/2014/main" id="{E14E470D-3EB0-4181-9D87-AB6AC7574BA9}"/>
              </a:ext>
            </a:extLst>
          </p:cNvPr>
          <p:cNvSpPr>
            <a:spLocks xmlns:a="http://schemas.openxmlformats.org/drawingml/2006/main" noGrp="1"/>
          </p:cNvSpPr>
          <p:nvPr/>
        </p:nvSpPr>
        <p:spPr>
          <a:xfrm xmlns:a="http://schemas.openxmlformats.org/drawingml/2006/main">
            <a:off x="4714875" y="2914650"/>
            <a:ext cx="2667000" cy="1619250"/>
          </a:xfrm>
          <a:prstGeom xmlns:a="http://schemas.openxmlformats.org/drawingml/2006/main" prst="rect">
            <a:avLst/>
          </a:prstGeom>
        </p:spPr>
        <p:txBody>
          <a:bodyPr xmlns:a="http://schemas.openxmlformats.org/drawingml/2006/main" lIns="38100" tIns="38100" rIns="38100" bIns="38100" anchor="t">
            <a:normAutofit fontScale="95454"/>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LOCAL AND GLOBAL CONTEXT</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Why is 'local is always better for the environment' a weak claim?</a:t>
            </a:r>
          </a:p>
        </p:txBody>
      </p:sp>
      <p:sp>
        <p:nvSpPr>
          <p:cNvPr id="12" name="Text-Placeholder-16-13">
            <a:extLst xmlns:a="http://schemas.openxmlformats.org/drawingml/2006/main">
              <a:ext uri="{FF2B5EF4-FFF2-40B4-BE49-F238E27FC236}">
                <a16:creationId xmlns:a16="http://schemas.microsoft.com/office/drawing/2014/main" id="{376F7259-3952-48F7-92C0-D580593817F7}"/>
              </a:ext>
            </a:extLst>
          </p:cNvPr>
          <p:cNvSpPr>
            <a:spLocks xmlns:a="http://schemas.openxmlformats.org/drawingml/2006/main" noGrp="1"/>
          </p:cNvSpPr>
          <p:nvPr/>
        </p:nvSpPr>
        <p:spPr>
          <a:xfrm xmlns:a="http://schemas.openxmlformats.org/drawingml/2006/main">
            <a:off x="84296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CAREERS AND TRAINING</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Why should a career pathway remain flexible?</a:t>
            </a:r>
          </a:p>
        </p:txBody>
      </p:sp>
      <p:sp>
        <p:nvSpPr>
          <p:cNvPr id="19" name="">
            <a:extLst xmlns:a="http://schemas.openxmlformats.org/drawingml/2006/main">
              <a:ext uri="{FF2B5EF4-FFF2-40B4-BE49-F238E27FC236}">
                <a16:creationId xmlns:a16="http://schemas.microsoft.com/office/drawing/2014/main" id="{50B13189-640C-4F85-A57E-A01655EE318C}"/>
              </a:ext>
            </a:extLst>
          </p:cNvPr>
          <p:cNvSpPr>
            <a:spLocks xmlns:a="http://schemas.openxmlformats.org/drawingml/2006/main" noGrp="1"/>
          </p:cNvSpPr>
          <p:nvPr/>
        </p:nvSpPr>
        <p:spPr>
          <a:xfrm xmlns:a="http://schemas.openxmlformats.org/drawingml/2006/main">
            <a:off x="590550" y="120015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Answer aloud or write one precise sentence for each prompt.</a:t>
            </a:r>
          </a:p>
        </p:txBody>
      </p:sp>
      <p:sp>
        <p:nvSpPr>
          <p:cNvPr id="20" name="">
            <a:extLst xmlns:a="http://schemas.openxmlformats.org/drawingml/2006/main">
              <a:ext uri="{FF2B5EF4-FFF2-40B4-BE49-F238E27FC236}">
                <a16:creationId xmlns:a16="http://schemas.microsoft.com/office/drawing/2014/main" id="{35ED1ED7-12CC-4D64-A46D-642B399C390F}"/>
              </a:ext>
            </a:extLst>
          </p:cNvPr>
          <p:cNvSpPr>
            <a:spLocks xmlns:a="http://schemas.openxmlformats.org/drawingml/2006/main" noGrp="1"/>
          </p:cNvSpPr>
          <p:nvPr/>
        </p:nvSpPr>
        <p:spPr>
          <a:xfrm xmlns:a="http://schemas.openxmlformats.org/drawingml/2006/main">
            <a:off x="7143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
        <p:nvSpPr>
          <p:cNvPr id="21" name="">
            <a:extLst xmlns:a="http://schemas.openxmlformats.org/drawingml/2006/main">
              <a:ext uri="{FF2B5EF4-FFF2-40B4-BE49-F238E27FC236}">
                <a16:creationId xmlns:a16="http://schemas.microsoft.com/office/drawing/2014/main" id="{E4112AAD-9DD8-49E7-BBD2-BF2FE6D22021}"/>
              </a:ext>
            </a:extLst>
          </p:cNvPr>
          <p:cNvSpPr>
            <a:spLocks xmlns:a="http://schemas.openxmlformats.org/drawingml/2006/main" noGrp="1"/>
          </p:cNvSpPr>
          <p:nvPr/>
        </p:nvSpPr>
        <p:spPr>
          <a:xfrm xmlns:a="http://schemas.openxmlformats.org/drawingml/2006/main">
            <a:off x="442912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D8941C"/>
            </a:solidFill>
            <a:prstDash val="solid"/>
          </a:ln>
        </p:spPr>
      </p:sp>
      <p:sp>
        <p:nvSpPr>
          <p:cNvPr id="22" name="">
            <a:extLst xmlns:a="http://schemas.openxmlformats.org/drawingml/2006/main">
              <a:ext uri="{FF2B5EF4-FFF2-40B4-BE49-F238E27FC236}">
                <a16:creationId xmlns:a16="http://schemas.microsoft.com/office/drawing/2014/main" id="{1E7C6842-406E-4A43-904C-0BFF50917464}"/>
              </a:ext>
            </a:extLst>
          </p:cNvPr>
          <p:cNvSpPr>
            <a:spLocks xmlns:a="http://schemas.openxmlformats.org/drawingml/2006/main" noGrp="1"/>
          </p:cNvSpPr>
          <p:nvPr/>
        </p:nvSpPr>
        <p:spPr>
          <a:xfrm xmlns:a="http://schemas.openxmlformats.org/drawingml/2006/main">
            <a:off x="81438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197396306"/>
      </p:ext>
    </p:extLst>
  </p:cSld>
</p:sld>
</file>

<file path=ppt/slides/slide7.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C763F4E-BCA4-4B07-B025-6FEAA72E5BCD}"/>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7</a:t>
            </a:r>
          </a:p>
        </p:txBody>
      </p:sp>
      <p:sp>
        <p:nvSpPr>
          <p:cNvPr id="2" name="Title-2-3">
            <a:extLst xmlns:a="http://schemas.openxmlformats.org/drawingml/2006/main">
              <a:ext uri="{FF2B5EF4-FFF2-40B4-BE49-F238E27FC236}">
                <a16:creationId xmlns:a16="http://schemas.microsoft.com/office/drawing/2014/main" id="{0D369F46-2FA0-4532-839B-72712112A52E}"/>
              </a:ext>
            </a:extLst>
          </p:cNvPr>
          <p:cNvSpPr>
            <a:spLocks xmlns:a="http://schemas.openxmlformats.org/drawingml/2006/main" noGrp="1"/>
          </p:cNvSpPr>
          <p:nvPr/>
        </p:nvSpPr>
        <p:spPr>
          <a:xfrm xmlns:a="http://schemas.openxmlformats.org/drawingml/2006/main">
            <a:off x="571500" y="514350"/>
            <a:ext cx="102870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Build a response that uses evidence</a:t>
            </a:r>
          </a:p>
        </p:txBody>
      </p:sp>
      <p:sp>
        <p:nvSpPr>
          <p:cNvPr id="3" name="Content-Placeholder-9-4">
            <a:extLst xmlns:a="http://schemas.openxmlformats.org/drawingml/2006/main">
              <a:ext uri="{FF2B5EF4-FFF2-40B4-BE49-F238E27FC236}">
                <a16:creationId xmlns:a16="http://schemas.microsoft.com/office/drawing/2014/main" id="{D2374728-E4B4-470D-AE72-552FDDDDF0E2}"/>
              </a:ext>
            </a:extLst>
          </p:cNvPr>
          <p:cNvSpPr>
            <a:spLocks xmlns:a="http://schemas.openxmlformats.org/drawingml/2006/main" noGrp="1"/>
          </p:cNvSpPr>
          <p:nvPr/>
        </p:nvSpPr>
        <p:spPr>
          <a:xfrm xmlns:a="http://schemas.openxmlformats.org/drawingml/2006/main">
            <a:off x="742950" y="2381250"/>
            <a:ext cx="2095500" cy="1600200"/>
          </a:xfrm>
          <a:prstGeom xmlns:a="http://schemas.openxmlformats.org/drawingml/2006/main" prst="rect">
            <a:avLst/>
          </a:prstGeom>
        </p:spPr>
        <p:txBody>
          <a:bodyPr xmlns:a="http://schemas.openxmlformats.org/drawingml/2006/main" lIns="38100" tIns="38100" rIns="38100" bIns="38100" anchor="ctr">
            <a:normAutofit fontScale="99212"/>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READ</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the role and the main skills it may require.</a:t>
            </a:r>
          </a:p>
        </p:txBody>
      </p:sp>
      <p:sp>
        <p:nvSpPr>
          <p:cNvPr id="4" name="Content-Placeholder-10-5">
            <a:extLst xmlns:a="http://schemas.openxmlformats.org/drawingml/2006/main">
              <a:ext uri="{FF2B5EF4-FFF2-40B4-BE49-F238E27FC236}">
                <a16:creationId xmlns:a16="http://schemas.microsoft.com/office/drawing/2014/main" id="{745C2A24-1535-4D4F-BEF4-6A9C7804C230}"/>
              </a:ext>
            </a:extLst>
          </p:cNvPr>
          <p:cNvSpPr>
            <a:spLocks xmlns:a="http://schemas.openxmlformats.org/drawingml/2006/main" noGrp="1"/>
          </p:cNvSpPr>
          <p:nvPr/>
        </p:nvSpPr>
        <p:spPr>
          <a:xfrm xmlns:a="http://schemas.openxmlformats.org/drawingml/2006/main">
            <a:off x="3648075" y="2381250"/>
            <a:ext cx="2095500" cy="1600200"/>
          </a:xfrm>
          <a:prstGeom xmlns:a="http://schemas.openxmlformats.org/drawingml/2006/main" prst="rect">
            <a:avLst/>
          </a:prstGeom>
        </p:spPr>
        <p:txBody>
          <a:bodyPr xmlns:a="http://schemas.openxmlformats.org/drawingml/2006/main" lIns="38100" tIns="38100" rIns="38100" bIns="38100" anchor="ctr">
            <a:normAutofit fontScale="85899"/>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evidence that could demonstrate developing capability in…</a:t>
            </a:r>
          </a:p>
        </p:txBody>
      </p:sp>
      <p:sp>
        <p:nvSpPr>
          <p:cNvPr id="5" name="Content-Placeholder-9-6">
            <a:extLst xmlns:a="http://schemas.openxmlformats.org/drawingml/2006/main">
              <a:ext uri="{FF2B5EF4-FFF2-40B4-BE49-F238E27FC236}">
                <a16:creationId xmlns:a16="http://schemas.microsoft.com/office/drawing/2014/main" id="{4AED10BE-E00C-4A46-B1DA-CFFF3691C1F5}"/>
              </a:ext>
            </a:extLst>
          </p:cNvPr>
          <p:cNvSpPr>
            <a:spLocks xmlns:a="http://schemas.openxmlformats.org/drawingml/2006/main" noGrp="1"/>
          </p:cNvSpPr>
          <p:nvPr/>
        </p:nvSpPr>
        <p:spPr>
          <a:xfrm xmlns:a="http://schemas.openxmlformats.org/drawingml/2006/main">
            <a:off x="6553200"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Map possible learning stages such as school, VET, further study,…</a:t>
            </a:r>
          </a:p>
        </p:txBody>
      </p:sp>
      <p:sp>
        <p:nvSpPr>
          <p:cNvPr id="6" name="Content-Placeholder-10-7">
            <a:extLst xmlns:a="http://schemas.openxmlformats.org/drawingml/2006/main">
              <a:ext uri="{FF2B5EF4-FFF2-40B4-BE49-F238E27FC236}">
                <a16:creationId xmlns:a16="http://schemas.microsoft.com/office/drawing/2014/main" id="{4ECE2ED3-28BC-4F59-BFE2-F9047B67517C}"/>
              </a:ext>
            </a:extLst>
          </p:cNvPr>
          <p:cNvSpPr>
            <a:spLocks xmlns:a="http://schemas.openxmlformats.org/drawingml/2006/main" noGrp="1"/>
          </p:cNvSpPr>
          <p:nvPr/>
        </p:nvSpPr>
        <p:spPr>
          <a:xfrm xmlns:a="http://schemas.openxmlformats.org/drawingml/2006/main">
            <a:off x="9458325"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CHECK</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State which current training and provider requirements would need to…</a:t>
            </a:r>
          </a:p>
        </p:txBody>
      </p:sp>
      <p:sp>
        <p:nvSpPr>
          <p:cNvPr id="8" name="">
            <a:extLst xmlns:a="http://schemas.openxmlformats.org/drawingml/2006/main">
              <a:ext uri="{FF2B5EF4-FFF2-40B4-BE49-F238E27FC236}">
                <a16:creationId xmlns:a16="http://schemas.microsoft.com/office/drawing/2014/main" id="{A8EFDF2A-7606-4595-951B-4CFE3BA786BC}"/>
              </a:ext>
            </a:extLst>
          </p:cNvPr>
          <p:cNvSpPr>
            <a:spLocks xmlns:a="http://schemas.openxmlformats.org/drawingml/2006/main" noGrp="1"/>
          </p:cNvSpPr>
          <p:nvPr/>
        </p:nvSpPr>
        <p:spPr>
          <a:xfrm xmlns:a="http://schemas.openxmlformats.org/drawingml/2006/main">
            <a:off x="590550" y="12192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9807"/>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Prompt: Create a realistic pathway map for one textile industry role, linking the role to relevant skills,…</a:t>
            </a:r>
          </a:p>
        </p:txBody>
      </p:sp>
      <p:sp>
        <p:nvSpPr>
          <p:cNvPr id="9" name="">
            <a:extLst xmlns:a="http://schemas.openxmlformats.org/drawingml/2006/main">
              <a:ext uri="{FF2B5EF4-FFF2-40B4-BE49-F238E27FC236}">
                <a16:creationId xmlns:a16="http://schemas.microsoft.com/office/drawing/2014/main" id="{834625C6-A9E5-4E32-8BDC-7B1DB61EA47A}"/>
              </a:ext>
            </a:extLst>
          </p:cNvPr>
          <p:cNvSpPr>
            <a:spLocks xmlns:a="http://schemas.openxmlformats.org/drawingml/2006/main" noGrp="1"/>
          </p:cNvSpPr>
          <p:nvPr/>
        </p:nvSpPr>
        <p:spPr>
          <a:xfrm xmlns:a="http://schemas.openxmlformats.org/drawingml/2006/main">
            <a:off x="495300"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0" name="">
            <a:extLst xmlns:a="http://schemas.openxmlformats.org/drawingml/2006/main">
              <a:ext uri="{FF2B5EF4-FFF2-40B4-BE49-F238E27FC236}">
                <a16:creationId xmlns:a16="http://schemas.microsoft.com/office/drawing/2014/main" id="{D8B5150D-E39C-4861-A904-435C14723698}"/>
              </a:ext>
            </a:extLst>
          </p:cNvPr>
          <p:cNvSpPr>
            <a:spLocks xmlns:a="http://schemas.openxmlformats.org/drawingml/2006/main" noGrp="1"/>
          </p:cNvSpPr>
          <p:nvPr/>
        </p:nvSpPr>
        <p:spPr>
          <a:xfrm xmlns:a="http://schemas.openxmlformats.org/drawingml/2006/main">
            <a:off x="3400425"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1" name="">
            <a:extLst xmlns:a="http://schemas.openxmlformats.org/drawingml/2006/main">
              <a:ext uri="{FF2B5EF4-FFF2-40B4-BE49-F238E27FC236}">
                <a16:creationId xmlns:a16="http://schemas.microsoft.com/office/drawing/2014/main" id="{7E0A2E4B-8FE2-4D98-A3C8-FE5982AB5D23}"/>
              </a:ext>
            </a:extLst>
          </p:cNvPr>
          <p:cNvSpPr>
            <a:spLocks xmlns:a="http://schemas.openxmlformats.org/drawingml/2006/main" noGrp="1"/>
          </p:cNvSpPr>
          <p:nvPr/>
        </p:nvSpPr>
        <p:spPr>
          <a:xfrm xmlns:a="http://schemas.openxmlformats.org/drawingml/2006/main">
            <a:off x="6305550"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D8941C"/>
            </a:solidFill>
            <a:prstDash val="solid"/>
          </a:ln>
        </p:spPr>
      </p:sp>
      <p:sp>
        <p:nvSpPr>
          <p:cNvPr id="12" name="">
            <a:extLst xmlns:a="http://schemas.openxmlformats.org/drawingml/2006/main">
              <a:ext uri="{FF2B5EF4-FFF2-40B4-BE49-F238E27FC236}">
                <a16:creationId xmlns:a16="http://schemas.microsoft.com/office/drawing/2014/main" id="{9B7B1F36-8E4F-492E-A852-62EBE0D89EE2}"/>
              </a:ext>
            </a:extLst>
          </p:cNvPr>
          <p:cNvSpPr>
            <a:spLocks xmlns:a="http://schemas.openxmlformats.org/drawingml/2006/main" noGrp="1"/>
          </p:cNvSpPr>
          <p:nvPr/>
        </p:nvSpPr>
        <p:spPr>
          <a:xfrm xmlns:a="http://schemas.openxmlformats.org/drawingml/2006/main">
            <a:off x="9210675"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3" name="">
            <a:extLst xmlns:a="http://schemas.openxmlformats.org/drawingml/2006/main">
              <a:ext uri="{FF2B5EF4-FFF2-40B4-BE49-F238E27FC236}">
                <a16:creationId xmlns:a16="http://schemas.microsoft.com/office/drawing/2014/main" id="{819AF333-CFAB-40EC-88E6-3EBDA680DA9E}"/>
              </a:ext>
            </a:extLst>
          </p:cNvPr>
          <p:cNvSpPr>
            <a:spLocks xmlns:a="http://schemas.openxmlformats.org/drawingml/2006/main" noGrp="1"/>
          </p:cNvSpPr>
          <p:nvPr/>
        </p:nvSpPr>
        <p:spPr>
          <a:xfrm xmlns:a="http://schemas.openxmlformats.org/drawingml/2006/main">
            <a:off x="704850" y="49720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0689"/>
          </a:bodyPr>
          <a:lstStyle xmlns:a="http://schemas.openxmlformats.org/drawingml/2006/main"/>
          <a:p xmlns:a="http://schemas.openxmlformats.org/drawingml/2006/main">
            <a:pPr algn="l">
              <a:lnSpc>
                <a:spcPct val="105000"/>
              </a:lnSpc>
              <a:buNone/>
              <a:defRPr sz="1700" b="1">
                <a:solidFill>
                  <a:srgbClr val="5A665F"/>
                </a:solidFill>
                <a:latin typeface="Aptos"/>
                <a:ea typeface="Aptos"/>
                <a:cs typeface="Aptos"/>
              </a:defRPr>
            </a:pPr>
            <a:r>
              <a:rPr sz="1700" b="1">
                <a:solidFill>
                  <a:srgbClr val="5A665F"/>
                </a:solidFill>
                <a:latin typeface="Aptos"/>
                <a:ea typeface="Aptos"/>
                <a:cs typeface="Aptos"/>
              </a:rPr>
              <a:t>Sentence starter: The role I am investigating is ___. Relevant skills may include ___. Evidence of developing capability could include…</a:t>
            </a:r>
          </a:p>
        </p:txBody>
      </p:sp>
    </p:spTree>
    <p:extLst>
      <p:ext uri="{BB962C8B-B14F-4D97-AF65-F5344CB8AC3E}">
        <p14:creationId xmlns:p14="http://schemas.microsoft.com/office/powerpoint/2010/main" val="1924835816"/>
      </p:ext>
    </p:extLst>
  </p:cSld>
</p:sld>
</file>

<file path=ppt/slides/slide8.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FB9544D-AF55-480E-ACA9-CBF758DE4DED}"/>
              </a:ext>
            </a:extLst>
          </p:cNvPr>
          <p:cNvSpPr>
            <a:spLocks xmlns:a="http://schemas.openxmlformats.org/drawingml/2006/main" noGrp="1"/>
          </p:cNvSpPr>
          <p:nvPr/>
        </p:nvSpPr>
        <p:spPr>
          <a:xfrm xmlns:a="http://schemas.openxmlformats.org/drawingml/2006/main">
            <a:off x="628650" y="1352550"/>
            <a:ext cx="5810250" cy="1257300"/>
          </a:xfrm>
          <a:prstGeom xmlns:a="http://schemas.openxmlformats.org/drawingml/2006/main" prst="rect">
            <a:avLst/>
          </a:prstGeom>
        </p:spPr>
        <p:txBody>
          <a:bodyPr xmlns:a="http://schemas.openxmlformats.org/drawingml/2006/main" lIns="38100" tIns="38100" rIns="38100" bIns="38100" anchor="t">
            <a:normAutofit fontScale="94145"/>
          </a:bodyPr>
          <a:lstStyle xmlns:a="http://schemas.openxmlformats.org/drawingml/2006/main"/>
          <a:p xmlns:a="http://schemas.openxmlformats.org/drawingml/2006/main">
            <a:pPr algn="l">
              <a:lnSpc>
                <a:spcPct val="98000"/>
              </a:lnSpc>
              <a:buNone/>
              <a:defRPr sz="4200" b="1">
                <a:solidFill>
                  <a:srgbClr val="173126"/>
                </a:solidFill>
                <a:latin typeface="Aptos"/>
                <a:ea typeface="Aptos"/>
                <a:cs typeface="Aptos"/>
              </a:defRPr>
            </a:pPr>
            <a:r>
              <a:rPr sz="4200" b="1">
                <a:solidFill>
                  <a:srgbClr val="173126"/>
                </a:solidFill>
                <a:latin typeface="Aptos"/>
                <a:ea typeface="Aptos"/>
                <a:cs typeface="Aptos"/>
              </a:rPr>
              <a:t>Exit ticket: carry Module 13 evidence forward</a:t>
            </a:r>
          </a:p>
        </p:txBody>
      </p:sp>
      <p:sp>
        <p:nvSpPr>
          <p:cNvPr id="2" name="Subtitle-4-2">
            <a:extLst xmlns:a="http://schemas.openxmlformats.org/drawingml/2006/main">
              <a:ext uri="{FF2B5EF4-FFF2-40B4-BE49-F238E27FC236}">
                <a16:creationId xmlns:a16="http://schemas.microsoft.com/office/drawing/2014/main" id="{37162B0B-61CF-4E28-975D-100A269EB1FC}"/>
              </a:ext>
            </a:extLst>
          </p:cNvPr>
          <p:cNvSpPr>
            <a:spLocks xmlns:a="http://schemas.openxmlformats.org/drawingml/2006/main" noGrp="1"/>
          </p:cNvSpPr>
          <p:nvPr/>
        </p:nvSpPr>
        <p:spPr>
          <a:xfrm xmlns:a="http://schemas.openxmlformats.org/drawingml/2006/main">
            <a:off x="666750" y="3048000"/>
            <a:ext cx="5429250" cy="2095500"/>
          </a:xfrm>
          <a:prstGeom xmlns:a="http://schemas.openxmlformats.org/drawingml/2006/main" prst="rect">
            <a:avLst/>
          </a:prstGeom>
        </p:spPr>
        <p:txBody>
          <a:bodyPr xmlns:a="http://schemas.openxmlformats.org/drawingml/2006/main" lIns="38100" tIns="38100" rIns="38100" bIns="38100" anchor="t">
            <a:normAutofit fontScale="85324"/>
          </a:bodyPr>
          <a:lstStyle xmlns:a="http://schemas.openxmlformats.org/drawingml/2006/main"/>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1. Name one relationship from Module 13 you can now explain.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2. Save one supported response in My folio.</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3. Complete the Module 13 applied-practice activity.</a:t>
            </a:r>
          </a:p>
        </p:txBody>
      </p:sp>
      <p:sp>
        <p:nvSpPr>
          <p:cNvPr id="3" name="Subtitle-4-3">
            <a:extLst xmlns:a="http://schemas.openxmlformats.org/drawingml/2006/main">
              <a:ext uri="{FF2B5EF4-FFF2-40B4-BE49-F238E27FC236}">
                <a16:creationId xmlns:a16="http://schemas.microsoft.com/office/drawing/2014/main" id="{14BE888C-8D03-4186-B5D1-4BD3576D68EF}"/>
              </a:ext>
            </a:extLst>
          </p:cNvPr>
          <p:cNvSpPr>
            <a:spLocks xmlns:a="http://schemas.openxmlformats.org/drawingml/2006/main" noGrp="1"/>
          </p:cNvSpPr>
          <p:nvPr/>
        </p:nvSpPr>
        <p:spPr>
          <a:xfrm xmlns:a="http://schemas.openxmlformats.org/drawingml/2006/main">
            <a:off x="666750" y="819150"/>
            <a:ext cx="2857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YOUR NEXT MOVE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e56c97e5dad4046"/>
          <a:srcRect xmlns:a="http://schemas.openxmlformats.org/drawingml/2006/main" l="0" t="0" r="0" b="0"/>
          <a:stretch xmlns:a="http://schemas.openxmlformats.org/drawingml/2006/main">
            <a:fillRect l="0" t="0" r="0" b="0"/>
          </a:stretch>
        </p:blipFill>
        <p:spPr>
          <a:xfrm xmlns:a="http://schemas.openxmlformats.org/drawingml/2006/main" flipH="0" flipV="0">
            <a:off x="6953250" y="0"/>
            <a:ext cx="5238750" cy="6858000"/>
          </a:xfrm>
          <a:prstGeom xmlns:a="http://schemas.openxmlformats.org/drawingml/2006/main" prst="rect">
            <a:avLst/>
          </a:prstGeom>
        </p:spPr>
      </p:pic>
    </p:spTree>
    <p:extLst>
      <p:ext uri="{BB962C8B-B14F-4D97-AF65-F5344CB8AC3E}">
        <p14:creationId xmlns:p14="http://schemas.microsoft.com/office/powerpoint/2010/main" val="520688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2026-08-18T17:29:00.9150000Z</dcterms:created>
  <dcterms:modified xsi:type="dcterms:W3CDTF">2026-08-18T17:29:00.9150000Z</dcterms:modified>
</coreProperties>
</file>
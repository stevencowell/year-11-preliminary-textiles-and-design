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309052b0664717" /><Relationship Type="http://schemas.openxmlformats.org/officeDocument/2006/relationships/extended-properties" Target="/docProps/app.xml" Id="Rd5f182020e75415f" /><Relationship Type="http://schemas.openxmlformats.org/officeDocument/2006/relationships/officeDocument" Target="/ppt/presentation.xml" Id="Rd5278d19bc414f2f" /></Relationships>
</file>

<file path=ppt/presentation.xml><?xml version="1.0" encoding="utf-8"?>
<p:presentation xmlns:p="http://schemas.openxmlformats.org/presentationml/2006/main">
  <p:sldMasterIdLst>
    <p:sldMasterId xmlns:r="http://schemas.openxmlformats.org/officeDocument/2006/relationships" id="2147483648" r:id="Ree5859c580a64423"/>
  </p:sldMasterIdLst>
  <p:notesMasterIdLst>
    <p:notesMasterId xmlns:r="http://schemas.openxmlformats.org/officeDocument/2006/relationships" r:id="R63955b95c1354dce"/>
  </p:notesMasterIdLst>
  <p:sldIdLst>
    <p:sldId xmlns:r="http://schemas.openxmlformats.org/officeDocument/2006/relationships" id="256" r:id="R93e7a2ab249f47e7"/>
    <p:sldId xmlns:r="http://schemas.openxmlformats.org/officeDocument/2006/relationships" id="257" r:id="R1e2eede965074dd3"/>
    <p:sldId xmlns:r="http://schemas.openxmlformats.org/officeDocument/2006/relationships" id="258" r:id="Rf20f8d268bd84cc4"/>
    <p:sldId xmlns:r="http://schemas.openxmlformats.org/officeDocument/2006/relationships" id="259" r:id="Ra9904a10daba48f5"/>
    <p:sldId xmlns:r="http://schemas.openxmlformats.org/officeDocument/2006/relationships" id="260" r:id="Ra7b420690aca40f1"/>
    <p:sldId xmlns:r="http://schemas.openxmlformats.org/officeDocument/2006/relationships" id="261" r:id="R3e7e902a63494d99"/>
    <p:sldId xmlns:r="http://schemas.openxmlformats.org/officeDocument/2006/relationships" id="262" r:id="R5bb1f918c7eb49e2"/>
    <p:sldId xmlns:r="http://schemas.openxmlformats.org/officeDocument/2006/relationships" id="263" r:id="Rf2eb9000021b4a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f258b5023f436b" /><Relationship Type="http://schemas.openxmlformats.org/officeDocument/2006/relationships/slideMaster" Target="/ppt/slideMasters/slideMaster1.xml" Id="Ree5859c580a64423" /><Relationship Type="http://schemas.openxmlformats.org/officeDocument/2006/relationships/notesMaster" Target="/ppt/notesMasters/notesMaster1.xml" Id="R63955b95c1354dce" /><Relationship Type="http://schemas.openxmlformats.org/officeDocument/2006/relationships/presProps" Target="/ppt/presProps.xml" Id="R59c3b93adcc046ef" /><Relationship Type="http://schemas.openxmlformats.org/officeDocument/2006/relationships/tableStyles" Target="/ppt/tableStyles.xml" Id="R4db7c716b33b43c9" /><Relationship Type="http://schemas.openxmlformats.org/officeDocument/2006/relationships/slide" Target="/ppt/slides/slide1.xml" Id="R93e7a2ab249f47e7" /><Relationship Type="http://schemas.openxmlformats.org/officeDocument/2006/relationships/slide" Target="/ppt/slides/slide2.xml" Id="R1e2eede965074dd3" /><Relationship Type="http://schemas.openxmlformats.org/officeDocument/2006/relationships/slide" Target="/ppt/slides/slide3.xml" Id="Rf20f8d268bd84cc4" /><Relationship Type="http://schemas.openxmlformats.org/officeDocument/2006/relationships/slide" Target="/ppt/slides/slide4.xml" Id="Ra9904a10daba48f5" /><Relationship Type="http://schemas.openxmlformats.org/officeDocument/2006/relationships/slide" Target="/ppt/slides/slide5.xml" Id="Ra7b420690aca40f1" /><Relationship Type="http://schemas.openxmlformats.org/officeDocument/2006/relationships/slide" Target="/ppt/slides/slide6.xml" Id="R3e7e902a63494d99" /><Relationship Type="http://schemas.openxmlformats.org/officeDocument/2006/relationships/slide" Target="/ppt/slides/slide7.xml" Id="R5bb1f918c7eb49e2" /><Relationship Type="http://schemas.openxmlformats.org/officeDocument/2006/relationships/slide" Target="/ppt/slides/slide8.xml" Id="Rf2eb9000021b4a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32393109b541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3563c94eaa48ff" /><Relationship Type="http://schemas.openxmlformats.org/officeDocument/2006/relationships/notesMaster" Target="/ppt/notesMasters/notesMaster1.xml" Id="R8be4fa7c6e0e42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ec3625b07f4537" /><Relationship Type="http://schemas.openxmlformats.org/officeDocument/2006/relationships/notesMaster" Target="/ppt/notesMasters/notesMaster1.xml" Id="Rdd81e4aca78f4c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d936d972cf41be" /><Relationship Type="http://schemas.openxmlformats.org/officeDocument/2006/relationships/notesMaster" Target="/ppt/notesMasters/notesMaster1.xml" Id="R63f33b82cb434d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fef987a2aa4823" /><Relationship Type="http://schemas.openxmlformats.org/officeDocument/2006/relationships/notesMaster" Target="/ppt/notesMasters/notesMaster1.xml" Id="R670eef566eb64f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8acae0d0cb4a3d" /><Relationship Type="http://schemas.openxmlformats.org/officeDocument/2006/relationships/notesMaster" Target="/ppt/notesMasters/notesMaster1.xml" Id="R62861c3c93f84a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d87acfdb6d41af" /><Relationship Type="http://schemas.openxmlformats.org/officeDocument/2006/relationships/notesMaster" Target="/ppt/notesMasters/notesMaster1.xml" Id="Rd2647818b94f4e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5371d4e62c45d2" /><Relationship Type="http://schemas.openxmlformats.org/officeDocument/2006/relationships/notesMaster" Target="/ppt/notesMasters/notesMaster1.xml" Id="R6b377f79234c46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718b98ed864e85" /><Relationship Type="http://schemas.openxmlformats.org/officeDocument/2006/relationships/notesMaster" Target="/ppt/notesMasters/notesMaster1.xml" Id="Rbcb7b4970f6848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Module 4 and ask the retrieval prompt before showing the learning map.</a:t>
            </a:r>
          </a:p>
          <a:p xmlns:a="http://schemas.openxmlformats.org/drawingml/2006/main">
            <a:r>
              <a:t/>
            </a:r>
          </a:p>
          <a:p xmlns:a="http://schemas.openxmlformats.org/drawingml/2006/main">
            <a:r>
              <a:t>[Sources]</a:t>
            </a:r>
          </a:p>
          <a:p xmlns:a="http://schemas.openxmlformats.org/drawingml/2006/main">
            <a:r>
              <a:t>- SRC-NESA-SYL-2013: Year 11 Preliminary Textiles and Design syllabus.</a:t>
            </a:r>
          </a:p>
          <a:p xmlns:a="http://schemas.openxmlformats.org/drawingml/2006/main">
            <a:r>
              <a:t>- THEORY-QUESTION-MANIFEST-v1: Module 4 named sections.</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ideas as a cumulative learning pathway rather than an agenda.</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Theory files m04-s01 to 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m04-s01.json.</a:t>
            </a:r>
          </a:p>
          <a:p xmlns:a="http://schemas.openxmlformats.org/drawingml/2006/main">
            <a:r>
              <a:t>- Generated course diagram: m04-s01.png; source-bound visual brief: Create a comparison diagram showing freehand sketching, fashion illustration, production drawing and textile design drawing, with each linked to its main communication purpose and the audience information it is best suited to convey.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m04-s02.json.</a:t>
            </a:r>
          </a:p>
          <a:p xmlns:a="http://schemas.openxmlformats.org/drawingml/2006/main">
            <a:r>
              <a:t>- Generated course diagram: m04-s02.png; source-bound visual brief: Create a production-communication system diagram linking written specifications, order-of-construction plans, pattern information, material lists, quality criteria and progress records to the outcomes of reduced ambiguity, repeatable work, checking and collaboration.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named section, then ask students to point to evidence in the diagram before attempting the prompt.</a:t>
            </a:r>
          </a:p>
          <a:p xmlns:a="http://schemas.openxmlformats.org/drawingml/2006/main">
            <a:r>
              <a:t/>
            </a:r>
          </a:p>
          <a:p xmlns:a="http://schemas.openxmlformats.org/drawingml/2006/main">
            <a:r>
              <a:t>[Sources]</a:t>
            </a:r>
          </a:p>
          <a:p xmlns:a="http://schemas.openxmlformats.org/drawingml/2006/main">
            <a:r>
              <a:t>- SRC-NESA-SYL-2013.</a:t>
            </a:r>
          </a:p>
          <a:p xmlns:a="http://schemas.openxmlformats.org/drawingml/2006/main">
            <a:r>
              <a:t>- m04-s03.json.</a:t>
            </a:r>
          </a:p>
          <a:p xmlns:a="http://schemas.openxmlformats.org/drawingml/2006/main">
            <a:r>
              <a:t>- Generated course diagram: m04-s03.png; source-bound visual brief: Create a decision diagram linking audience and purpose to digital mood boards or annotated slides, then showing how image type, layout, typography, image quality, file format, accessibility, source acknowledgement and revision support clear textile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as formative retrieval prompts. Each is answerable from slides 3–5.</a:t>
            </a:r>
          </a:p>
          <a:p xmlns:a="http://schemas.openxmlformats.org/drawingml/2006/main">
            <a:r>
              <a:t/>
            </a:r>
          </a:p>
          <a:p xmlns:a="http://schemas.openxmlformats.org/drawingml/2006/main">
            <a:r>
              <a:t>[Sources]</a:t>
            </a:r>
          </a:p>
          <a:p xmlns:a="http://schemas.openxmlformats.org/drawingml/2006/main">
            <a:r>
              <a:t>- Module 4 theory and knowledge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student submission.</a:t>
            </a:r>
          </a:p>
          <a:p xmlns:a="http://schemas.openxmlformats.org/drawingml/2006/main">
            <a:r>
              <a:t/>
            </a:r>
          </a:p>
          <a:p xmlns:a="http://schemas.openxmlformats.org/drawingml/2006/main">
            <a:r>
              <a:t>[Sources]</a:t>
            </a:r>
          </a:p>
          <a:p xmlns:a="http://schemas.openxmlformats.org/drawingml/2006/main">
            <a:r>
              <a:t>- Module 4 written-response scaffold.</a:t>
            </a:r>
          </a:p>
          <a:p xmlns:a="http://schemas.openxmlformats.org/drawingml/2006/main">
            <a:r>
              <a:t>- Read → Select → Explain → Check course routine.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students to the Module 4 activity and My folio. No formal submission condition is asserted.</a:t>
            </a:r>
          </a:p>
          <a:p xmlns:a="http://schemas.openxmlformats.org/drawingml/2006/main">
            <a:r>
              <a:t/>
            </a:r>
          </a:p>
          <a:p xmlns:a="http://schemas.openxmlformats.org/drawingml/2006/main">
            <a:r>
              <a:t>[Sources]</a:t>
            </a:r>
          </a:p>
          <a:p xmlns:a="http://schemas.openxmlformats.org/drawingml/2006/main">
            <a:r>
              <a:t>- Course route busy-work/activity-04.html.</a:t>
            </a:r>
          </a:p>
          <a:p xmlns:a="http://schemas.openxmlformats.org/drawingml/2006/main">
            <a:r>
              <a:t>- Course route folio.html.</a:t>
            </a:r>
          </a:p>
          <a:p xmlns:a="http://schemas.openxmlformats.org/drawingml/2006/main">
            <a:r>
              <a:t>- Course-owned image: textiles-design-workspace.png.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56361f119e40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4c61f145a74d9b" /><Relationship Type="http://schemas.openxmlformats.org/officeDocument/2006/relationships/slideLayout" Target="/ppt/slideLayouts/slideLayout1.xml" Id="R763693d74c3942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3693d74c3942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d198cb1a834a9d" /><Relationship Type="http://schemas.openxmlformats.org/officeDocument/2006/relationships/image" Target="/ppt/media/image.png" Id="Ra4c3277f66d145c2" /><Relationship Type="http://schemas.openxmlformats.org/officeDocument/2006/relationships/notesSlide" Target="/ppt/notesSlides/notesSlide1.xml" Id="R3238867decb645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5f0b01cb4446f7" /><Relationship Type="http://schemas.openxmlformats.org/officeDocument/2006/relationships/notesSlide" Target="/ppt/notesSlides/notesSlide2.xml" Id="Rf4a846b2970449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23448133534026" /><Relationship Type="http://schemas.openxmlformats.org/officeDocument/2006/relationships/image" Target="/ppt/media/image2.png" Id="R85e62d8f27f34644" /><Relationship Type="http://schemas.openxmlformats.org/officeDocument/2006/relationships/notesSlide" Target="/ppt/notesSlides/notesSlide3.xml" Id="Rb00ea2a3c36e41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1c2fd582b940fd" /><Relationship Type="http://schemas.openxmlformats.org/officeDocument/2006/relationships/image" Target="/ppt/media/image3.png" Id="Re2b84308c14c426e" /><Relationship Type="http://schemas.openxmlformats.org/officeDocument/2006/relationships/notesSlide" Target="/ppt/notesSlides/notesSlide4.xml" Id="Rb6b59a5da90048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3a8c8bf82b4b37" /><Relationship Type="http://schemas.openxmlformats.org/officeDocument/2006/relationships/image" Target="/ppt/media/image4.png" Id="Ra4ce8d7fbb0546c2" /><Relationship Type="http://schemas.openxmlformats.org/officeDocument/2006/relationships/notesSlide" Target="/ppt/notesSlides/notesSlide5.xml" Id="Rc295988b058345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d6d09f17c349b1" /><Relationship Type="http://schemas.openxmlformats.org/officeDocument/2006/relationships/notesSlide" Target="/ppt/notesSlides/notesSlide6.xml" Id="R3e77e300a19342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e6495b75444450" /><Relationship Type="http://schemas.openxmlformats.org/officeDocument/2006/relationships/notesSlide" Target="/ppt/notesSlides/notesSlide7.xml" Id="R7615af357f7d43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b5b26ac5554f24" /><Relationship Type="http://schemas.openxmlformats.org/officeDocument/2006/relationships/image" Target="/ppt/media/image5.png" Id="R2cde6d96dfc445ab" /><Relationship Type="http://schemas.openxmlformats.org/officeDocument/2006/relationships/notesSlide" Target="/ppt/notesSlides/notesSlide8.xml" Id="R6847e1ac7a0a4237"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Communicating design</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Use three connected ideas to explain, apply and justify the learning in Module 4.</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11 TEXTILES AND DESIGN · MODULE 4 · WEEKS 7–8</a:t>
            </a:r>
          </a:p>
        </p:txBody>
      </p:sp>
      <p:sp>
        <p:nvSpPr>
          <p:cNvPr id="5" name="">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4c3277f66d145c2"/>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do you already know about communicating design, and what evidence would show it?</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514350"/>
            <a:ext cx="104775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Module 4: three connected ideas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Drawing and annotation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Textile designers use different drawing methods to communicate ideas clearly.</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97812"/>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Production communication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Production communication uses clear written and visual information to explain how a textile product is intended to be…</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93129"/>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Digital and presentation methods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Digital presentation methods help designers communicate textile concepts to different audiences.</a:t>
            </a:r>
          </a:p>
        </p:txBody>
      </p:sp>
      <p:sp>
        <p:nvSpPr>
          <p:cNvPr id="19" name="">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190625"/>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Connect the three ideas, then justify one decision with evidence.</a:t>
            </a:r>
          </a:p>
        </p:txBody>
      </p:sp>
      <p:sp>
        <p:nvSpPr>
          <p:cNvPr id="20" name="">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Drawing and annotation</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Textile designers use different drawing methods to communicate ideas clearly.</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7843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Freehand sketching is useful for quickly exploring and recording ideas, while fashion illustration communicates the appearance,…</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Production drawing presents design information in a more controlled and accurate way, while textile design drawing can communicate…</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92398"/>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Select and justify the most suitable drawing method for a stated textile design audience and purpose.</a:t>
            </a:r>
          </a:p>
        </p:txBody>
      </p:sp>
      <p:sp>
        <p:nvSpPr>
          <p:cNvPr id="8" name="">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5e62d8f27f34644"/>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comparison diagram showing freehand sketching, fashion illustration, production drawing and textile design drawing, with each linked to its main…</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Production communication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Production communication uses clear written and visual information to explain how a textile product is intended to be produced and…</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Written specifications describe important requirements, while order-of-construction plans organise the intended sequence of work.</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93046"/>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Pattern information communicates details needed to interpret pattern pieces, and material lists identify the resources required for…</a:t>
            </a:r>
          </a:p>
        </p:txBody>
      </p:sp>
      <p:sp>
        <p:nvSpPr>
          <p:cNvPr id="19" name="">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e2b84308c14c426e"/>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22" name="">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Evaluate which production documents would be needed for a stated textile making scenario and explain why each selected document would be useful.</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Digital and presentation methods</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97312"/>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Digital presentation methods help designers communicate textile concepts to different audiences.</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7716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A digital mood board can organise visual inspiration, colours, textures and related ideas, while annotated slides can combine images…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85034"/>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The most suitable method depends on the audience, purpose and information that needs to be understood clearly.</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91146"/>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Develop a justified digital communication plan for presenting a textile concept to a specific audience.</a:t>
            </a:r>
          </a:p>
        </p:txBody>
      </p:sp>
      <p:sp>
        <p:nvSpPr>
          <p:cNvPr id="8" name="">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4ce8d7fbb0546c2"/>
          <a:stretch xmlns:a="http://schemas.openxmlformats.org/drawingml/2006/main"/>
        </p:blipFill>
        <p:spPr>
          <a:xfrm xmlns:a="http://schemas.openxmlformats.org/drawingml/2006/main" flipH="0" flipV="0">
            <a:off x="6200775" y="1210270"/>
            <a:ext cx="5314950" cy="2989659"/>
          </a:xfrm>
          <a:prstGeom xmlns:a="http://schemas.openxmlformats.org/drawingml/2006/main" prst="roundRect">
            <a:avLst/>
          </a:prstGeom>
        </p:spPr>
      </p:pic>
      <p:sp>
        <p:nvSpPr>
          <p:cNvPr id="11" name="">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Create a decision diagram linking audience and purpose to digital mood boards or annotated slides, then showing how image type, layout, typography, image quality,…</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96628"/>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relationships—not isolated definitions</a:t>
            </a:r>
          </a:p>
        </p:txBody>
      </p:sp>
      <p:cxnSp>
        <p:nvCxnSpPr>
          <p:cNvPr id="34"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DRAWING AND ANNOTATION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What should determine the choice of drawing method?</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PRODUCTION COMMUNICATION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does reducing ambiguity matter in production?</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89129"/>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DIGITAL AND PRESENTATION METHODS</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Why should sources be acknowledged in digital design work?</a:t>
            </a:r>
          </a:p>
        </p:txBody>
      </p:sp>
      <p:sp>
        <p:nvSpPr>
          <p:cNvPr id="19" name="">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sentence for each prompt.</a:t>
            </a:r>
          </a:p>
        </p:txBody>
      </p:sp>
      <p:sp>
        <p:nvSpPr>
          <p:cNvPr id="20" name="">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51435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uses evidence</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audience, purpose and key information to communicate.</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381250"/>
            <a:ext cx="2095500" cy="1600200"/>
          </a:xfrm>
          <a:prstGeom xmlns:a="http://schemas.openxmlformats.org/drawingml/2006/main" prst="rect">
            <a:avLst/>
          </a:prstGeom>
        </p:spPr>
        <p:txBody>
          <a:bodyPr xmlns:a="http://schemas.openxmlformats.org/drawingml/2006/main" lIns="38100" tIns="38100" rIns="38100" bIns="38100" anchor="ctr">
            <a:normAutofit fontScale="88281"/>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 suitable digital methods such as a mood board or annotated…</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 choices for images, layout, typography, file format and…</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381250"/>
            <a:ext cx="2095500" cy="1600200"/>
          </a:xfrm>
          <a:prstGeom xmlns:a="http://schemas.openxmlformats.org/drawingml/2006/main" prst="rect">
            <a:avLst/>
          </a:prstGeom>
        </p:spPr>
        <p:txBody>
          <a:bodyPr xmlns:a="http://schemas.openxmlformats.org/drawingml/2006/main" lIns="38100" tIns="38100" rIns="38100" bIns="38100" anchor="ctr">
            <a:normAutofit fontScale="89286"/>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Justify how the plan supports clarity, ethical use of sources and…</a:t>
            </a:r>
          </a:p>
        </p:txBody>
      </p:sp>
      <p:sp>
        <p:nvSpPr>
          <p:cNvPr id="8" name="">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219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169"/>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Develop a justified digital communication plan for presenting a textile concept to a specific audience.</a:t>
            </a:r>
          </a:p>
        </p:txBody>
      </p:sp>
      <p:sp>
        <p:nvSpPr>
          <p:cNvPr id="9" name="">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1145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0918"/>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To present this textile concept to ___, I would use ___. This method suits the audience and purpose because ___. I…</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Module 4 evidence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87360"/>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from Module 4 you can now explain.</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Save one supported response in My folio.</a:t>
            </a:r>
          </a:p>
          <a:p xmlns:a="http://schemas.openxmlformats.org/drawingml/2006/main">
            <a:pPr algn="l">
              <a:buNone/>
              <a:defRPr sz="2400">
                <a:solidFill>
                  <a:srgbClr val="000000"/>
                </a:solidFill>
                <a:latin typeface="Helvetica Neue"/>
                <a:ea typeface="Helvetica Neue"/>
                <a:cs typeface="Helvetica Neue"/>
              </a:defRPr>
            </a:pPr>
            <a:r>
              <a:t/>
            </a: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Complete the Module 4 applied-practice activity.</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cde6d96dfc445ab"/>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2026-08-18T17:28:33.8940000Z</dcterms:created>
  <dcterms:modified xsi:type="dcterms:W3CDTF">2026-08-18T17:28:33.8940000Z</dcterms:modified>
</coreProperties>
</file>